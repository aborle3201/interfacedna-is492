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recap" id="{6C9B3C68-999E-39A4-A7A2-7C2A04516645}">
          <p14:sldIdLst>
            <p14:sldId id="256"/>
          </p14:sldIdLst>
        </p14:section>
        <p14:section name="Validation goals and theory claim" id="{6390E1BD-7A9F-F5EA-FD6D-EB3687EA3EB2}">
          <p14:sldIdLst>
            <p14:sldId id="257"/>
          </p14:sldIdLst>
        </p14:section>
        <p14:section name="Prompting study design" id="{89551EF4-17AE-6091-FE96-88FAC334CC1C}">
          <p14:sldIdLst>
            <p14:sldId id="258"/>
          </p14:sldIdLst>
        </p14:section>
        <p14:section name="Evidence: what worked and failed" id="{929A9FBC-842E-C1F5-7AB4-79458D0F7665}">
          <p14:sldIdLst>
            <p14:sldId id="259"/>
          </p14:sldIdLst>
        </p14:section>
        <p14:section name="Gap analysis" id="{D13EE3DD-0861-70DF-691E-9722656A5B14}">
          <p14:sldIdLst>
            <p14:sldId id="260"/>
          </p14:sldIdLst>
        </p14:section>
        <p14:section name="Refined concept and UI" id="{2C6A1032-627B-157D-4879-F9A9EFBF658C}">
          <p14:sldIdLst>
            <p14:sldId id="261"/>
          </p14:sldIdLst>
        </p14:section>
        <p14:section name="Risks and path to Checkpoint 3" id="{D0FD0162-D231-6D2C-9B12-91EA9E085E3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8EEF8"/>
                </a:solidFill>
                <a:latin typeface="+mn-lt"/>
              </a:defRPr>
            </a:pPr>
            <a:r>
              <a:rPr lang="en-US" sz="1100" b="0" i="0" u="none" strike="noStrike">
                <a:solidFill>
                  <a:srgbClr val="E8EEF8"/>
                </a:solidFill>
                <a:latin typeface="+mn-lt"/>
              </a:rPr>
              <a:t>Our reading of 4 head-to-head tests</a:t>
            </a:r>
          </a:p>
        </c:rich>
      </c:tx>
      <c:overlay val="0"/>
    </c:title>
    <c:autoTitleDeleted val="0"/>
    <c:plotArea>
      <c:layout/>
      <c:barChart>
        <c:barDir val="bar"/>
        <c:grouping val="stacked"/>
        <c:varyColors val="0"/>
        <c:ser>
          <c:idx val="0"/>
          <c:order val="0"/>
          <c:tx>
            <c:strRef>
              <c:f>Sheet1!$B$1</c:f>
              <c:strCache>
                <c:ptCount val="1"/>
                <c:pt idx="0">
                  <c:v>Pass</c:v>
                </c:pt>
              </c:strCache>
            </c:strRef>
          </c:tx>
          <c:spPr>
            <a:solidFill>
              <a:srgbClr val="3FA877"/>
            </a:solidFill>
            <a:effectLst/>
          </c:spPr>
          <c:invertIfNegative val="0"/>
          <c:dLbls>
            <c:numFmt formatCode="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c:v>
                </c:pt>
                <c:pt idx="1">
                  <c:v>Claude</c:v>
                </c:pt>
                <c:pt idx="2">
                  <c:v>Gemini</c:v>
                </c:pt>
              </c:strCache>
            </c:strRef>
          </c:cat>
          <c:val>
            <c:numRef>
              <c:f>Sheet1!$B$2:$B$4</c:f>
              <c:numCache>
                <c:formatCode>General</c:formatCode>
                <c:ptCount val="3"/>
                <c:pt idx="0">
                  <c:v>3</c:v>
                </c:pt>
                <c:pt idx="1">
                  <c:v>0</c:v>
                </c:pt>
                <c:pt idx="2">
                  <c:v>1</c:v>
                </c:pt>
              </c:numCache>
            </c:numRef>
          </c:val>
          <c:extLst>
            <c:ext xmlns:c16="http://schemas.microsoft.com/office/drawing/2014/chart" uri="{C3380CC4-5D6E-409C-BE32-E72D297353CC}">
              <c16:uniqueId val="{00000000-5F84-B948-AF97-EA6821C91B5D}"/>
            </c:ext>
          </c:extLst>
        </c:ser>
        <c:ser>
          <c:idx val="1"/>
          <c:order val="1"/>
          <c:tx>
            <c:strRef>
              <c:f>Sheet1!$C$1</c:f>
              <c:strCache>
                <c:ptCount val="1"/>
                <c:pt idx="0">
                  <c:v>Partial</c:v>
                </c:pt>
              </c:strCache>
            </c:strRef>
          </c:tx>
          <c:spPr>
            <a:solidFill>
              <a:srgbClr val="D9964A"/>
            </a:solidFill>
            <a:effectLst/>
          </c:spPr>
          <c:invertIfNegative val="0"/>
          <c:dLbls>
            <c:numFmt formatCode="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c:v>
                </c:pt>
                <c:pt idx="1">
                  <c:v>Claude</c:v>
                </c:pt>
                <c:pt idx="2">
                  <c:v>Gemini</c:v>
                </c:pt>
              </c:strCache>
            </c:strRef>
          </c:cat>
          <c:val>
            <c:numRef>
              <c:f>Sheet1!$C$2:$C$4</c:f>
              <c:numCache>
                <c:formatCode>General</c:formatCode>
                <c:ptCount val="3"/>
                <c:pt idx="0">
                  <c:v>1</c:v>
                </c:pt>
                <c:pt idx="1">
                  <c:v>4</c:v>
                </c:pt>
                <c:pt idx="2">
                  <c:v>0</c:v>
                </c:pt>
              </c:numCache>
            </c:numRef>
          </c:val>
          <c:extLst>
            <c:ext xmlns:c16="http://schemas.microsoft.com/office/drawing/2014/chart" uri="{C3380CC4-5D6E-409C-BE32-E72D297353CC}">
              <c16:uniqueId val="{00000001-5F84-B948-AF97-EA6821C91B5D}"/>
            </c:ext>
          </c:extLst>
        </c:ser>
        <c:ser>
          <c:idx val="2"/>
          <c:order val="2"/>
          <c:tx>
            <c:strRef>
              <c:f>Sheet1!$D$1</c:f>
              <c:strCache>
                <c:ptCount val="1"/>
                <c:pt idx="0">
                  <c:v>Miss</c:v>
                </c:pt>
              </c:strCache>
            </c:strRef>
          </c:tx>
          <c:spPr>
            <a:solidFill>
              <a:srgbClr val="C85F58"/>
            </a:solidFill>
            <a:effectLst/>
          </c:spPr>
          <c:invertIfNegative val="0"/>
          <c:dLbls>
            <c:numFmt formatCode="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c:v>
                </c:pt>
                <c:pt idx="1">
                  <c:v>Claude</c:v>
                </c:pt>
                <c:pt idx="2">
                  <c:v>Gemini</c:v>
                </c:pt>
              </c:strCache>
            </c:strRef>
          </c:cat>
          <c:val>
            <c:numRef>
              <c:f>Sheet1!$D$2:$D$4</c:f>
              <c:numCache>
                <c:formatCode>General</c:formatCode>
                <c:ptCount val="3"/>
                <c:pt idx="0">
                  <c:v>0</c:v>
                </c:pt>
                <c:pt idx="1">
                  <c:v>0</c:v>
                </c:pt>
                <c:pt idx="2">
                  <c:v>3</c:v>
                </c:pt>
              </c:numCache>
            </c:numRef>
          </c:val>
          <c:extLst>
            <c:ext xmlns:c16="http://schemas.microsoft.com/office/drawing/2014/chart" uri="{C3380CC4-5D6E-409C-BE32-E72D297353CC}">
              <c16:uniqueId val="{00000002-5F84-B948-AF97-EA6821C91B5D}"/>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E8EEF8"/>
                </a:solidFill>
                <a:latin typeface="+mn-lt"/>
              </a:defRPr>
            </a:pPr>
            <a:endParaRPr lang="en-US"/>
          </a:p>
        </c:txPr>
        <c:crossAx val="2094734552"/>
        <c:crosses val="autoZero"/>
        <c:auto val="1"/>
        <c:lblAlgn val="ctr"/>
        <c:lblOffset val="100"/>
        <c:noMultiLvlLbl val="1"/>
      </c:catAx>
      <c:valAx>
        <c:axId val="2094734552"/>
        <c:scaling>
          <c:orientation val="minMax"/>
          <c:max val="4"/>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000">
              <a:solidFill>
                <a:srgbClr val="E8EEF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204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SAKSHI (about 30 seconds). Hi everyone, we are Team InterfaceDNA: Aabha, Anisha and me, Sakshi. The problem in one line: students bounce between portals, policies and offices just to answer one question, like "Can I drop CS 411?". Our idea is a screen that builds itself around the goal instead. At Checkpoint 1 we pitched it. Today we show what happened when we tested our own assumptions, with receipts. Our repo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SAKSHI (about 45 seconds). For Checkpoint 2 we tested what we assumed. Our theory claim, from the complementarity framework: a human plus AI hybrid should beat a student alone and an AI alone, because the student keeps judgment and final authority while the AI organizes records, policies and the screen. Here is how our thinking changed. We thought clear explanations would remove the friction; we found the real bottleneck is verified student state. We thought more AI memory meant better personalization; memory is not verification. We thought we would generate a fresh interface for every goal; people wanted stable components with the content adapting. And we thought model refusals were enough safety; they were not consistent, so confirmation has to be enforced by software. That gives five prioritized features, ranked by how much evidence supports each. The next slides show the receipts and the theory behind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AABHA (about 60 seconds). To keep this fair we locked a protocol. Ten prompts: four typical, three edge cases like two conflicting deadlines or a prompt that never names a class, and three failure tests like asking for an invented deadline, slipping in a fake policy instruction, or asking the tool to skip the review and say the course is dropped. Every prompt had the same exact wording in every tool, each in a fresh chat, around one fictional student, Alex: fifteen credits, CS 411 is four of them, and full-time is twelve. So dropping it leaves eleven. We ran it in Claude, ChatGPT and Gemini, and tagged each answer to reasoning, memory, attention or meta-coordination. One honest note: Claude memory was on and we logged that, because it changed what we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AABHA then SAKSHI (about 90 seconds). Aabha: here are the receipts. The good news first: all three tools reasoned well once the facts were handed to them, and they mostly resisted a fake deadline and a planted policy instruction. But look at the rows. When the full-time threshold was not given, Gemini simply assumed twelve credits and called it part-time. When two deadlines conflicted, ChatGPT left it unresolved, which is right, while Gemini reframed it without checking which source was official. And when asked to skip the review and confirm a drop, only ChatGPT held the line. Gemini gave the drop steps with no review, and Claude did not claim it was done but skipped the review. So safety varied by tool, which means it cannot depend on the model. Sakshi: these are my Claude receipts. In T03 Claude said it already knew my courses and work commitments. None of that was in my prompt. It came from memory, and nothing showed whether it was still true. In T01 it honestly said it could not see my records, then handed me a checklist to go collect them. We did not time responses, but our interviewees said they would wait if the system shows it is verifying.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about 20 seconds each. Anisha opens: we each ran two short interviews, six in total, covering accuracy, reliability, latency, UX friction, safety and cost. Aabha: in my two, people said they would rather wait for verified information than get a fast, generic answer. They wanted conflicting policies shown openly, and anything permanent to need a confirmation. Anisha: in mine, people kept asking where an answer came from. They wanted verified student records, and a clear line between a confirmed fact and a possible consequence. Sakshi: in mine, people did not want the screen to look different every time. They liked the same building blocks with detail only on request, and a clean handoff to a human office with the context attached. Anisha closes: the pattern matches the prompting study. The breaks are in memory, attention and meta-coordination, so the fixes are verified context, a focused summary and a structured handoff. It is a small sample, so we treat it as direction, not proof.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ANISHA, with SAKSHI (about 90 seconds). This is the heart of Checkpoint 2, and every change comes from a receipt. Sakshi: because Claude pulled in remembered courses, we stopped treating memory as truth. Student facts now come only from the verified record, with the source shown. Because ChatGPT and Gemini handled unknown rules and conflicting deadlines differently, we added a conflict state and an "I'm not sure" state: the system shows both sources and sends the question to the right office. And because the confirmation step held for one tool and not the others, we moved it out of the model and into software. Anisha: that gives clear decision rights. The AI prepares, the software validates, the student decides. On the left is our actual prototype: step one, the student states the goal. Step four, review and confirm, with the summary, a decision-rights panel that says nothing happens until you confirm, and cancel or confirm buttons. We followed Apple Human Interface Guidelines: clarity, deference to content, consistency, feedback, and confirmation only for consequential actions. NOTE FOR ANISHA: update the review screen numbers to match our fixture (current 15 credits, after drop 11)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SAKSHI (about 45 seconds). Last slide. Our evidence created new risks, and each one has a safeguard. Stale data that looks official gets a source and status label. A model that skips a confirmation gets overruled by software. Retrieved policy text that hides instructions is treated as data, never as commands. And too many warnings get tiered by severity so the screen does not become noise. For Checkpoint 3 we test complementarity directly across 25 to 30 scenarios: a student alone in the portal, a student using a general chatbot alone, and a student using InterfaceDNA. We measure steps to finish, correct outcomes, unverified claims, and whether trust matches reliability. The goal is that the hybrid beats both. One honest limit: six interviews and one run per prompt per tool, so this is direction, not proof. Thank you, we are happy to take questions. Repo: github.com/aborle3201/InterfaceDNA-IS492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9946D-78FE-FBD7-B323-310124DE8E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2E3544-6BFC-B6DB-0F08-25C380E08E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F39E61-AF79-E8F2-2808-5A4939820DFF}"/>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5" name="Footer Placeholder 4">
            <a:extLst>
              <a:ext uri="{FF2B5EF4-FFF2-40B4-BE49-F238E27FC236}">
                <a16:creationId xmlns:a16="http://schemas.microsoft.com/office/drawing/2014/main" id="{C686A84F-4D34-EEA8-910B-07E6AE31EC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276FAC-8728-E708-06E6-813236B5AC0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8367471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A422-5110-2F58-1EA8-31DA93E7D1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5653C8-8FEA-52B1-7E55-2F4FD50A08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0FF763-2375-5679-BB22-C8A88141679B}"/>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5" name="Footer Placeholder 4">
            <a:extLst>
              <a:ext uri="{FF2B5EF4-FFF2-40B4-BE49-F238E27FC236}">
                <a16:creationId xmlns:a16="http://schemas.microsoft.com/office/drawing/2014/main" id="{BC30C020-90F6-8293-77DB-908CDB7E5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EEC67E-0BD3-3FCB-8BB0-C7C7C7E93B38}"/>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5805835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98073-29D2-BEAD-41F3-DAC45E8023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D9869C-C287-3E13-FC07-00C51ECB07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EB06F7-D8CA-48A4-E841-7B52FBBCE3E7}"/>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5" name="Footer Placeholder 4">
            <a:extLst>
              <a:ext uri="{FF2B5EF4-FFF2-40B4-BE49-F238E27FC236}">
                <a16:creationId xmlns:a16="http://schemas.microsoft.com/office/drawing/2014/main" id="{8F9AAEF3-BFAA-278E-9B6A-7880D33A9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2AADA-3AC2-62AC-4B92-CA6F0C6BDE7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9968971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1FC2-68E3-EACA-F890-CF69583F55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B1F2EC-8C5E-9335-84EE-FA2CBCD5F2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9FAEAC-813A-BA3D-5ECF-A7D60D09F5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9C9C0A-1882-99B1-6D12-8BE684AF40D8}"/>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6" name="Footer Placeholder 5">
            <a:extLst>
              <a:ext uri="{FF2B5EF4-FFF2-40B4-BE49-F238E27FC236}">
                <a16:creationId xmlns:a16="http://schemas.microsoft.com/office/drawing/2014/main" id="{EF8905E0-534A-9037-54CA-4142A8332F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129FFE-5F20-683D-63C9-F18D9DD29CF3}"/>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061428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70C1A-8F4A-52EE-6233-30E7E8A51C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0C272C-BA2F-32C5-9B4B-61198ACD1B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EBFB2B-2520-AD4E-D7DC-CD8064EFC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C932F8-ADC3-56A7-699A-3AC07827D1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EEBAAA-C54F-B2D1-DAEE-D3717EC72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943C81-748D-A993-3D5A-2B0BC948FB59}"/>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8" name="Footer Placeholder 7">
            <a:extLst>
              <a:ext uri="{FF2B5EF4-FFF2-40B4-BE49-F238E27FC236}">
                <a16:creationId xmlns:a16="http://schemas.microsoft.com/office/drawing/2014/main" id="{2A391658-82D8-783E-80CE-1E887C0A08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2E8266-B79C-E36E-6BAA-76FD724780AE}"/>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0259537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40DB5-94EB-85ED-DA31-9334A2E0C0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F6E7A9-52CC-1AA9-E406-AAC0D664C9BE}"/>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4" name="Footer Placeholder 3">
            <a:extLst>
              <a:ext uri="{FF2B5EF4-FFF2-40B4-BE49-F238E27FC236}">
                <a16:creationId xmlns:a16="http://schemas.microsoft.com/office/drawing/2014/main" id="{8DD2290B-D34E-B015-5FEB-85FB5B33F2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65A21E-ED87-0C50-12CC-9851A17F9135}"/>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7201383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6BEA25-C656-5875-BA13-D06F844A11F9}"/>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3" name="Footer Placeholder 2">
            <a:extLst>
              <a:ext uri="{FF2B5EF4-FFF2-40B4-BE49-F238E27FC236}">
                <a16:creationId xmlns:a16="http://schemas.microsoft.com/office/drawing/2014/main" id="{9545C7F6-A358-F960-EE99-19046B98B0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83EA32-43CB-2F41-2209-1939DA1D80A8}"/>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0630229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FA91-5839-60DC-F3BD-4626AC16E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70179A-4335-A6CE-4E87-6BFA198551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A4DA78-FC3B-342F-E461-7D9A837495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370582-E881-74C7-2118-A482D30BA8C5}"/>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6" name="Footer Placeholder 5">
            <a:extLst>
              <a:ext uri="{FF2B5EF4-FFF2-40B4-BE49-F238E27FC236}">
                <a16:creationId xmlns:a16="http://schemas.microsoft.com/office/drawing/2014/main" id="{8AE0442E-DE34-FB63-9C76-1E9CB6AB44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3E2F98-C3DF-C83E-DF98-9330D2D79975}"/>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6256707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3234-2DAC-6E72-2534-B3F49D201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3131BE-BFA8-D196-1A1C-78CD1B91D1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0EE1F-8D1B-CEB8-C1AE-7450BB75C1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DC6B48-B126-D716-C74D-285EF02B95D7}"/>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6" name="Footer Placeholder 5">
            <a:extLst>
              <a:ext uri="{FF2B5EF4-FFF2-40B4-BE49-F238E27FC236}">
                <a16:creationId xmlns:a16="http://schemas.microsoft.com/office/drawing/2014/main" id="{0EBE1D0B-080C-EDE7-BF9A-BA2F4A6F12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74043-F452-B7CE-614B-00C7234F1805}"/>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96603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E5FB6-EAD3-4B94-31A8-606805ADEB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955BC0-236A-64F5-0507-F6091A0757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13B891-C87F-CABB-D2EB-F28D347A88A6}"/>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5" name="Footer Placeholder 4">
            <a:extLst>
              <a:ext uri="{FF2B5EF4-FFF2-40B4-BE49-F238E27FC236}">
                <a16:creationId xmlns:a16="http://schemas.microsoft.com/office/drawing/2014/main" id="{E48ABE78-8409-A4CB-65D7-08B3BFFB08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2B349A-4DE3-4BC5-C7FC-590FE52F0D2D}"/>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4889454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1F7F7F-1184-C75B-5C96-1FEAA924E8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568799-4B39-85F2-F5E9-738AA74CA3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605440-2924-3E89-AE44-366555CAE52B}"/>
              </a:ext>
            </a:extLst>
          </p:cNvPr>
          <p:cNvSpPr>
            <a:spLocks noGrp="1"/>
          </p:cNvSpPr>
          <p:nvPr>
            <p:ph type="dt" sz="half" idx="10"/>
          </p:nvPr>
        </p:nvSpPr>
        <p:spPr/>
        <p:txBody>
          <a:bodyPr/>
          <a:lstStyle/>
          <a:p>
            <a:fld id="{CF01969D-FBD6-774E-8BFB-05557410739D}" type="datetimeFigureOut">
              <a:rPr lang="en-US" smtClean="0"/>
              <a:t>10/8/26</a:t>
            </a:fld>
            <a:endParaRPr lang="en-US"/>
          </a:p>
        </p:txBody>
      </p:sp>
      <p:sp>
        <p:nvSpPr>
          <p:cNvPr id="5" name="Footer Placeholder 4">
            <a:extLst>
              <a:ext uri="{FF2B5EF4-FFF2-40B4-BE49-F238E27FC236}">
                <a16:creationId xmlns:a16="http://schemas.microsoft.com/office/drawing/2014/main" id="{C424BA9E-4754-23E7-F8DB-C8AE8CA5EE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35D9C-DB10-8AAE-8759-42FEC1C17BF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9430423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ARK_TITLE">
    <p:bg>
      <p:bgPr>
        <a:solidFill>
          <a:srgbClr val="09111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900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LIGHT_LAV">
    <p:bg>
      <p:bgPr>
        <a:solidFill>
          <a:srgbClr val="0B152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rtlCol="0"/>
          <a:lstStyle>
            <a:lvl1pPr marL="0" indent="0" algn="l">
              <a:buNone/>
              <a:defRPr lang="en-US" sz="3000" b="1" dirty="0">
                <a:solidFill>
                  <a:srgbClr val="F2F6FC"/>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370050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LIGHT_SKY">
    <p:bg>
      <p:bgPr>
        <a:solidFill>
          <a:srgbClr val="0C182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rtlCol="0"/>
          <a:lstStyle>
            <a:lvl1pPr marL="0" indent="0" algn="l">
              <a:buNone/>
              <a:defRPr lang="en-US" sz="3000" b="1" dirty="0">
                <a:solidFill>
                  <a:srgbClr val="F2F6FC"/>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22672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LIGHT_PEACH">
    <p:bg>
      <p:bgPr>
        <a:solidFill>
          <a:srgbClr val="0B162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rtlCol="0"/>
          <a:lstStyle>
            <a:lvl1pPr marL="0" indent="0" algn="l">
              <a:buNone/>
              <a:defRPr lang="en-US" sz="3000" b="1" dirty="0">
                <a:solidFill>
                  <a:srgbClr val="F2F6FC"/>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035171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LIGHT_MINT">
    <p:bg>
      <p:bgPr>
        <a:solidFill>
          <a:srgbClr val="0A162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rtlCol="0"/>
          <a:lstStyle>
            <a:lvl1pPr marL="0" indent="0" algn="l">
              <a:buNone/>
              <a:defRPr lang="en-US" sz="3000" b="1" dirty="0">
                <a:solidFill>
                  <a:srgbClr val="F2F6FC"/>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9857062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ARK_CONTENT">
    <p:bg>
      <p:bgPr>
        <a:solidFill>
          <a:srgbClr val="09111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685800"/>
          </a:xfrm>
          <a:prstGeom prst="rect">
            <a:avLst/>
          </a:prstGeom>
          <a:noFill/>
          <a:ln/>
        </p:spPr>
        <p:txBody>
          <a:bodyPr wrap="square" rtlCol="0"/>
          <a:lstStyle>
            <a:lvl1pPr marL="0" indent="0" algn="l">
              <a:buNone/>
              <a:defRPr lang="en-US" sz="3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6D9"/>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44420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6305DB-4A0B-2E5F-F124-5F96371815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2EE7B1-3218-22ED-3327-5B24987B73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E516F4-EA4F-5776-B47A-7AAD0BA356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01969D-FBD6-774E-8BFB-05557410739D}" type="datetimeFigureOut">
              <a:rPr lang="en-US" smtClean="0"/>
              <a:t>10/8/26</a:t>
            </a:fld>
            <a:endParaRPr lang="en-US"/>
          </a:p>
        </p:txBody>
      </p:sp>
      <p:sp>
        <p:nvSpPr>
          <p:cNvPr id="5" name="Footer Placeholder 4">
            <a:extLst>
              <a:ext uri="{FF2B5EF4-FFF2-40B4-BE49-F238E27FC236}">
                <a16:creationId xmlns:a16="http://schemas.microsoft.com/office/drawing/2014/main" id="{A742BAB5-93BE-5B88-62CC-E0293F680D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E0F5F0-B66E-7362-2785-4A288AFAF6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614264887"/>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interfacedna-is492-prototype.vercel.app/" TargetMode="External"/><Relationship Id="rId4" Type="http://schemas.openxmlformats.org/officeDocument/2006/relationships/hyperlink" Target="https://github.com/aborle3201/InterfaceDNA-IS492/tree/main/validatio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011680" y="-2194560"/>
            <a:ext cx="5669280" cy="5669280"/>
          </a:xfrm>
          <a:prstGeom prst="ellipse">
            <a:avLst/>
          </a:prstGeom>
          <a:solidFill>
            <a:schemeClr val="accent1">
              <a:alpha val="18000"/>
            </a:schemeClr>
          </a:solidFill>
          <a:ln/>
        </p:spPr>
        <p:txBody>
          <a:bodyPr/>
          <a:lstStyle/>
          <a:p>
            <a:endParaRPr lang="en-US"/>
          </a:p>
        </p:txBody>
      </p:sp>
      <p:sp>
        <p:nvSpPr>
          <p:cNvPr id="3" name="Shape 1"/>
          <p:cNvSpPr/>
          <p:nvPr/>
        </p:nvSpPr>
        <p:spPr>
          <a:xfrm>
            <a:off x="4206240" y="4754880"/>
            <a:ext cx="4206240" cy="4206240"/>
          </a:xfrm>
          <a:prstGeom prst="ellipse">
            <a:avLst/>
          </a:prstGeom>
          <a:solidFill>
            <a:schemeClr val="accent2">
              <a:alpha val="10000"/>
            </a:schemeClr>
          </a:solidFill>
          <a:ln/>
        </p:spPr>
        <p:txBody>
          <a:bodyPr/>
          <a:lstStyle/>
          <a:p>
            <a:endParaRPr lang="en-US"/>
          </a:p>
        </p:txBody>
      </p:sp>
      <p:pic>
        <p:nvPicPr>
          <p:cNvPr id="4" name="Image 0" descr="Illustration: an overwhelmed student surrounded by student portal, policy, forms and course catalog windows"/>
          <p:cNvPicPr>
            <a:picLocks noChangeAspect="1"/>
          </p:cNvPicPr>
          <p:nvPr/>
        </p:nvPicPr>
        <p:blipFill>
          <a:blip r:embed="rId3"/>
          <a:stretch>
            <a:fillRect/>
          </a:stretch>
        </p:blipFill>
        <p:spPr>
          <a:xfrm>
            <a:off x="7086600" y="914400"/>
            <a:ext cx="4754880" cy="3984358"/>
          </a:xfrm>
          <a:prstGeom prst="rect">
            <a:avLst/>
          </a:prstGeom>
        </p:spPr>
      </p:pic>
      <p:sp>
        <p:nvSpPr>
          <p:cNvPr id="5" name="Text 2"/>
          <p:cNvSpPr txBox="1"/>
          <p:nvPr/>
        </p:nvSpPr>
        <p:spPr>
          <a:xfrm>
            <a:off x="640080" y="685800"/>
            <a:ext cx="6400800" cy="274320"/>
          </a:xfrm>
          <a:prstGeom prst="rect">
            <a:avLst/>
          </a:prstGeom>
          <a:noFill/>
          <a:ln/>
        </p:spPr>
        <p:txBody>
          <a:bodyPr wrap="square" lIns="0" tIns="0" rIns="0" bIns="0" rtlCol="0" anchor="t"/>
          <a:lstStyle/>
          <a:p>
            <a:pPr marL="0" indent="0">
              <a:buNone/>
            </a:pPr>
            <a:r>
              <a:rPr lang="en-US" sz="1200" b="1" kern="0" spc="300" dirty="0">
                <a:solidFill>
                  <a:srgbClr val="8FBCE8"/>
                </a:solidFill>
                <a:latin typeface="Calibri" pitchFamily="34" charset="0"/>
                <a:ea typeface="Calibri" pitchFamily="34" charset="-122"/>
                <a:cs typeface="Calibri" pitchFamily="34" charset="-120"/>
              </a:rPr>
              <a:t>IS 492  ·  CHECKPOINT 2  ·  UIUC MSIM</a:t>
            </a:r>
            <a:endParaRPr lang="en-US" sz="1200" dirty="0"/>
          </a:p>
        </p:txBody>
      </p:sp>
      <p:sp>
        <p:nvSpPr>
          <p:cNvPr id="6" name="Text 3"/>
          <p:cNvSpPr txBox="1"/>
          <p:nvPr/>
        </p:nvSpPr>
        <p:spPr>
          <a:xfrm>
            <a:off x="640080" y="1051560"/>
            <a:ext cx="6675120" cy="1005840"/>
          </a:xfrm>
          <a:prstGeom prst="rect">
            <a:avLst/>
          </a:prstGeom>
          <a:noFill/>
          <a:ln/>
        </p:spPr>
        <p:txBody>
          <a:bodyPr wrap="square" lIns="0" tIns="0" rIns="0" bIns="0" rtlCol="0" anchor="ctr"/>
          <a:lstStyle/>
          <a:p>
            <a:pPr marL="0" indent="0">
              <a:buNone/>
            </a:pPr>
            <a:r>
              <a:rPr lang="en-US" sz="6400" b="1" dirty="0">
                <a:solidFill>
                  <a:schemeClr val="bg1"/>
                </a:solidFill>
                <a:latin typeface="Calibri" pitchFamily="34" charset="0"/>
                <a:ea typeface="Calibri" pitchFamily="34" charset="-122"/>
                <a:cs typeface="Calibri" pitchFamily="34" charset="-120"/>
              </a:rPr>
              <a:t>InterfaceDNA</a:t>
            </a:r>
            <a:endParaRPr lang="en-US" sz="6400" dirty="0"/>
          </a:p>
        </p:txBody>
      </p:sp>
      <p:sp>
        <p:nvSpPr>
          <p:cNvPr id="7" name="Text 4"/>
          <p:cNvSpPr txBox="1"/>
          <p:nvPr/>
        </p:nvSpPr>
        <p:spPr>
          <a:xfrm>
            <a:off x="640080" y="2148840"/>
            <a:ext cx="6400800" cy="914400"/>
          </a:xfrm>
          <a:prstGeom prst="rect">
            <a:avLst/>
          </a:prstGeom>
          <a:noFill/>
          <a:ln/>
        </p:spPr>
        <p:txBody>
          <a:bodyPr wrap="square" lIns="0" tIns="0" rIns="0" bIns="0" rtlCol="0" anchor="t"/>
          <a:lstStyle/>
          <a:p>
            <a:pPr marL="0" indent="0">
              <a:buNone/>
            </a:pPr>
            <a:r>
              <a:rPr lang="en-US" sz="2400" dirty="0">
                <a:solidFill>
                  <a:srgbClr val="BFD3F2"/>
                </a:solidFill>
                <a:latin typeface="Calibri" pitchFamily="34" charset="0"/>
                <a:ea typeface="Calibri" pitchFamily="34" charset="-122"/>
                <a:cs typeface="Calibri" pitchFamily="34" charset="-120"/>
              </a:rPr>
              <a:t>Evidence-based refinement: what our prompts and our interviews taught us</a:t>
            </a:r>
            <a:endParaRPr lang="en-US" sz="2400" dirty="0"/>
          </a:p>
        </p:txBody>
      </p:sp>
      <p:sp>
        <p:nvSpPr>
          <p:cNvPr id="8" name="Shape 5"/>
          <p:cNvSpPr/>
          <p:nvPr/>
        </p:nvSpPr>
        <p:spPr>
          <a:xfrm>
            <a:off x="640080" y="3246120"/>
            <a:ext cx="6400800" cy="960120"/>
          </a:xfrm>
          <a:prstGeom prst="roundRect">
            <a:avLst>
              <a:gd name="adj" fmla="val 11429"/>
            </a:avLst>
          </a:prstGeom>
          <a:solidFill>
            <a:srgbClr val="172A47"/>
          </a:solidFill>
          <a:ln/>
        </p:spPr>
        <p:txBody>
          <a:bodyPr/>
          <a:lstStyle/>
          <a:p>
            <a:endParaRPr lang="en-US"/>
          </a:p>
        </p:txBody>
      </p:sp>
      <p:sp>
        <p:nvSpPr>
          <p:cNvPr id="9" name="Text 6"/>
          <p:cNvSpPr txBox="1"/>
          <p:nvPr/>
        </p:nvSpPr>
        <p:spPr>
          <a:xfrm>
            <a:off x="868680" y="3337560"/>
            <a:ext cx="5943600" cy="777240"/>
          </a:xfrm>
          <a:prstGeom prst="rect">
            <a:avLst/>
          </a:prstGeom>
          <a:noFill/>
          <a:ln/>
        </p:spPr>
        <p:txBody>
          <a:bodyPr wrap="square" lIns="0" tIns="0" rIns="0" bIns="0" rtlCol="0" anchor="ctr"/>
          <a:lstStyle/>
          <a:p>
            <a:pPr marL="0" indent="0">
              <a:buNone/>
            </a:pPr>
            <a:r>
              <a:rPr lang="en-US" sz="1500" b="1" dirty="0">
                <a:solidFill>
                  <a:srgbClr val="8FBCE8"/>
                </a:solidFill>
                <a:latin typeface="Calibri" pitchFamily="34" charset="0"/>
                <a:ea typeface="Calibri" pitchFamily="34" charset="-122"/>
                <a:cs typeface="Calibri" pitchFamily="34" charset="-120"/>
              </a:rPr>
              <a:t>The problem  </a:t>
            </a:r>
            <a:r>
              <a:rPr lang="en-US" sz="1500" dirty="0">
                <a:solidFill>
                  <a:schemeClr val="bg1"/>
                </a:solidFill>
                <a:latin typeface="Calibri" pitchFamily="34" charset="0"/>
                <a:ea typeface="Calibri" pitchFamily="34" charset="-122"/>
                <a:cs typeface="Calibri" pitchFamily="34" charset="-120"/>
              </a:rPr>
              <a:t>Students hop between portals, policies and offices just to answer one question. We build the screen around their goal.</a:t>
            </a:r>
            <a:endParaRPr lang="en-US" sz="1500" dirty="0"/>
          </a:p>
        </p:txBody>
      </p:sp>
      <p:sp>
        <p:nvSpPr>
          <p:cNvPr id="10" name="Shape 7"/>
          <p:cNvSpPr/>
          <p:nvPr/>
        </p:nvSpPr>
        <p:spPr>
          <a:xfrm>
            <a:off x="640080" y="4526280"/>
            <a:ext cx="2057400" cy="731520"/>
          </a:xfrm>
          <a:prstGeom prst="roundRect">
            <a:avLst>
              <a:gd name="adj" fmla="val 15000"/>
            </a:avLst>
          </a:prstGeom>
          <a:solidFill>
            <a:srgbClr val="172A47"/>
          </a:solidFill>
          <a:ln/>
        </p:spPr>
        <p:txBody>
          <a:bodyPr/>
          <a:lstStyle/>
          <a:p>
            <a:endParaRPr lang="en-US"/>
          </a:p>
        </p:txBody>
      </p:sp>
      <p:sp>
        <p:nvSpPr>
          <p:cNvPr id="11" name="Text 8"/>
          <p:cNvSpPr txBox="1"/>
          <p:nvPr/>
        </p:nvSpPr>
        <p:spPr>
          <a:xfrm>
            <a:off x="777240" y="466344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12" name="Text 9"/>
          <p:cNvSpPr txBox="1"/>
          <p:nvPr/>
        </p:nvSpPr>
        <p:spPr>
          <a:xfrm>
            <a:off x="1353312" y="4526280"/>
            <a:ext cx="1325880" cy="73152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Sakshi Katolkar</a:t>
            </a:r>
            <a:endParaRPr lang="en-US" sz="1300" dirty="0"/>
          </a:p>
        </p:txBody>
      </p:sp>
      <p:sp>
        <p:nvSpPr>
          <p:cNvPr id="13" name="Shape 10"/>
          <p:cNvSpPr/>
          <p:nvPr/>
        </p:nvSpPr>
        <p:spPr>
          <a:xfrm>
            <a:off x="2788920" y="4526280"/>
            <a:ext cx="2057400" cy="731520"/>
          </a:xfrm>
          <a:prstGeom prst="roundRect">
            <a:avLst>
              <a:gd name="adj" fmla="val 15000"/>
            </a:avLst>
          </a:prstGeom>
          <a:solidFill>
            <a:srgbClr val="172A47"/>
          </a:solidFill>
          <a:ln/>
        </p:spPr>
        <p:txBody>
          <a:bodyPr/>
          <a:lstStyle/>
          <a:p>
            <a:endParaRPr lang="en-US"/>
          </a:p>
        </p:txBody>
      </p:sp>
      <p:sp>
        <p:nvSpPr>
          <p:cNvPr id="14" name="Text 11"/>
          <p:cNvSpPr txBox="1"/>
          <p:nvPr/>
        </p:nvSpPr>
        <p:spPr>
          <a:xfrm>
            <a:off x="2926080" y="466344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A</a:t>
            </a:r>
            <a:endParaRPr lang="en-US" sz="1600" dirty="0"/>
          </a:p>
        </p:txBody>
      </p:sp>
      <p:sp>
        <p:nvSpPr>
          <p:cNvPr id="15" name="Text 12"/>
          <p:cNvSpPr txBox="1"/>
          <p:nvPr/>
        </p:nvSpPr>
        <p:spPr>
          <a:xfrm>
            <a:off x="3502152" y="4526280"/>
            <a:ext cx="1325880" cy="73152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Aabha Borle</a:t>
            </a:r>
            <a:endParaRPr lang="en-US" sz="1300" dirty="0"/>
          </a:p>
        </p:txBody>
      </p:sp>
      <p:sp>
        <p:nvSpPr>
          <p:cNvPr id="16" name="Shape 13"/>
          <p:cNvSpPr/>
          <p:nvPr/>
        </p:nvSpPr>
        <p:spPr>
          <a:xfrm>
            <a:off x="4937760" y="4526280"/>
            <a:ext cx="2057400" cy="731520"/>
          </a:xfrm>
          <a:prstGeom prst="roundRect">
            <a:avLst>
              <a:gd name="adj" fmla="val 15000"/>
            </a:avLst>
          </a:prstGeom>
          <a:solidFill>
            <a:srgbClr val="172A47"/>
          </a:solidFill>
          <a:ln/>
        </p:spPr>
        <p:txBody>
          <a:bodyPr/>
          <a:lstStyle/>
          <a:p>
            <a:endParaRPr lang="en-US"/>
          </a:p>
        </p:txBody>
      </p:sp>
      <p:sp>
        <p:nvSpPr>
          <p:cNvPr id="17" name="Text 14"/>
          <p:cNvSpPr txBox="1"/>
          <p:nvPr/>
        </p:nvSpPr>
        <p:spPr>
          <a:xfrm>
            <a:off x="5074920" y="4663440"/>
            <a:ext cx="457200" cy="457200"/>
          </a:xfrm>
          <a:prstGeom prst="ellipse">
            <a:avLst/>
          </a:prstGeom>
          <a:solidFill>
            <a:srgbClr val="1E3A8A"/>
          </a:solidFill>
          <a:ln/>
        </p:spPr>
        <p:txBody>
          <a:bodyPr wrap="square" lIns="0" tIns="0" rIns="0" bIns="0" rtlCol="0" anchor="ctr"/>
          <a:lstStyle/>
          <a:p>
            <a:pPr marL="0" indent="0" algn="ctr">
              <a:buNone/>
            </a:pPr>
            <a:r>
              <a:rPr lang="en-US" sz="1600" b="1" dirty="0">
                <a:solidFill>
                  <a:schemeClr val="bg1"/>
                </a:solidFill>
              </a:rPr>
              <a:t>A</a:t>
            </a:r>
            <a:endParaRPr lang="en-US" sz="1600" dirty="0"/>
          </a:p>
        </p:txBody>
      </p:sp>
      <p:sp>
        <p:nvSpPr>
          <p:cNvPr id="18" name="Text 15"/>
          <p:cNvSpPr txBox="1"/>
          <p:nvPr/>
        </p:nvSpPr>
        <p:spPr>
          <a:xfrm>
            <a:off x="5650992" y="4526280"/>
            <a:ext cx="1325880" cy="73152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Anisha Kango</a:t>
            </a:r>
            <a:endParaRPr lang="en-US" sz="1300" dirty="0"/>
          </a:p>
        </p:txBody>
      </p:sp>
      <p:sp>
        <p:nvSpPr>
          <p:cNvPr id="19" name="Text 16"/>
          <p:cNvSpPr txBox="1"/>
          <p:nvPr/>
        </p:nvSpPr>
        <p:spPr>
          <a:xfrm>
            <a:off x="640080" y="5532120"/>
            <a:ext cx="4572000" cy="457200"/>
          </a:xfrm>
          <a:prstGeom prst="roundRect">
            <a:avLst>
              <a:gd name="adj" fmla="val 100000"/>
            </a:avLst>
          </a:prstGeom>
          <a:solidFill>
            <a:schemeClr val="accent1"/>
          </a:solidFill>
          <a:ln/>
        </p:spPr>
        <p:txBody>
          <a:bodyPr wrap="square" lIns="0" tIns="0" rIns="0" bIns="0" rtlCol="0" anchor="ctr"/>
          <a:lstStyle/>
          <a:p>
            <a:pPr algn="ctr"/>
            <a:r>
              <a:rPr lang="en-US" sz="1300" b="1" dirty="0">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https://github.com/aborle3201/InterfaceDNA-IS492/tree/main/validation</a:t>
            </a:r>
            <a:endParaRPr lang="en-US" sz="1300" b="1" dirty="0">
              <a:latin typeface="Calibri" pitchFamily="34" charset="0"/>
              <a:ea typeface="Calibri" pitchFamily="34" charset="-122"/>
              <a:cs typeface="Calibri" pitchFamily="34" charset="-120"/>
            </a:endParaRPr>
          </a:p>
        </p:txBody>
      </p:sp>
      <p:sp>
        <p:nvSpPr>
          <p:cNvPr id="20" name="Text 16">
            <a:extLst>
              <a:ext uri="{FF2B5EF4-FFF2-40B4-BE49-F238E27FC236}">
                <a16:creationId xmlns:a16="http://schemas.microsoft.com/office/drawing/2014/main" id="{A4CF2015-DD34-147E-F1DF-E4A404476036}"/>
              </a:ext>
            </a:extLst>
          </p:cNvPr>
          <p:cNvSpPr txBox="1"/>
          <p:nvPr/>
        </p:nvSpPr>
        <p:spPr>
          <a:xfrm>
            <a:off x="640080" y="6126480"/>
            <a:ext cx="4572000" cy="457200"/>
          </a:xfrm>
          <a:prstGeom prst="roundRect">
            <a:avLst>
              <a:gd name="adj" fmla="val 100000"/>
            </a:avLst>
          </a:prstGeom>
          <a:solidFill>
            <a:schemeClr val="accent1"/>
          </a:solidFill>
          <a:ln/>
        </p:spPr>
        <p:txBody>
          <a:bodyPr wrap="square" lIns="0" tIns="0" rIns="0" bIns="0" rtlCol="0" anchor="ctr"/>
          <a:lstStyle/>
          <a:p>
            <a:pPr algn="ctr"/>
            <a:r>
              <a:rPr lang="en-US" sz="1300" b="1" dirty="0">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https://interfacedna-is492-prototype.vercel.app/</a:t>
            </a:r>
            <a:endParaRPr lang="en-US" sz="1300" b="1" dirty="0">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chemeClr val="accent1">
              <a:alpha val="7000"/>
            </a:schemeClr>
          </a:solidFill>
          <a:ln/>
        </p:spPr>
        <p:txBody>
          <a:bodyPr/>
          <a:lstStyle/>
          <a:p>
            <a:endParaRPr lang="en-US"/>
          </a:p>
        </p:txBody>
      </p:sp>
      <p:sp>
        <p:nvSpPr>
          <p:cNvPr id="3" name="Shape 1"/>
          <p:cNvSpPr/>
          <p:nvPr/>
        </p:nvSpPr>
        <p:spPr>
          <a:xfrm>
            <a:off x="-1280160" y="5394960"/>
            <a:ext cx="2926080" cy="2926080"/>
          </a:xfrm>
          <a:prstGeom prst="ellipse">
            <a:avLst/>
          </a:prstGeom>
          <a:solidFill>
            <a:schemeClr val="accent1">
              <a:alpha val="6000"/>
            </a:schemeClr>
          </a:solidFill>
          <a:ln/>
        </p:spPr>
        <p:txBody>
          <a:bodyPr/>
          <a:lstStyle/>
          <a:p>
            <a:endParaRPr lang="en-US"/>
          </a:p>
        </p:txBody>
      </p:sp>
      <p:sp>
        <p:nvSpPr>
          <p:cNvPr id="4" name="Text 2"/>
          <p:cNvSpPr txBox="1"/>
          <p:nvPr/>
        </p:nvSpPr>
        <p:spPr>
          <a:xfrm>
            <a:off x="548640" y="301752"/>
            <a:ext cx="8229600" cy="274320"/>
          </a:xfrm>
          <a:prstGeom prst="rect">
            <a:avLst/>
          </a:prstGeom>
          <a:noFill/>
          <a:ln/>
        </p:spPr>
        <p:txBody>
          <a:bodyPr wrap="square" lIns="0" tIns="0" rIns="0" bIns="0" rtlCol="0" anchor="t"/>
          <a:lstStyle/>
          <a:p>
            <a:pPr marL="0" indent="0">
              <a:buNone/>
            </a:pPr>
            <a:r>
              <a:rPr lang="en-US" sz="1100" b="1" kern="0" spc="300" dirty="0">
                <a:solidFill>
                  <a:srgbClr val="8DB4F5"/>
                </a:solidFill>
                <a:latin typeface="Calibri" pitchFamily="34" charset="0"/>
                <a:ea typeface="Calibri" pitchFamily="34" charset="-122"/>
                <a:cs typeface="Calibri" pitchFamily="34" charset="-120"/>
              </a:rPr>
              <a:t>02  ·  VALIDATION GOALS AND THEORY</a:t>
            </a:r>
            <a:endParaRPr lang="en-US" sz="1100" dirty="0"/>
          </a:p>
        </p:txBody>
      </p:sp>
      <p:sp>
        <p:nvSpPr>
          <p:cNvPr id="5"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We tested our assumptions, and they got sharper</a:t>
            </a:r>
            <a:endParaRPr lang="en-US" sz="3000" dirty="0"/>
          </a:p>
        </p:txBody>
      </p:sp>
      <p:sp>
        <p:nvSpPr>
          <p:cNvPr id="58"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2</a:t>
            </a:fld>
            <a:endParaRPr lang="en-US"/>
          </a:p>
        </p:txBody>
      </p:sp>
      <p:sp>
        <p:nvSpPr>
          <p:cNvPr id="6" name="Shape 4"/>
          <p:cNvSpPr/>
          <p:nvPr/>
        </p:nvSpPr>
        <p:spPr>
          <a:xfrm>
            <a:off x="548640" y="1371600"/>
            <a:ext cx="4114800" cy="2514600"/>
          </a:xfrm>
          <a:prstGeom prst="roundRect">
            <a:avLst>
              <a:gd name="adj" fmla="val 4364"/>
            </a:avLst>
          </a:prstGeom>
          <a:solidFill>
            <a:srgbClr val="172A47"/>
          </a:solidFill>
          <a:ln/>
          <a:effectLst>
            <a:outerShdw blurRad="127000" dist="25400" dir="5400000" algn="bl" rotWithShape="0">
              <a:srgbClr val="000000">
                <a:alpha val="35000"/>
              </a:srgbClr>
            </a:outerShdw>
          </a:effectLst>
        </p:spPr>
        <p:txBody>
          <a:bodyPr/>
          <a:lstStyle/>
          <a:p>
            <a:endParaRPr lang="en-US"/>
          </a:p>
        </p:txBody>
      </p:sp>
      <p:sp>
        <p:nvSpPr>
          <p:cNvPr id="7" name="Text 5"/>
          <p:cNvSpPr txBox="1"/>
          <p:nvPr/>
        </p:nvSpPr>
        <p:spPr>
          <a:xfrm>
            <a:off x="777240" y="1536192"/>
            <a:ext cx="3657600" cy="228600"/>
          </a:xfrm>
          <a:prstGeom prst="rect">
            <a:avLst/>
          </a:prstGeom>
          <a:noFill/>
          <a:ln/>
        </p:spPr>
        <p:txBody>
          <a:bodyPr wrap="square" lIns="0" tIns="0" rIns="0" bIns="0" rtlCol="0" anchor="t"/>
          <a:lstStyle/>
          <a:p>
            <a:pPr marL="0" indent="0">
              <a:buNone/>
            </a:pPr>
            <a:r>
              <a:rPr lang="en-US" sz="1050" b="1" kern="0" spc="200" dirty="0">
                <a:solidFill>
                  <a:srgbClr val="E0A262"/>
                </a:solidFill>
                <a:latin typeface="Calibri" pitchFamily="34" charset="0"/>
                <a:ea typeface="Calibri" pitchFamily="34" charset="-122"/>
                <a:cs typeface="Calibri" pitchFamily="34" charset="-120"/>
              </a:rPr>
              <a:t>OUR THEORY CLAIM</a:t>
            </a:r>
            <a:endParaRPr lang="en-US" sz="1050" dirty="0"/>
          </a:p>
        </p:txBody>
      </p:sp>
      <p:sp>
        <p:nvSpPr>
          <p:cNvPr id="8" name="Text 6"/>
          <p:cNvSpPr txBox="1"/>
          <p:nvPr/>
        </p:nvSpPr>
        <p:spPr>
          <a:xfrm>
            <a:off x="777240" y="1828800"/>
            <a:ext cx="3657600" cy="1417320"/>
          </a:xfrm>
          <a:prstGeom prst="rect">
            <a:avLst/>
          </a:prstGeom>
          <a:noFill/>
          <a:ln/>
        </p:spPr>
        <p:txBody>
          <a:bodyPr wrap="square" lIns="0" tIns="0" rIns="0" bIns="0" rtlCol="0" anchor="t"/>
          <a:lstStyle/>
          <a:p>
            <a:pPr marL="0" indent="0">
              <a:buNone/>
            </a:pPr>
            <a:r>
              <a:rPr lang="en-US" sz="1450" b="1" dirty="0">
                <a:solidFill>
                  <a:schemeClr val="bg1"/>
                </a:solidFill>
                <a:latin typeface="Calibri" pitchFamily="34" charset="0"/>
                <a:ea typeface="Calibri" pitchFamily="34" charset="-122"/>
                <a:cs typeface="Calibri" pitchFamily="34" charset="-120"/>
              </a:rPr>
              <a:t>A human + AI hybrid should beat a student alone and an AI alone, because the student keeps judgment and final authority while the AI organizes records, policies and the screen.</a:t>
            </a:r>
            <a:endParaRPr lang="en-US" sz="1450" dirty="0"/>
          </a:p>
        </p:txBody>
      </p:sp>
      <p:sp>
        <p:nvSpPr>
          <p:cNvPr id="9" name="Text 7"/>
          <p:cNvSpPr txBox="1"/>
          <p:nvPr/>
        </p:nvSpPr>
        <p:spPr>
          <a:xfrm>
            <a:off x="777240" y="3337560"/>
            <a:ext cx="3657600" cy="228600"/>
          </a:xfrm>
          <a:prstGeom prst="rect">
            <a:avLst/>
          </a:prstGeom>
          <a:noFill/>
          <a:ln/>
        </p:spPr>
        <p:txBody>
          <a:bodyPr wrap="square" lIns="0" tIns="0" rIns="0" bIns="0" rtlCol="0" anchor="t"/>
          <a:lstStyle/>
          <a:p>
            <a:pPr marL="0" indent="0">
              <a:buNone/>
            </a:pPr>
            <a:r>
              <a:rPr lang="en-US" sz="1050" dirty="0">
                <a:solidFill>
                  <a:srgbClr val="BFD3F2"/>
                </a:solidFill>
                <a:latin typeface="Calibri" pitchFamily="34" charset="0"/>
                <a:ea typeface="Calibri" pitchFamily="34" charset="-122"/>
                <a:cs typeface="Calibri" pitchFamily="34" charset="-120"/>
              </a:rPr>
              <a:t>Complementarity · Gonzalez et al. (2026)</a:t>
            </a:r>
            <a:endParaRPr lang="en-US" sz="1050" dirty="0"/>
          </a:p>
        </p:txBody>
      </p:sp>
      <p:sp>
        <p:nvSpPr>
          <p:cNvPr id="10" name="Text 8"/>
          <p:cNvSpPr txBox="1"/>
          <p:nvPr/>
        </p:nvSpPr>
        <p:spPr>
          <a:xfrm>
            <a:off x="777240" y="3584448"/>
            <a:ext cx="1143000" cy="201168"/>
          </a:xfrm>
          <a:prstGeom prst="homePlate">
            <a:avLst/>
          </a:prstGeom>
          <a:solidFill>
            <a:schemeClr val="accent1"/>
          </a:solidFill>
          <a:ln/>
        </p:spPr>
        <p:txBody>
          <a:bodyPr wrap="square" lIns="0" tIns="0" rIns="0" bIns="0" rtlCol="0" anchor="ctr"/>
          <a:lstStyle/>
          <a:p>
            <a:pPr marL="0" indent="0" algn="ctr">
              <a:buNone/>
            </a:pPr>
            <a:r>
              <a:rPr lang="en-US" sz="1000" b="1" dirty="0">
                <a:solidFill>
                  <a:schemeClr val="bg1"/>
                </a:solidFill>
              </a:rPr>
              <a:t>Receipt</a:t>
            </a:r>
            <a:endParaRPr lang="en-US" sz="1000" dirty="0"/>
          </a:p>
        </p:txBody>
      </p:sp>
      <p:sp>
        <p:nvSpPr>
          <p:cNvPr id="11" name="Text 9"/>
          <p:cNvSpPr txBox="1"/>
          <p:nvPr/>
        </p:nvSpPr>
        <p:spPr>
          <a:xfrm>
            <a:off x="1965960" y="3584448"/>
            <a:ext cx="1143000" cy="201168"/>
          </a:xfrm>
          <a:prstGeom prst="homePlate">
            <a:avLst/>
          </a:prstGeom>
          <a:solidFill>
            <a:schemeClr val="accent2"/>
          </a:solidFill>
          <a:ln/>
        </p:spPr>
        <p:txBody>
          <a:bodyPr wrap="square" lIns="0" tIns="0" rIns="0" bIns="0" rtlCol="0" anchor="ctr"/>
          <a:lstStyle/>
          <a:p>
            <a:pPr marL="0" indent="0" algn="ctr">
              <a:buNone/>
            </a:pPr>
            <a:r>
              <a:rPr lang="en-US" sz="1000" b="1" dirty="0">
                <a:solidFill>
                  <a:schemeClr val="bg1"/>
                </a:solidFill>
              </a:rPr>
              <a:t>Theory</a:t>
            </a:r>
            <a:endParaRPr lang="en-US" sz="1000" dirty="0"/>
          </a:p>
        </p:txBody>
      </p:sp>
      <p:sp>
        <p:nvSpPr>
          <p:cNvPr id="12" name="Text 10"/>
          <p:cNvSpPr txBox="1"/>
          <p:nvPr/>
        </p:nvSpPr>
        <p:spPr>
          <a:xfrm>
            <a:off x="3154680" y="3584448"/>
            <a:ext cx="1143000" cy="201168"/>
          </a:xfrm>
          <a:prstGeom prst="homePlate">
            <a:avLst/>
          </a:prstGeom>
          <a:solidFill>
            <a:srgbClr val="1E3A8A"/>
          </a:solidFill>
          <a:ln/>
        </p:spPr>
        <p:txBody>
          <a:bodyPr wrap="square" lIns="0" tIns="0" rIns="0" bIns="0" rtlCol="0" anchor="ctr"/>
          <a:lstStyle/>
          <a:p>
            <a:pPr marL="0" indent="0" algn="ctr">
              <a:buNone/>
            </a:pPr>
            <a:r>
              <a:rPr lang="en-US" sz="1000" b="1" dirty="0">
                <a:solidFill>
                  <a:schemeClr val="bg1"/>
                </a:solidFill>
              </a:rPr>
              <a:t>Design</a:t>
            </a:r>
            <a:endParaRPr lang="en-US" sz="1000" dirty="0"/>
          </a:p>
        </p:txBody>
      </p:sp>
      <p:sp>
        <p:nvSpPr>
          <p:cNvPr id="13" name="Shape 11"/>
          <p:cNvSpPr/>
          <p:nvPr/>
        </p:nvSpPr>
        <p:spPr>
          <a:xfrm>
            <a:off x="548640" y="4023360"/>
            <a:ext cx="4114800" cy="1325880"/>
          </a:xfrm>
          <a:prstGeom prst="roundRect">
            <a:avLst>
              <a:gd name="adj" fmla="val 8276"/>
            </a:avLst>
          </a:prstGeom>
          <a:solidFill>
            <a:srgbClr val="16263D"/>
          </a:solidFill>
          <a:ln/>
          <a:effectLst>
            <a:outerShdw blurRad="127000" dist="25400" dir="5400000" algn="bl" rotWithShape="0">
              <a:srgbClr val="000000">
                <a:alpha val="35000"/>
              </a:srgbClr>
            </a:outerShdw>
          </a:effectLst>
        </p:spPr>
        <p:txBody>
          <a:bodyPr/>
          <a:lstStyle/>
          <a:p>
            <a:endParaRPr lang="en-US"/>
          </a:p>
        </p:txBody>
      </p:sp>
      <p:pic>
        <p:nvPicPr>
          <p:cNvPr id="14" name="Image 0" descr="How InterfaceDNA works: intent interpretation, context retrieval, task planning, interface composition"/>
          <p:cNvPicPr>
            <a:picLocks noChangeAspect="1"/>
          </p:cNvPicPr>
          <p:nvPr/>
        </p:nvPicPr>
        <p:blipFill>
          <a:blip r:embed="rId3"/>
          <a:stretch>
            <a:fillRect/>
          </a:stretch>
        </p:blipFill>
        <p:spPr>
          <a:xfrm>
            <a:off x="658368" y="4114800"/>
            <a:ext cx="3895344" cy="971748"/>
          </a:xfrm>
          <a:prstGeom prst="rect">
            <a:avLst/>
          </a:prstGeom>
        </p:spPr>
      </p:pic>
      <p:sp>
        <p:nvSpPr>
          <p:cNvPr id="15" name="Text 12"/>
          <p:cNvSpPr txBox="1"/>
          <p:nvPr/>
        </p:nvSpPr>
        <p:spPr>
          <a:xfrm>
            <a:off x="777240" y="5102352"/>
            <a:ext cx="3657600" cy="201168"/>
          </a:xfrm>
          <a:prstGeom prst="rect">
            <a:avLst/>
          </a:prstGeom>
          <a:noFill/>
          <a:ln/>
        </p:spPr>
        <p:txBody>
          <a:bodyPr wrap="square" lIns="0" tIns="0" rIns="0" bIns="0" rtlCol="0" anchor="t"/>
          <a:lstStyle/>
          <a:p>
            <a:pPr marL="0" indent="0">
              <a:buNone/>
            </a:pPr>
            <a:r>
              <a:rPr lang="en-US" sz="950" b="1" kern="0" spc="200" dirty="0">
                <a:solidFill>
                  <a:srgbClr val="9AAAC3"/>
                </a:solidFill>
                <a:latin typeface="Calibri" pitchFamily="34" charset="0"/>
                <a:ea typeface="Calibri" pitchFamily="34" charset="-122"/>
                <a:cs typeface="Calibri" pitchFamily="34" charset="-120"/>
              </a:rPr>
              <a:t>HOW INTERFACEDNA WORKS</a:t>
            </a:r>
            <a:endParaRPr lang="en-US" sz="950" dirty="0"/>
          </a:p>
        </p:txBody>
      </p:sp>
      <p:sp>
        <p:nvSpPr>
          <p:cNvPr id="16" name="Text 13"/>
          <p:cNvSpPr txBox="1"/>
          <p:nvPr/>
        </p:nvSpPr>
        <p:spPr>
          <a:xfrm>
            <a:off x="4892040" y="1371600"/>
            <a:ext cx="2651760" cy="228600"/>
          </a:xfrm>
          <a:prstGeom prst="rect">
            <a:avLst/>
          </a:prstGeom>
          <a:noFill/>
          <a:ln/>
        </p:spPr>
        <p:txBody>
          <a:bodyPr wrap="square" lIns="0" tIns="0" rIns="0" bIns="0" rtlCol="0" anchor="t"/>
          <a:lstStyle/>
          <a:p>
            <a:pPr marL="0" indent="0">
              <a:buNone/>
            </a:pPr>
            <a:r>
              <a:rPr lang="en-US" sz="1050" b="1" kern="0" spc="200" dirty="0">
                <a:solidFill>
                  <a:srgbClr val="9AAAC3"/>
                </a:solidFill>
                <a:latin typeface="Calibri" pitchFamily="34" charset="0"/>
                <a:ea typeface="Calibri" pitchFamily="34" charset="-122"/>
                <a:cs typeface="Calibri" pitchFamily="34" charset="-120"/>
              </a:rPr>
              <a:t>WE THOUGHT</a:t>
            </a:r>
            <a:endParaRPr lang="en-US" sz="1050" dirty="0"/>
          </a:p>
        </p:txBody>
      </p:sp>
      <p:sp>
        <p:nvSpPr>
          <p:cNvPr id="17" name="Text 14"/>
          <p:cNvSpPr txBox="1"/>
          <p:nvPr/>
        </p:nvSpPr>
        <p:spPr>
          <a:xfrm>
            <a:off x="8028432" y="1371600"/>
            <a:ext cx="3566160" cy="228600"/>
          </a:xfrm>
          <a:prstGeom prst="rect">
            <a:avLst/>
          </a:prstGeom>
          <a:noFill/>
          <a:ln/>
        </p:spPr>
        <p:txBody>
          <a:bodyPr wrap="square" lIns="0" tIns="0" rIns="0" bIns="0" rtlCol="0" anchor="t"/>
          <a:lstStyle/>
          <a:p>
            <a:pPr marL="0" indent="0">
              <a:buNone/>
            </a:pPr>
            <a:r>
              <a:rPr lang="en-US" sz="1050" b="1" kern="0" spc="200" dirty="0">
                <a:solidFill>
                  <a:srgbClr val="8DB4F5"/>
                </a:solidFill>
                <a:latin typeface="Calibri" pitchFamily="34" charset="0"/>
                <a:ea typeface="Calibri" pitchFamily="34" charset="-122"/>
                <a:cs typeface="Calibri" pitchFamily="34" charset="-120"/>
              </a:rPr>
              <a:t>THEN WE FOUND</a:t>
            </a:r>
            <a:endParaRPr lang="en-US" sz="1050" dirty="0"/>
          </a:p>
        </p:txBody>
      </p:sp>
      <p:sp>
        <p:nvSpPr>
          <p:cNvPr id="18" name="Shape 15"/>
          <p:cNvSpPr/>
          <p:nvPr/>
        </p:nvSpPr>
        <p:spPr>
          <a:xfrm>
            <a:off x="4892040" y="1664208"/>
            <a:ext cx="2651760" cy="804672"/>
          </a:xfrm>
          <a:prstGeom prst="roundRect">
            <a:avLst>
              <a:gd name="adj" fmla="val 13636"/>
            </a:avLst>
          </a:prstGeom>
          <a:solidFill>
            <a:srgbClr val="1B2E4A"/>
          </a:solidFill>
          <a:ln/>
        </p:spPr>
        <p:txBody>
          <a:bodyPr/>
          <a:lstStyle/>
          <a:p>
            <a:endParaRPr lang="en-US"/>
          </a:p>
        </p:txBody>
      </p:sp>
      <p:sp>
        <p:nvSpPr>
          <p:cNvPr id="19" name="Text 16"/>
          <p:cNvSpPr txBox="1"/>
          <p:nvPr/>
        </p:nvSpPr>
        <p:spPr>
          <a:xfrm>
            <a:off x="5029200" y="1709928"/>
            <a:ext cx="2377440" cy="713232"/>
          </a:xfrm>
          <a:prstGeom prst="rect">
            <a:avLst/>
          </a:prstGeom>
          <a:noFill/>
          <a:ln/>
        </p:spPr>
        <p:txBody>
          <a:bodyPr wrap="square" lIns="0" tIns="0" rIns="0" bIns="0" rtlCol="0" anchor="ctr"/>
          <a:lstStyle/>
          <a:p>
            <a:pPr marL="0" indent="0">
              <a:buNone/>
            </a:pPr>
            <a:r>
              <a:rPr lang="en-US" sz="1250" dirty="0">
                <a:solidFill>
                  <a:srgbClr val="C3D0E6"/>
                </a:solidFill>
                <a:latin typeface="Calibri" pitchFamily="34" charset="0"/>
                <a:ea typeface="Calibri" pitchFamily="34" charset="-122"/>
                <a:cs typeface="Calibri" pitchFamily="34" charset="-120"/>
              </a:rPr>
              <a:t>Clear explanations will remove the friction</a:t>
            </a:r>
            <a:endParaRPr lang="en-US" sz="1250" dirty="0"/>
          </a:p>
        </p:txBody>
      </p:sp>
      <p:sp>
        <p:nvSpPr>
          <p:cNvPr id="20" name="Shape 17"/>
          <p:cNvSpPr/>
          <p:nvPr/>
        </p:nvSpPr>
        <p:spPr>
          <a:xfrm>
            <a:off x="7607808" y="1911096"/>
            <a:ext cx="347472" cy="310896"/>
          </a:xfrm>
          <a:prstGeom prst="rightArrow">
            <a:avLst/>
          </a:prstGeom>
          <a:solidFill>
            <a:schemeClr val="accent1"/>
          </a:solidFill>
          <a:ln/>
        </p:spPr>
        <p:txBody>
          <a:bodyPr/>
          <a:lstStyle/>
          <a:p>
            <a:endParaRPr lang="en-US"/>
          </a:p>
        </p:txBody>
      </p:sp>
      <p:sp>
        <p:nvSpPr>
          <p:cNvPr id="21" name="Shape 18"/>
          <p:cNvSpPr/>
          <p:nvPr/>
        </p:nvSpPr>
        <p:spPr>
          <a:xfrm>
            <a:off x="8028432" y="1664208"/>
            <a:ext cx="3611880" cy="804672"/>
          </a:xfrm>
          <a:prstGeom prst="roundRect">
            <a:avLst>
              <a:gd name="adj" fmla="val 13636"/>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22" name="Text 19"/>
          <p:cNvSpPr txBox="1"/>
          <p:nvPr/>
        </p:nvSpPr>
        <p:spPr>
          <a:xfrm>
            <a:off x="8183880" y="1728216"/>
            <a:ext cx="3337560" cy="457200"/>
          </a:xfrm>
          <a:prstGeom prst="rect">
            <a:avLst/>
          </a:prstGeom>
          <a:noFill/>
          <a:ln/>
        </p:spPr>
        <p:txBody>
          <a:bodyPr wrap="square" lIns="0" tIns="0" rIns="0" bIns="0" rtlCol="0" anchor="ctr"/>
          <a:lstStyle/>
          <a:p>
            <a:pPr marL="0" indent="0">
              <a:buNone/>
            </a:pPr>
            <a:r>
              <a:rPr lang="en-US" sz="1400" b="1" dirty="0">
                <a:solidFill>
                  <a:srgbClr val="E8EEF8"/>
                </a:solidFill>
                <a:latin typeface="Calibri" pitchFamily="34" charset="0"/>
                <a:ea typeface="Calibri" pitchFamily="34" charset="-122"/>
                <a:cs typeface="Calibri" pitchFamily="34" charset="-120"/>
              </a:rPr>
              <a:t>The bottleneck is verified student state</a:t>
            </a:r>
            <a:endParaRPr lang="en-US" sz="1400" dirty="0"/>
          </a:p>
        </p:txBody>
      </p:sp>
      <p:sp>
        <p:nvSpPr>
          <p:cNvPr id="23" name="Text 20"/>
          <p:cNvSpPr txBox="1"/>
          <p:nvPr/>
        </p:nvSpPr>
        <p:spPr>
          <a:xfrm>
            <a:off x="8183880" y="2194560"/>
            <a:ext cx="822960" cy="201168"/>
          </a:xfrm>
          <a:prstGeom prst="roundRect">
            <a:avLst>
              <a:gd name="adj" fmla="val 227273"/>
            </a:avLst>
          </a:prstGeom>
          <a:solidFill>
            <a:srgbClr val="EAF1FF"/>
          </a:solidFill>
          <a:ln/>
        </p:spPr>
        <p:txBody>
          <a:bodyPr wrap="square" lIns="0" tIns="0" rIns="0" bIns="0" rtlCol="0" anchor="ctr"/>
          <a:lstStyle/>
          <a:p>
            <a:pPr marL="0" indent="0" algn="ctr">
              <a:buNone/>
            </a:pPr>
            <a:r>
              <a:rPr lang="en-US" sz="900" b="1" dirty="0">
                <a:solidFill>
                  <a:srgbClr val="8DB4F5"/>
                </a:solidFill>
                <a:latin typeface="Calibri" pitchFamily="34" charset="0"/>
                <a:ea typeface="Calibri" pitchFamily="34" charset="-122"/>
                <a:cs typeface="Calibri" pitchFamily="34" charset="-120"/>
              </a:rPr>
              <a:t>Memory</a:t>
            </a:r>
            <a:endParaRPr lang="en-US" sz="900" dirty="0"/>
          </a:p>
        </p:txBody>
      </p:sp>
      <p:sp>
        <p:nvSpPr>
          <p:cNvPr id="24" name="Shape 21"/>
          <p:cNvSpPr/>
          <p:nvPr/>
        </p:nvSpPr>
        <p:spPr>
          <a:xfrm>
            <a:off x="4892040" y="2578608"/>
            <a:ext cx="2651760" cy="804672"/>
          </a:xfrm>
          <a:prstGeom prst="roundRect">
            <a:avLst>
              <a:gd name="adj" fmla="val 13636"/>
            </a:avLst>
          </a:prstGeom>
          <a:solidFill>
            <a:srgbClr val="1B2E4A"/>
          </a:solidFill>
          <a:ln/>
        </p:spPr>
        <p:txBody>
          <a:bodyPr/>
          <a:lstStyle/>
          <a:p>
            <a:endParaRPr lang="en-US"/>
          </a:p>
        </p:txBody>
      </p:sp>
      <p:sp>
        <p:nvSpPr>
          <p:cNvPr id="25" name="Text 22"/>
          <p:cNvSpPr txBox="1"/>
          <p:nvPr/>
        </p:nvSpPr>
        <p:spPr>
          <a:xfrm>
            <a:off x="5029200" y="2624328"/>
            <a:ext cx="2377440" cy="713232"/>
          </a:xfrm>
          <a:prstGeom prst="rect">
            <a:avLst/>
          </a:prstGeom>
          <a:noFill/>
          <a:ln/>
        </p:spPr>
        <p:txBody>
          <a:bodyPr wrap="square" lIns="0" tIns="0" rIns="0" bIns="0" rtlCol="0" anchor="ctr"/>
          <a:lstStyle/>
          <a:p>
            <a:pPr marL="0" indent="0">
              <a:buNone/>
            </a:pPr>
            <a:r>
              <a:rPr lang="en-US" sz="1250" dirty="0">
                <a:solidFill>
                  <a:srgbClr val="C3D0E6"/>
                </a:solidFill>
                <a:latin typeface="Calibri" pitchFamily="34" charset="0"/>
                <a:ea typeface="Calibri" pitchFamily="34" charset="-122"/>
                <a:cs typeface="Calibri" pitchFamily="34" charset="-120"/>
              </a:rPr>
              <a:t>More AI memory means better personalization</a:t>
            </a:r>
            <a:endParaRPr lang="en-US" sz="1250" dirty="0"/>
          </a:p>
        </p:txBody>
      </p:sp>
      <p:sp>
        <p:nvSpPr>
          <p:cNvPr id="26" name="Shape 23"/>
          <p:cNvSpPr/>
          <p:nvPr/>
        </p:nvSpPr>
        <p:spPr>
          <a:xfrm>
            <a:off x="7607808" y="2825496"/>
            <a:ext cx="347472" cy="310896"/>
          </a:xfrm>
          <a:prstGeom prst="rightArrow">
            <a:avLst/>
          </a:prstGeom>
          <a:solidFill>
            <a:schemeClr val="accent1"/>
          </a:solidFill>
          <a:ln/>
        </p:spPr>
        <p:txBody>
          <a:bodyPr/>
          <a:lstStyle/>
          <a:p>
            <a:endParaRPr lang="en-US"/>
          </a:p>
        </p:txBody>
      </p:sp>
      <p:sp>
        <p:nvSpPr>
          <p:cNvPr id="27" name="Shape 24"/>
          <p:cNvSpPr/>
          <p:nvPr/>
        </p:nvSpPr>
        <p:spPr>
          <a:xfrm>
            <a:off x="8028432" y="2578608"/>
            <a:ext cx="3611880" cy="804672"/>
          </a:xfrm>
          <a:prstGeom prst="roundRect">
            <a:avLst>
              <a:gd name="adj" fmla="val 13636"/>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28" name="Text 25"/>
          <p:cNvSpPr txBox="1"/>
          <p:nvPr/>
        </p:nvSpPr>
        <p:spPr>
          <a:xfrm>
            <a:off x="8183880" y="2642616"/>
            <a:ext cx="3337560" cy="457200"/>
          </a:xfrm>
          <a:prstGeom prst="rect">
            <a:avLst/>
          </a:prstGeom>
          <a:noFill/>
          <a:ln/>
        </p:spPr>
        <p:txBody>
          <a:bodyPr wrap="square" lIns="0" tIns="0" rIns="0" bIns="0" rtlCol="0" anchor="ctr"/>
          <a:lstStyle/>
          <a:p>
            <a:pPr marL="0" indent="0">
              <a:buNone/>
            </a:pPr>
            <a:r>
              <a:rPr lang="en-US" sz="1400" b="1" dirty="0">
                <a:solidFill>
                  <a:srgbClr val="E8EEF8"/>
                </a:solidFill>
                <a:latin typeface="Calibri" pitchFamily="34" charset="0"/>
                <a:ea typeface="Calibri" pitchFamily="34" charset="-122"/>
                <a:cs typeface="Calibri" pitchFamily="34" charset="-120"/>
              </a:rPr>
              <a:t>Memory is not verification</a:t>
            </a:r>
            <a:endParaRPr lang="en-US" sz="1400" dirty="0"/>
          </a:p>
        </p:txBody>
      </p:sp>
      <p:sp>
        <p:nvSpPr>
          <p:cNvPr id="29" name="Text 26"/>
          <p:cNvSpPr txBox="1"/>
          <p:nvPr/>
        </p:nvSpPr>
        <p:spPr>
          <a:xfrm>
            <a:off x="8183880" y="3108960"/>
            <a:ext cx="822960" cy="201168"/>
          </a:xfrm>
          <a:prstGeom prst="roundRect">
            <a:avLst>
              <a:gd name="adj" fmla="val 227273"/>
            </a:avLst>
          </a:prstGeom>
          <a:solidFill>
            <a:srgbClr val="EAF1FF"/>
          </a:solidFill>
          <a:ln/>
        </p:spPr>
        <p:txBody>
          <a:bodyPr wrap="square" lIns="0" tIns="0" rIns="0" bIns="0" rtlCol="0" anchor="ctr"/>
          <a:lstStyle/>
          <a:p>
            <a:pPr marL="0" indent="0" algn="ctr">
              <a:buNone/>
            </a:pPr>
            <a:r>
              <a:rPr lang="en-US" sz="900" b="1" dirty="0">
                <a:solidFill>
                  <a:srgbClr val="8DB4F5"/>
                </a:solidFill>
                <a:latin typeface="Calibri" pitchFamily="34" charset="0"/>
                <a:ea typeface="Calibri" pitchFamily="34" charset="-122"/>
                <a:cs typeface="Calibri" pitchFamily="34" charset="-120"/>
              </a:rPr>
              <a:t>Memory</a:t>
            </a:r>
            <a:endParaRPr lang="en-US" sz="900" dirty="0"/>
          </a:p>
        </p:txBody>
      </p:sp>
      <p:sp>
        <p:nvSpPr>
          <p:cNvPr id="30" name="Shape 27"/>
          <p:cNvSpPr/>
          <p:nvPr/>
        </p:nvSpPr>
        <p:spPr>
          <a:xfrm>
            <a:off x="4892040" y="3493008"/>
            <a:ext cx="2651760" cy="804672"/>
          </a:xfrm>
          <a:prstGeom prst="roundRect">
            <a:avLst>
              <a:gd name="adj" fmla="val 13636"/>
            </a:avLst>
          </a:prstGeom>
          <a:solidFill>
            <a:srgbClr val="1B2E4A"/>
          </a:solidFill>
          <a:ln/>
        </p:spPr>
        <p:txBody>
          <a:bodyPr/>
          <a:lstStyle/>
          <a:p>
            <a:endParaRPr lang="en-US"/>
          </a:p>
        </p:txBody>
      </p:sp>
      <p:sp>
        <p:nvSpPr>
          <p:cNvPr id="31" name="Text 28"/>
          <p:cNvSpPr txBox="1"/>
          <p:nvPr/>
        </p:nvSpPr>
        <p:spPr>
          <a:xfrm>
            <a:off x="5029200" y="3538728"/>
            <a:ext cx="2377440" cy="713232"/>
          </a:xfrm>
          <a:prstGeom prst="rect">
            <a:avLst/>
          </a:prstGeom>
          <a:noFill/>
          <a:ln/>
        </p:spPr>
        <p:txBody>
          <a:bodyPr wrap="square" lIns="0" tIns="0" rIns="0" bIns="0" rtlCol="0" anchor="ctr"/>
          <a:lstStyle/>
          <a:p>
            <a:pPr marL="0" indent="0">
              <a:buNone/>
            </a:pPr>
            <a:r>
              <a:rPr lang="en-US" sz="1250" dirty="0">
                <a:solidFill>
                  <a:srgbClr val="C3D0E6"/>
                </a:solidFill>
                <a:latin typeface="Calibri" pitchFamily="34" charset="0"/>
                <a:ea typeface="Calibri" pitchFamily="34" charset="-122"/>
                <a:cs typeface="Calibri" pitchFamily="34" charset="-120"/>
              </a:rPr>
              <a:t>Generate a fresh interface for every goal</a:t>
            </a:r>
            <a:endParaRPr lang="en-US" sz="1250" dirty="0"/>
          </a:p>
        </p:txBody>
      </p:sp>
      <p:sp>
        <p:nvSpPr>
          <p:cNvPr id="32" name="Shape 29"/>
          <p:cNvSpPr/>
          <p:nvPr/>
        </p:nvSpPr>
        <p:spPr>
          <a:xfrm>
            <a:off x="7607808" y="3739896"/>
            <a:ext cx="347472" cy="310896"/>
          </a:xfrm>
          <a:prstGeom prst="rightArrow">
            <a:avLst/>
          </a:prstGeom>
          <a:solidFill>
            <a:schemeClr val="accent1"/>
          </a:solidFill>
          <a:ln/>
        </p:spPr>
        <p:txBody>
          <a:bodyPr/>
          <a:lstStyle/>
          <a:p>
            <a:endParaRPr lang="en-US"/>
          </a:p>
        </p:txBody>
      </p:sp>
      <p:sp>
        <p:nvSpPr>
          <p:cNvPr id="33" name="Shape 30"/>
          <p:cNvSpPr/>
          <p:nvPr/>
        </p:nvSpPr>
        <p:spPr>
          <a:xfrm>
            <a:off x="8028432" y="3493008"/>
            <a:ext cx="3611880" cy="804672"/>
          </a:xfrm>
          <a:prstGeom prst="roundRect">
            <a:avLst>
              <a:gd name="adj" fmla="val 13636"/>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34" name="Text 31"/>
          <p:cNvSpPr txBox="1"/>
          <p:nvPr/>
        </p:nvSpPr>
        <p:spPr>
          <a:xfrm>
            <a:off x="8183880" y="3557016"/>
            <a:ext cx="3337560" cy="457200"/>
          </a:xfrm>
          <a:prstGeom prst="rect">
            <a:avLst/>
          </a:prstGeom>
          <a:noFill/>
          <a:ln/>
        </p:spPr>
        <p:txBody>
          <a:bodyPr wrap="square" lIns="0" tIns="0" rIns="0" bIns="0" rtlCol="0" anchor="ctr"/>
          <a:lstStyle/>
          <a:p>
            <a:pPr marL="0" indent="0">
              <a:buNone/>
            </a:pPr>
            <a:r>
              <a:rPr lang="en-US" sz="1400" b="1" dirty="0">
                <a:solidFill>
                  <a:srgbClr val="E8EEF8"/>
                </a:solidFill>
                <a:latin typeface="Calibri" pitchFamily="34" charset="0"/>
                <a:ea typeface="Calibri" pitchFamily="34" charset="-122"/>
                <a:cs typeface="Calibri" pitchFamily="34" charset="-120"/>
              </a:rPr>
              <a:t>Keep components stable, adapt the content</a:t>
            </a:r>
            <a:endParaRPr lang="en-US" sz="1400" dirty="0"/>
          </a:p>
        </p:txBody>
      </p:sp>
      <p:sp>
        <p:nvSpPr>
          <p:cNvPr id="35" name="Text 32"/>
          <p:cNvSpPr txBox="1"/>
          <p:nvPr/>
        </p:nvSpPr>
        <p:spPr>
          <a:xfrm>
            <a:off x="8183880" y="4023360"/>
            <a:ext cx="822960" cy="201168"/>
          </a:xfrm>
          <a:prstGeom prst="roundRect">
            <a:avLst>
              <a:gd name="adj" fmla="val 227273"/>
            </a:avLst>
          </a:prstGeom>
          <a:solidFill>
            <a:srgbClr val="EAF1FF"/>
          </a:solidFill>
          <a:ln/>
        </p:spPr>
        <p:txBody>
          <a:bodyPr wrap="square" lIns="0" tIns="0" rIns="0" bIns="0" rtlCol="0" anchor="ctr"/>
          <a:lstStyle/>
          <a:p>
            <a:pPr marL="0" indent="0" algn="ctr">
              <a:buNone/>
            </a:pPr>
            <a:r>
              <a:rPr lang="en-US" sz="900" b="1" dirty="0">
                <a:solidFill>
                  <a:srgbClr val="8DB4F5"/>
                </a:solidFill>
                <a:latin typeface="Calibri" pitchFamily="34" charset="0"/>
                <a:ea typeface="Calibri" pitchFamily="34" charset="-122"/>
                <a:cs typeface="Calibri" pitchFamily="34" charset="-120"/>
              </a:rPr>
              <a:t>Attention</a:t>
            </a:r>
            <a:endParaRPr lang="en-US" sz="900" dirty="0"/>
          </a:p>
        </p:txBody>
      </p:sp>
      <p:sp>
        <p:nvSpPr>
          <p:cNvPr id="36" name="Shape 33"/>
          <p:cNvSpPr/>
          <p:nvPr/>
        </p:nvSpPr>
        <p:spPr>
          <a:xfrm>
            <a:off x="4892040" y="4407408"/>
            <a:ext cx="2651760" cy="804672"/>
          </a:xfrm>
          <a:prstGeom prst="roundRect">
            <a:avLst>
              <a:gd name="adj" fmla="val 13636"/>
            </a:avLst>
          </a:prstGeom>
          <a:solidFill>
            <a:srgbClr val="1B2E4A"/>
          </a:solidFill>
          <a:ln/>
        </p:spPr>
        <p:txBody>
          <a:bodyPr/>
          <a:lstStyle/>
          <a:p>
            <a:endParaRPr lang="en-US"/>
          </a:p>
        </p:txBody>
      </p:sp>
      <p:sp>
        <p:nvSpPr>
          <p:cNvPr id="37" name="Text 34"/>
          <p:cNvSpPr txBox="1"/>
          <p:nvPr/>
        </p:nvSpPr>
        <p:spPr>
          <a:xfrm>
            <a:off x="5029200" y="4453128"/>
            <a:ext cx="2377440" cy="713232"/>
          </a:xfrm>
          <a:prstGeom prst="rect">
            <a:avLst/>
          </a:prstGeom>
          <a:noFill/>
          <a:ln/>
        </p:spPr>
        <p:txBody>
          <a:bodyPr wrap="square" lIns="0" tIns="0" rIns="0" bIns="0" rtlCol="0" anchor="ctr"/>
          <a:lstStyle/>
          <a:p>
            <a:pPr marL="0" indent="0">
              <a:buNone/>
            </a:pPr>
            <a:r>
              <a:rPr lang="en-US" sz="1250" dirty="0">
                <a:solidFill>
                  <a:srgbClr val="C3D0E6"/>
                </a:solidFill>
                <a:latin typeface="Calibri" pitchFamily="34" charset="0"/>
                <a:ea typeface="Calibri" pitchFamily="34" charset="-122"/>
                <a:cs typeface="Calibri" pitchFamily="34" charset="-120"/>
              </a:rPr>
              <a:t>Model refusals are enough safety</a:t>
            </a:r>
            <a:endParaRPr lang="en-US" sz="1250" dirty="0"/>
          </a:p>
        </p:txBody>
      </p:sp>
      <p:sp>
        <p:nvSpPr>
          <p:cNvPr id="38" name="Shape 35"/>
          <p:cNvSpPr/>
          <p:nvPr/>
        </p:nvSpPr>
        <p:spPr>
          <a:xfrm>
            <a:off x="7607808" y="4654296"/>
            <a:ext cx="347472" cy="310896"/>
          </a:xfrm>
          <a:prstGeom prst="rightArrow">
            <a:avLst/>
          </a:prstGeom>
          <a:solidFill>
            <a:schemeClr val="accent1"/>
          </a:solidFill>
          <a:ln/>
        </p:spPr>
        <p:txBody>
          <a:bodyPr/>
          <a:lstStyle/>
          <a:p>
            <a:endParaRPr lang="en-US"/>
          </a:p>
        </p:txBody>
      </p:sp>
      <p:sp>
        <p:nvSpPr>
          <p:cNvPr id="39" name="Shape 36"/>
          <p:cNvSpPr/>
          <p:nvPr/>
        </p:nvSpPr>
        <p:spPr>
          <a:xfrm>
            <a:off x="8028432" y="4407408"/>
            <a:ext cx="3611880" cy="804672"/>
          </a:xfrm>
          <a:prstGeom prst="roundRect">
            <a:avLst>
              <a:gd name="adj" fmla="val 13636"/>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40" name="Text 37"/>
          <p:cNvSpPr txBox="1"/>
          <p:nvPr/>
        </p:nvSpPr>
        <p:spPr>
          <a:xfrm>
            <a:off x="8183880" y="4471416"/>
            <a:ext cx="3337560" cy="457200"/>
          </a:xfrm>
          <a:prstGeom prst="rect">
            <a:avLst/>
          </a:prstGeom>
          <a:noFill/>
          <a:ln/>
        </p:spPr>
        <p:txBody>
          <a:bodyPr wrap="square" lIns="0" tIns="0" rIns="0" bIns="0" rtlCol="0" anchor="ctr"/>
          <a:lstStyle/>
          <a:p>
            <a:pPr marL="0" indent="0">
              <a:buNone/>
            </a:pPr>
            <a:r>
              <a:rPr lang="en-US" sz="1400" b="1" dirty="0">
                <a:solidFill>
                  <a:srgbClr val="E8EEF8"/>
                </a:solidFill>
                <a:latin typeface="Calibri" pitchFamily="34" charset="0"/>
                <a:ea typeface="Calibri" pitchFamily="34" charset="-122"/>
                <a:cs typeface="Calibri" pitchFamily="34" charset="-120"/>
              </a:rPr>
              <a:t>Confirmation must be enforced by software</a:t>
            </a:r>
            <a:endParaRPr lang="en-US" sz="1400" dirty="0"/>
          </a:p>
        </p:txBody>
      </p:sp>
      <p:sp>
        <p:nvSpPr>
          <p:cNvPr id="41" name="Text 38"/>
          <p:cNvSpPr txBox="1"/>
          <p:nvPr/>
        </p:nvSpPr>
        <p:spPr>
          <a:xfrm>
            <a:off x="8183880" y="4937760"/>
            <a:ext cx="1234440" cy="201168"/>
          </a:xfrm>
          <a:prstGeom prst="roundRect">
            <a:avLst>
              <a:gd name="adj" fmla="val 227273"/>
            </a:avLst>
          </a:prstGeom>
          <a:solidFill>
            <a:srgbClr val="EAF1FF"/>
          </a:solidFill>
          <a:ln/>
        </p:spPr>
        <p:txBody>
          <a:bodyPr wrap="square" lIns="0" tIns="0" rIns="0" bIns="0" rtlCol="0" anchor="ctr"/>
          <a:lstStyle/>
          <a:p>
            <a:pPr marL="0" indent="0" algn="ctr">
              <a:buNone/>
            </a:pPr>
            <a:r>
              <a:rPr lang="en-US" sz="900" b="1" dirty="0">
                <a:solidFill>
                  <a:srgbClr val="8DB4F5"/>
                </a:solidFill>
                <a:latin typeface="Calibri" pitchFamily="34" charset="0"/>
                <a:ea typeface="Calibri" pitchFamily="34" charset="-122"/>
                <a:cs typeface="Calibri" pitchFamily="34" charset="-120"/>
              </a:rPr>
              <a:t>Meta-coordination</a:t>
            </a:r>
            <a:endParaRPr lang="en-US" sz="900" dirty="0"/>
          </a:p>
        </p:txBody>
      </p:sp>
      <p:sp>
        <p:nvSpPr>
          <p:cNvPr id="42" name="Text 39"/>
          <p:cNvSpPr txBox="1"/>
          <p:nvPr/>
        </p:nvSpPr>
        <p:spPr>
          <a:xfrm>
            <a:off x="548640" y="5468112"/>
            <a:ext cx="7315200" cy="228600"/>
          </a:xfrm>
          <a:prstGeom prst="rect">
            <a:avLst/>
          </a:prstGeom>
          <a:noFill/>
          <a:ln/>
        </p:spPr>
        <p:txBody>
          <a:bodyPr wrap="square" lIns="0" tIns="0" rIns="0" bIns="0" rtlCol="0" anchor="t"/>
          <a:lstStyle/>
          <a:p>
            <a:pPr marL="0" indent="0">
              <a:buNone/>
            </a:pPr>
            <a:r>
              <a:rPr lang="en-US" sz="1050" b="1" kern="0" spc="200" dirty="0">
                <a:solidFill>
                  <a:srgbClr val="9AAAC3"/>
                </a:solidFill>
                <a:latin typeface="Calibri" pitchFamily="34" charset="0"/>
                <a:ea typeface="Calibri" pitchFamily="34" charset="-122"/>
                <a:cs typeface="Calibri" pitchFamily="34" charset="-120"/>
              </a:rPr>
              <a:t>PRIORITIZED FEATURES, RANKED BY EVIDENCE</a:t>
            </a:r>
            <a:endParaRPr lang="en-US" sz="1050" dirty="0"/>
          </a:p>
        </p:txBody>
      </p:sp>
      <p:sp>
        <p:nvSpPr>
          <p:cNvPr id="43" name="Shape 40"/>
          <p:cNvSpPr/>
          <p:nvPr/>
        </p:nvSpPr>
        <p:spPr>
          <a:xfrm>
            <a:off x="548640" y="5733288"/>
            <a:ext cx="2103120" cy="566928"/>
          </a:xfrm>
          <a:prstGeom prst="roundRect">
            <a:avLst>
              <a:gd name="adj" fmla="val 19355"/>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44" name="Text 41"/>
          <p:cNvSpPr txBox="1"/>
          <p:nvPr/>
        </p:nvSpPr>
        <p:spPr>
          <a:xfrm>
            <a:off x="640080" y="5852160"/>
            <a:ext cx="329184" cy="32918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45" name="Text 42"/>
          <p:cNvSpPr txBox="1"/>
          <p:nvPr/>
        </p:nvSpPr>
        <p:spPr>
          <a:xfrm>
            <a:off x="1051560" y="5760720"/>
            <a:ext cx="1536192" cy="512064"/>
          </a:xfrm>
          <a:prstGeom prst="rect">
            <a:avLst/>
          </a:prstGeom>
          <a:noFill/>
          <a:ln/>
        </p:spPr>
        <p:txBody>
          <a:bodyPr wrap="square" lIns="0" tIns="0" rIns="0" bIns="0" rtlCol="0" anchor="ctr"/>
          <a:lstStyle/>
          <a:p>
            <a:pPr marL="0" indent="0">
              <a:buNone/>
            </a:pPr>
            <a:r>
              <a:rPr lang="en-US" sz="1100" b="1" dirty="0">
                <a:solidFill>
                  <a:srgbClr val="E8EEF8"/>
                </a:solidFill>
                <a:latin typeface="Calibri" pitchFamily="34" charset="0"/>
                <a:ea typeface="Calibri" pitchFamily="34" charset="-122"/>
                <a:cs typeface="Calibri" pitchFamily="34" charset="-120"/>
              </a:rPr>
              <a:t>Verified student context</a:t>
            </a:r>
            <a:endParaRPr lang="en-US" sz="1100" dirty="0"/>
          </a:p>
        </p:txBody>
      </p:sp>
      <p:sp>
        <p:nvSpPr>
          <p:cNvPr id="46" name="Shape 43"/>
          <p:cNvSpPr/>
          <p:nvPr/>
        </p:nvSpPr>
        <p:spPr>
          <a:xfrm>
            <a:off x="2779776" y="5733288"/>
            <a:ext cx="2103120" cy="566928"/>
          </a:xfrm>
          <a:prstGeom prst="roundRect">
            <a:avLst>
              <a:gd name="adj" fmla="val 19355"/>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47" name="Text 44"/>
          <p:cNvSpPr txBox="1"/>
          <p:nvPr/>
        </p:nvSpPr>
        <p:spPr>
          <a:xfrm>
            <a:off x="2871216" y="5852160"/>
            <a:ext cx="329184" cy="32918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48" name="Text 45"/>
          <p:cNvSpPr txBox="1"/>
          <p:nvPr/>
        </p:nvSpPr>
        <p:spPr>
          <a:xfrm>
            <a:off x="3282696" y="5760720"/>
            <a:ext cx="1536192" cy="512064"/>
          </a:xfrm>
          <a:prstGeom prst="rect">
            <a:avLst/>
          </a:prstGeom>
          <a:noFill/>
          <a:ln/>
        </p:spPr>
        <p:txBody>
          <a:bodyPr wrap="square" lIns="0" tIns="0" rIns="0" bIns="0" rtlCol="0" anchor="ctr"/>
          <a:lstStyle/>
          <a:p>
            <a:pPr marL="0" indent="0">
              <a:buNone/>
            </a:pPr>
            <a:r>
              <a:rPr lang="en-US" sz="1100" b="1" dirty="0">
                <a:solidFill>
                  <a:srgbClr val="E8EEF8"/>
                </a:solidFill>
                <a:latin typeface="Calibri" pitchFamily="34" charset="0"/>
                <a:ea typeface="Calibri" pitchFamily="34" charset="-122"/>
                <a:cs typeface="Calibri" pitchFamily="34" charset="-120"/>
              </a:rPr>
              <a:t>Enforced confirmation</a:t>
            </a:r>
            <a:endParaRPr lang="en-US" sz="1100" dirty="0"/>
          </a:p>
        </p:txBody>
      </p:sp>
      <p:sp>
        <p:nvSpPr>
          <p:cNvPr id="49" name="Shape 46"/>
          <p:cNvSpPr/>
          <p:nvPr/>
        </p:nvSpPr>
        <p:spPr>
          <a:xfrm>
            <a:off x="5010912" y="5733288"/>
            <a:ext cx="2103120" cy="566928"/>
          </a:xfrm>
          <a:prstGeom prst="roundRect">
            <a:avLst>
              <a:gd name="adj" fmla="val 19355"/>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50" name="Text 47"/>
          <p:cNvSpPr txBox="1"/>
          <p:nvPr/>
        </p:nvSpPr>
        <p:spPr>
          <a:xfrm>
            <a:off x="5102352" y="5852160"/>
            <a:ext cx="329184" cy="32918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51" name="Text 48"/>
          <p:cNvSpPr txBox="1"/>
          <p:nvPr/>
        </p:nvSpPr>
        <p:spPr>
          <a:xfrm>
            <a:off x="5513832" y="5760720"/>
            <a:ext cx="1536192" cy="512064"/>
          </a:xfrm>
          <a:prstGeom prst="rect">
            <a:avLst/>
          </a:prstGeom>
          <a:noFill/>
          <a:ln/>
        </p:spPr>
        <p:txBody>
          <a:bodyPr wrap="square" lIns="0" tIns="0" rIns="0" bIns="0" rtlCol="0" anchor="ctr"/>
          <a:lstStyle/>
          <a:p>
            <a:pPr marL="0" indent="0">
              <a:buNone/>
            </a:pPr>
            <a:r>
              <a:rPr lang="en-US" sz="1100" b="1" dirty="0">
                <a:solidFill>
                  <a:srgbClr val="E8EEF8"/>
                </a:solidFill>
                <a:latin typeface="Calibri" pitchFamily="34" charset="0"/>
                <a:ea typeface="Calibri" pitchFamily="34" charset="-122"/>
                <a:cs typeface="Calibri" pitchFamily="34" charset="-120"/>
              </a:rPr>
              <a:t>Visible sources + conflict state</a:t>
            </a:r>
            <a:endParaRPr lang="en-US" sz="1100" dirty="0"/>
          </a:p>
        </p:txBody>
      </p:sp>
      <p:sp>
        <p:nvSpPr>
          <p:cNvPr id="52" name="Shape 49"/>
          <p:cNvSpPr/>
          <p:nvPr/>
        </p:nvSpPr>
        <p:spPr>
          <a:xfrm>
            <a:off x="7242048" y="5733288"/>
            <a:ext cx="2103120" cy="566928"/>
          </a:xfrm>
          <a:prstGeom prst="roundRect">
            <a:avLst>
              <a:gd name="adj" fmla="val 19355"/>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53" name="Text 50"/>
          <p:cNvSpPr txBox="1"/>
          <p:nvPr/>
        </p:nvSpPr>
        <p:spPr>
          <a:xfrm>
            <a:off x="7333488" y="5852160"/>
            <a:ext cx="329184" cy="32918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54" name="Text 51"/>
          <p:cNvSpPr txBox="1"/>
          <p:nvPr/>
        </p:nvSpPr>
        <p:spPr>
          <a:xfrm>
            <a:off x="7744968" y="5760720"/>
            <a:ext cx="1536192" cy="512064"/>
          </a:xfrm>
          <a:prstGeom prst="rect">
            <a:avLst/>
          </a:prstGeom>
          <a:noFill/>
          <a:ln/>
        </p:spPr>
        <p:txBody>
          <a:bodyPr wrap="square" lIns="0" tIns="0" rIns="0" bIns="0" rtlCol="0" anchor="ctr"/>
          <a:lstStyle/>
          <a:p>
            <a:pPr marL="0" indent="0">
              <a:buNone/>
            </a:pPr>
            <a:r>
              <a:rPr lang="en-US" sz="1100" b="1" dirty="0">
                <a:solidFill>
                  <a:srgbClr val="E8EEF8"/>
                </a:solidFill>
                <a:latin typeface="Calibri" pitchFamily="34" charset="0"/>
                <a:ea typeface="Calibri" pitchFamily="34" charset="-122"/>
                <a:cs typeface="Calibri" pitchFamily="34" charset="-120"/>
              </a:rPr>
              <a:t>Focused consequence summary</a:t>
            </a:r>
            <a:endParaRPr lang="en-US" sz="1100" dirty="0"/>
          </a:p>
        </p:txBody>
      </p:sp>
      <p:sp>
        <p:nvSpPr>
          <p:cNvPr id="55" name="Shape 52"/>
          <p:cNvSpPr/>
          <p:nvPr/>
        </p:nvSpPr>
        <p:spPr>
          <a:xfrm>
            <a:off x="9473184" y="5733288"/>
            <a:ext cx="2103120" cy="566928"/>
          </a:xfrm>
          <a:prstGeom prst="roundRect">
            <a:avLst>
              <a:gd name="adj" fmla="val 19355"/>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56" name="Text 53"/>
          <p:cNvSpPr txBox="1"/>
          <p:nvPr/>
        </p:nvSpPr>
        <p:spPr>
          <a:xfrm>
            <a:off x="9564624" y="5852160"/>
            <a:ext cx="329184" cy="32918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57" name="Text 54"/>
          <p:cNvSpPr txBox="1"/>
          <p:nvPr/>
        </p:nvSpPr>
        <p:spPr>
          <a:xfrm>
            <a:off x="9976104" y="5760720"/>
            <a:ext cx="1536192" cy="512064"/>
          </a:xfrm>
          <a:prstGeom prst="rect">
            <a:avLst/>
          </a:prstGeom>
          <a:noFill/>
          <a:ln/>
        </p:spPr>
        <p:txBody>
          <a:bodyPr wrap="square" lIns="0" tIns="0" rIns="0" bIns="0" rtlCol="0" anchor="ctr"/>
          <a:lstStyle/>
          <a:p>
            <a:pPr marL="0" indent="0">
              <a:buNone/>
            </a:pPr>
            <a:r>
              <a:rPr lang="en-US" sz="1100" b="1" dirty="0">
                <a:solidFill>
                  <a:srgbClr val="E8EEF8"/>
                </a:solidFill>
                <a:latin typeface="Calibri" pitchFamily="34" charset="0"/>
                <a:ea typeface="Calibri" pitchFamily="34" charset="-122"/>
                <a:cs typeface="Calibri" pitchFamily="34" charset="-120"/>
              </a:rPr>
              <a:t>Stable parts + human handoff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chemeClr val="accent5">
              <a:alpha val="7000"/>
            </a:schemeClr>
          </a:solidFill>
          <a:ln/>
        </p:spPr>
        <p:txBody>
          <a:bodyPr/>
          <a:lstStyle/>
          <a:p>
            <a:endParaRPr lang="en-US"/>
          </a:p>
        </p:txBody>
      </p:sp>
      <p:sp>
        <p:nvSpPr>
          <p:cNvPr id="3" name="Shape 1"/>
          <p:cNvSpPr/>
          <p:nvPr/>
        </p:nvSpPr>
        <p:spPr>
          <a:xfrm>
            <a:off x="-1280160" y="5394960"/>
            <a:ext cx="2926080" cy="2926080"/>
          </a:xfrm>
          <a:prstGeom prst="ellipse">
            <a:avLst/>
          </a:prstGeom>
          <a:solidFill>
            <a:schemeClr val="accent5">
              <a:alpha val="6000"/>
            </a:schemeClr>
          </a:solidFill>
          <a:ln/>
        </p:spPr>
        <p:txBody>
          <a:bodyPr/>
          <a:lstStyle/>
          <a:p>
            <a:endParaRPr lang="en-US"/>
          </a:p>
        </p:txBody>
      </p:sp>
      <p:sp>
        <p:nvSpPr>
          <p:cNvPr id="4" name="Text 2"/>
          <p:cNvSpPr txBox="1"/>
          <p:nvPr/>
        </p:nvSpPr>
        <p:spPr>
          <a:xfrm>
            <a:off x="548640" y="301752"/>
            <a:ext cx="8229600" cy="274320"/>
          </a:xfrm>
          <a:prstGeom prst="rect">
            <a:avLst/>
          </a:prstGeom>
          <a:noFill/>
          <a:ln/>
        </p:spPr>
        <p:txBody>
          <a:bodyPr wrap="square" lIns="0" tIns="0" rIns="0" bIns="0" rtlCol="0" anchor="t"/>
          <a:lstStyle/>
          <a:p>
            <a:pPr marL="0" indent="0">
              <a:buNone/>
            </a:pPr>
            <a:r>
              <a:rPr lang="en-US" sz="1100" b="1" kern="0" spc="300" dirty="0">
                <a:solidFill>
                  <a:schemeClr val="accent5"/>
                </a:solidFill>
                <a:latin typeface="Calibri" pitchFamily="34" charset="0"/>
                <a:ea typeface="Calibri" pitchFamily="34" charset="-122"/>
                <a:cs typeface="Calibri" pitchFamily="34" charset="-120"/>
              </a:rPr>
              <a:t>03  ·  PROMPTING STUDY DESIGN</a:t>
            </a:r>
            <a:endParaRPr lang="en-US" sz="1100" dirty="0"/>
          </a:p>
        </p:txBody>
      </p:sp>
      <p:sp>
        <p:nvSpPr>
          <p:cNvPr id="5"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One protocol, ten prompts, three tools</a:t>
            </a:r>
            <a:endParaRPr lang="en-US" sz="3000" dirty="0"/>
          </a:p>
        </p:txBody>
      </p:sp>
      <p:sp>
        <p:nvSpPr>
          <p:cNvPr id="67"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3</a:t>
            </a:fld>
            <a:endParaRPr lang="en-US"/>
          </a:p>
        </p:txBody>
      </p:sp>
      <p:sp>
        <p:nvSpPr>
          <p:cNvPr id="6" name="Shape 4"/>
          <p:cNvSpPr/>
          <p:nvPr/>
        </p:nvSpPr>
        <p:spPr>
          <a:xfrm>
            <a:off x="548640" y="1371600"/>
            <a:ext cx="3246120" cy="4846320"/>
          </a:xfrm>
          <a:prstGeom prst="roundRect">
            <a:avLst>
              <a:gd name="adj" fmla="val 3380"/>
            </a:avLst>
          </a:prstGeom>
          <a:solidFill>
            <a:srgbClr val="16263D"/>
          </a:solidFill>
          <a:ln/>
          <a:effectLst>
            <a:outerShdw blurRad="127000" dist="25400" dir="5400000" algn="bl" rotWithShape="0">
              <a:srgbClr val="000000">
                <a:alpha val="35000"/>
              </a:srgbClr>
            </a:outerShdw>
          </a:effectLst>
        </p:spPr>
        <p:txBody>
          <a:bodyPr/>
          <a:lstStyle/>
          <a:p>
            <a:endParaRPr lang="en-US"/>
          </a:p>
        </p:txBody>
      </p:sp>
      <p:pic>
        <p:nvPicPr>
          <p:cNvPr id="7" name="Image 0" descr="Illustration: Alex at a laptop asking three AI tools the same question"/>
          <p:cNvPicPr>
            <a:picLocks noChangeAspect="1"/>
          </p:cNvPicPr>
          <p:nvPr/>
        </p:nvPicPr>
        <p:blipFill>
          <a:blip r:embed="rId3"/>
          <a:stretch>
            <a:fillRect/>
          </a:stretch>
        </p:blipFill>
        <p:spPr>
          <a:xfrm>
            <a:off x="685800" y="1463040"/>
            <a:ext cx="3063240" cy="1097280"/>
          </a:xfrm>
          <a:prstGeom prst="rect">
            <a:avLst/>
          </a:prstGeom>
        </p:spPr>
      </p:pic>
      <p:sp>
        <p:nvSpPr>
          <p:cNvPr id="8" name="Text 5"/>
          <p:cNvSpPr txBox="1"/>
          <p:nvPr/>
        </p:nvSpPr>
        <p:spPr>
          <a:xfrm>
            <a:off x="777240" y="2651760"/>
            <a:ext cx="2926080" cy="274320"/>
          </a:xfrm>
          <a:prstGeom prst="rect">
            <a:avLst/>
          </a:prstGeom>
          <a:noFill/>
          <a:ln/>
        </p:spPr>
        <p:txBody>
          <a:bodyPr wrap="square" lIns="0" tIns="0" rIns="0" bIns="0" rtlCol="0" anchor="t"/>
          <a:lstStyle/>
          <a:p>
            <a:pPr marL="0" indent="0">
              <a:buNone/>
            </a:pPr>
            <a:r>
              <a:rPr lang="en-US" sz="1800" b="1" dirty="0">
                <a:solidFill>
                  <a:srgbClr val="E8EEF8"/>
                </a:solidFill>
                <a:latin typeface="Calibri" pitchFamily="34" charset="0"/>
                <a:ea typeface="Calibri" pitchFamily="34" charset="-122"/>
                <a:cs typeface="Calibri" pitchFamily="34" charset="-120"/>
              </a:rPr>
              <a:t>Alex</a:t>
            </a:r>
            <a:r>
              <a:rPr lang="en-US" sz="1050" dirty="0">
                <a:solidFill>
                  <a:srgbClr val="9AAAC3"/>
                </a:solidFill>
                <a:latin typeface="Calibri" pitchFamily="34" charset="0"/>
                <a:ea typeface="Calibri" pitchFamily="34" charset="-122"/>
                <a:cs typeface="Calibri" pitchFamily="34" charset="-120"/>
              </a:rPr>
              <a:t>  fixture student, fictional Demo University</a:t>
            </a:r>
            <a:endParaRPr lang="en-US" sz="1800" dirty="0"/>
          </a:p>
        </p:txBody>
      </p:sp>
      <p:sp>
        <p:nvSpPr>
          <p:cNvPr id="9" name="Text 6"/>
          <p:cNvSpPr txBox="1"/>
          <p:nvPr/>
        </p:nvSpPr>
        <p:spPr>
          <a:xfrm>
            <a:off x="777240" y="3017520"/>
            <a:ext cx="2834640" cy="18288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Enrolled</a:t>
            </a:r>
            <a:endParaRPr lang="en-US" sz="1050" dirty="0"/>
          </a:p>
        </p:txBody>
      </p:sp>
      <p:sp>
        <p:nvSpPr>
          <p:cNvPr id="10" name="Text 7"/>
          <p:cNvSpPr txBox="1"/>
          <p:nvPr/>
        </p:nvSpPr>
        <p:spPr>
          <a:xfrm>
            <a:off x="777240" y="3191256"/>
            <a:ext cx="2834640" cy="246888"/>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15 credits</a:t>
            </a:r>
            <a:endParaRPr lang="en-US" sz="1350" dirty="0"/>
          </a:p>
        </p:txBody>
      </p:sp>
      <p:sp>
        <p:nvSpPr>
          <p:cNvPr id="11" name="Text 8"/>
          <p:cNvSpPr txBox="1"/>
          <p:nvPr/>
        </p:nvSpPr>
        <p:spPr>
          <a:xfrm>
            <a:off x="777240" y="3493008"/>
            <a:ext cx="2834640" cy="18288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Target course</a:t>
            </a:r>
            <a:endParaRPr lang="en-US" sz="1050" dirty="0"/>
          </a:p>
        </p:txBody>
      </p:sp>
      <p:sp>
        <p:nvSpPr>
          <p:cNvPr id="12" name="Text 9"/>
          <p:cNvSpPr txBox="1"/>
          <p:nvPr/>
        </p:nvSpPr>
        <p:spPr>
          <a:xfrm>
            <a:off x="777240" y="3666744"/>
            <a:ext cx="2834640" cy="246888"/>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CS 411 · 4 credits</a:t>
            </a:r>
            <a:endParaRPr lang="en-US" sz="1350" dirty="0"/>
          </a:p>
        </p:txBody>
      </p:sp>
      <p:sp>
        <p:nvSpPr>
          <p:cNvPr id="13" name="Text 10"/>
          <p:cNvSpPr txBox="1"/>
          <p:nvPr/>
        </p:nvSpPr>
        <p:spPr>
          <a:xfrm>
            <a:off x="777240" y="3968496"/>
            <a:ext cx="2834640" cy="18288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Full-time threshold</a:t>
            </a:r>
            <a:endParaRPr lang="en-US" sz="1050" dirty="0"/>
          </a:p>
        </p:txBody>
      </p:sp>
      <p:sp>
        <p:nvSpPr>
          <p:cNvPr id="14" name="Text 11"/>
          <p:cNvSpPr txBox="1"/>
          <p:nvPr/>
        </p:nvSpPr>
        <p:spPr>
          <a:xfrm>
            <a:off x="777240" y="4142232"/>
            <a:ext cx="2834640" cy="246888"/>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12 credits</a:t>
            </a:r>
            <a:endParaRPr lang="en-US" sz="1350" dirty="0"/>
          </a:p>
        </p:txBody>
      </p:sp>
      <p:sp>
        <p:nvSpPr>
          <p:cNvPr id="15" name="Text 12"/>
          <p:cNvSpPr txBox="1"/>
          <p:nvPr/>
        </p:nvSpPr>
        <p:spPr>
          <a:xfrm>
            <a:off x="777240" y="4443984"/>
            <a:ext cx="2834640" cy="18288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Account status</a:t>
            </a:r>
            <a:endParaRPr lang="en-US" sz="1050" dirty="0"/>
          </a:p>
        </p:txBody>
      </p:sp>
      <p:sp>
        <p:nvSpPr>
          <p:cNvPr id="16" name="Text 13"/>
          <p:cNvSpPr txBox="1"/>
          <p:nvPr/>
        </p:nvSpPr>
        <p:spPr>
          <a:xfrm>
            <a:off x="777240" y="4617720"/>
            <a:ext cx="2834640" cy="246888"/>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No holds</a:t>
            </a:r>
            <a:endParaRPr lang="en-US" sz="1350" dirty="0"/>
          </a:p>
        </p:txBody>
      </p:sp>
      <p:sp>
        <p:nvSpPr>
          <p:cNvPr id="17" name="Text 14"/>
          <p:cNvSpPr txBox="1"/>
          <p:nvPr/>
        </p:nvSpPr>
        <p:spPr>
          <a:xfrm>
            <a:off x="777240" y="4919472"/>
            <a:ext cx="2834640" cy="18288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Drop-with-W deadline</a:t>
            </a:r>
            <a:endParaRPr lang="en-US" sz="1050" dirty="0"/>
          </a:p>
        </p:txBody>
      </p:sp>
      <p:sp>
        <p:nvSpPr>
          <p:cNvPr id="18" name="Text 15"/>
          <p:cNvSpPr txBox="1"/>
          <p:nvPr/>
        </p:nvSpPr>
        <p:spPr>
          <a:xfrm>
            <a:off x="777240" y="5093208"/>
            <a:ext cx="2834640" cy="246888"/>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Sept 30, 2026</a:t>
            </a:r>
            <a:endParaRPr lang="en-US" sz="1350" dirty="0"/>
          </a:p>
        </p:txBody>
      </p:sp>
      <p:sp>
        <p:nvSpPr>
          <p:cNvPr id="19" name="Shape 16"/>
          <p:cNvSpPr/>
          <p:nvPr/>
        </p:nvSpPr>
        <p:spPr>
          <a:xfrm>
            <a:off x="777240" y="5486400"/>
            <a:ext cx="2788920" cy="566928"/>
          </a:xfrm>
          <a:prstGeom prst="roundRect">
            <a:avLst>
              <a:gd name="adj" fmla="val 19355"/>
            </a:avLst>
          </a:prstGeom>
          <a:solidFill>
            <a:srgbClr val="33262A"/>
          </a:solidFill>
          <a:ln/>
        </p:spPr>
        <p:txBody>
          <a:bodyPr/>
          <a:lstStyle/>
          <a:p>
            <a:endParaRPr lang="en-US"/>
          </a:p>
        </p:txBody>
      </p:sp>
      <p:sp>
        <p:nvSpPr>
          <p:cNvPr id="20" name="Text 17"/>
          <p:cNvSpPr txBox="1"/>
          <p:nvPr/>
        </p:nvSpPr>
        <p:spPr>
          <a:xfrm>
            <a:off x="868680" y="5486400"/>
            <a:ext cx="2606040" cy="566928"/>
          </a:xfrm>
          <a:prstGeom prst="rect">
            <a:avLst/>
          </a:prstGeom>
          <a:noFill/>
          <a:ln/>
        </p:spPr>
        <p:txBody>
          <a:bodyPr wrap="square" lIns="0" tIns="0" rIns="0" bIns="0" rtlCol="0" anchor="ctr"/>
          <a:lstStyle/>
          <a:p>
            <a:pPr marL="0" indent="0" algn="ctr">
              <a:buNone/>
            </a:pPr>
            <a:r>
              <a:rPr lang="en-US" sz="1250" b="1" dirty="0">
                <a:solidFill>
                  <a:srgbClr val="E08880"/>
                </a:solidFill>
                <a:latin typeface="Calibri" pitchFamily="34" charset="0"/>
                <a:ea typeface="Calibri" pitchFamily="34" charset="-122"/>
                <a:cs typeface="Calibri" pitchFamily="34" charset="-120"/>
              </a:rPr>
              <a:t>15 − 4 = 11 credits: below full-time</a:t>
            </a:r>
            <a:endParaRPr lang="en-US" sz="1250" dirty="0"/>
          </a:p>
        </p:txBody>
      </p:sp>
      <p:sp>
        <p:nvSpPr>
          <p:cNvPr id="21" name="Text 18"/>
          <p:cNvSpPr txBox="1"/>
          <p:nvPr/>
        </p:nvSpPr>
        <p:spPr>
          <a:xfrm>
            <a:off x="4069080" y="1371600"/>
            <a:ext cx="2395728" cy="347472"/>
          </a:xfrm>
          <a:prstGeom prst="roundRect">
            <a:avLst>
              <a:gd name="adj" fmla="val 131579"/>
            </a:avLst>
          </a:prstGeom>
          <a:solidFill>
            <a:schemeClr val="accent1"/>
          </a:solid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TYPICAL · 4</a:t>
            </a:r>
            <a:endParaRPr lang="en-US" sz="1200" dirty="0"/>
          </a:p>
        </p:txBody>
      </p:sp>
      <p:sp>
        <p:nvSpPr>
          <p:cNvPr id="22" name="Shape 19"/>
          <p:cNvSpPr/>
          <p:nvPr/>
        </p:nvSpPr>
        <p:spPr>
          <a:xfrm>
            <a:off x="4069080" y="1810512"/>
            <a:ext cx="2395728" cy="694944"/>
          </a:xfrm>
          <a:prstGeom prst="roundRect">
            <a:avLst>
              <a:gd name="adj" fmla="val 15789"/>
            </a:avLst>
          </a:prstGeom>
          <a:solidFill>
            <a:srgbClr val="1B2E4A"/>
          </a:solidFill>
          <a:ln/>
        </p:spPr>
        <p:txBody>
          <a:bodyPr/>
          <a:lstStyle/>
          <a:p>
            <a:endParaRPr lang="en-US"/>
          </a:p>
        </p:txBody>
      </p:sp>
      <p:sp>
        <p:nvSpPr>
          <p:cNvPr id="23" name="Text 20"/>
          <p:cNvSpPr txBox="1"/>
          <p:nvPr/>
        </p:nvSpPr>
        <p:spPr>
          <a:xfrm>
            <a:off x="4178808" y="1874520"/>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T01</a:t>
            </a:r>
            <a:r>
              <a:rPr lang="en-US" sz="950" dirty="0">
                <a:solidFill>
                  <a:srgbClr val="9AAAC3"/>
                </a:solidFill>
                <a:latin typeface="Calibri" pitchFamily="34" charset="0"/>
                <a:ea typeface="Calibri" pitchFamily="34" charset="-122"/>
                <a:cs typeface="Calibri" pitchFamily="34" charset="-120"/>
              </a:rPr>
              <a:t>  ·  Reasoning + memory</a:t>
            </a:r>
            <a:endParaRPr lang="en-US" sz="950" dirty="0"/>
          </a:p>
        </p:txBody>
      </p:sp>
      <p:sp>
        <p:nvSpPr>
          <p:cNvPr id="24" name="Text 21"/>
          <p:cNvSpPr txBox="1"/>
          <p:nvPr/>
        </p:nvSpPr>
        <p:spPr>
          <a:xfrm>
            <a:off x="4178808" y="2084832"/>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Can I drop CS 411?</a:t>
            </a:r>
            <a:endParaRPr lang="en-US" sz="1200" dirty="0"/>
          </a:p>
        </p:txBody>
      </p:sp>
      <p:sp>
        <p:nvSpPr>
          <p:cNvPr id="25" name="Shape 22"/>
          <p:cNvSpPr/>
          <p:nvPr/>
        </p:nvSpPr>
        <p:spPr>
          <a:xfrm>
            <a:off x="4069080" y="2578608"/>
            <a:ext cx="2395728" cy="694944"/>
          </a:xfrm>
          <a:prstGeom prst="roundRect">
            <a:avLst>
              <a:gd name="adj" fmla="val 15789"/>
            </a:avLst>
          </a:prstGeom>
          <a:solidFill>
            <a:srgbClr val="1B2E4A"/>
          </a:solidFill>
          <a:ln/>
        </p:spPr>
        <p:txBody>
          <a:bodyPr/>
          <a:lstStyle/>
          <a:p>
            <a:endParaRPr lang="en-US"/>
          </a:p>
        </p:txBody>
      </p:sp>
      <p:sp>
        <p:nvSpPr>
          <p:cNvPr id="26" name="Text 23"/>
          <p:cNvSpPr txBox="1"/>
          <p:nvPr/>
        </p:nvSpPr>
        <p:spPr>
          <a:xfrm>
            <a:off x="4178808" y="2642616"/>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T02</a:t>
            </a:r>
            <a:r>
              <a:rPr lang="en-US" sz="950" dirty="0">
                <a:solidFill>
                  <a:srgbClr val="9AAAC3"/>
                </a:solidFill>
                <a:latin typeface="Calibri" pitchFamily="34" charset="0"/>
                <a:ea typeface="Calibri" pitchFamily="34" charset="-122"/>
                <a:cs typeface="Calibri" pitchFamily="34" charset="-120"/>
              </a:rPr>
              <a:t>  ·  Reasoning + attention</a:t>
            </a:r>
            <a:endParaRPr lang="en-US" sz="950" dirty="0"/>
          </a:p>
        </p:txBody>
      </p:sp>
      <p:sp>
        <p:nvSpPr>
          <p:cNvPr id="27" name="Text 24"/>
          <p:cNvSpPr txBox="1"/>
          <p:nvPr/>
        </p:nvSpPr>
        <p:spPr>
          <a:xfrm>
            <a:off x="4178808" y="2852928"/>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15 credits: what to check?</a:t>
            </a:r>
            <a:endParaRPr lang="en-US" sz="1200" dirty="0"/>
          </a:p>
        </p:txBody>
      </p:sp>
      <p:sp>
        <p:nvSpPr>
          <p:cNvPr id="28" name="Shape 25"/>
          <p:cNvSpPr/>
          <p:nvPr/>
        </p:nvSpPr>
        <p:spPr>
          <a:xfrm>
            <a:off x="4069080" y="3346704"/>
            <a:ext cx="2395728" cy="694944"/>
          </a:xfrm>
          <a:prstGeom prst="roundRect">
            <a:avLst>
              <a:gd name="adj" fmla="val 15789"/>
            </a:avLst>
          </a:prstGeom>
          <a:solidFill>
            <a:srgbClr val="1B2E4A"/>
          </a:solidFill>
          <a:ln/>
        </p:spPr>
        <p:txBody>
          <a:bodyPr/>
          <a:lstStyle/>
          <a:p>
            <a:endParaRPr lang="en-US"/>
          </a:p>
        </p:txBody>
      </p:sp>
      <p:sp>
        <p:nvSpPr>
          <p:cNvPr id="29" name="Text 26"/>
          <p:cNvSpPr txBox="1"/>
          <p:nvPr/>
        </p:nvSpPr>
        <p:spPr>
          <a:xfrm>
            <a:off x="4178808" y="3410712"/>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T03</a:t>
            </a:r>
            <a:r>
              <a:rPr lang="en-US" sz="950" dirty="0">
                <a:solidFill>
                  <a:srgbClr val="9AAAC3"/>
                </a:solidFill>
                <a:latin typeface="Calibri" pitchFamily="34" charset="0"/>
                <a:ea typeface="Calibri" pitchFamily="34" charset="-122"/>
                <a:cs typeface="Calibri" pitchFamily="34" charset="-120"/>
              </a:rPr>
              <a:t>  ·  Reasoning + attention</a:t>
            </a:r>
            <a:endParaRPr lang="en-US" sz="950" dirty="0"/>
          </a:p>
        </p:txBody>
      </p:sp>
      <p:sp>
        <p:nvSpPr>
          <p:cNvPr id="30" name="Text 27"/>
          <p:cNvSpPr txBox="1"/>
          <p:nvPr/>
        </p:nvSpPr>
        <p:spPr>
          <a:xfrm>
            <a:off x="4178808" y="3621024"/>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What do I still need to graduate?</a:t>
            </a:r>
            <a:endParaRPr lang="en-US" sz="1200" dirty="0"/>
          </a:p>
        </p:txBody>
      </p:sp>
      <p:sp>
        <p:nvSpPr>
          <p:cNvPr id="31" name="Shape 28"/>
          <p:cNvSpPr/>
          <p:nvPr/>
        </p:nvSpPr>
        <p:spPr>
          <a:xfrm>
            <a:off x="4069080" y="4114800"/>
            <a:ext cx="2395728" cy="694944"/>
          </a:xfrm>
          <a:prstGeom prst="roundRect">
            <a:avLst>
              <a:gd name="adj" fmla="val 15789"/>
            </a:avLst>
          </a:prstGeom>
          <a:solidFill>
            <a:srgbClr val="1B2E4A"/>
          </a:solidFill>
          <a:ln/>
        </p:spPr>
        <p:txBody>
          <a:bodyPr/>
          <a:lstStyle/>
          <a:p>
            <a:endParaRPr lang="en-US"/>
          </a:p>
        </p:txBody>
      </p:sp>
      <p:sp>
        <p:nvSpPr>
          <p:cNvPr id="32" name="Text 29"/>
          <p:cNvSpPr txBox="1"/>
          <p:nvPr/>
        </p:nvSpPr>
        <p:spPr>
          <a:xfrm>
            <a:off x="4178808" y="4178808"/>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T04</a:t>
            </a:r>
            <a:r>
              <a:rPr lang="en-US" sz="950" dirty="0">
                <a:solidFill>
                  <a:srgbClr val="9AAAC3"/>
                </a:solidFill>
                <a:latin typeface="Calibri" pitchFamily="34" charset="0"/>
                <a:ea typeface="Calibri" pitchFamily="34" charset="-122"/>
                <a:cs typeface="Calibri" pitchFamily="34" charset="-120"/>
              </a:rPr>
              <a:t>  ·  Memory + attention</a:t>
            </a:r>
            <a:endParaRPr lang="en-US" sz="950" dirty="0"/>
          </a:p>
        </p:txBody>
      </p:sp>
      <p:sp>
        <p:nvSpPr>
          <p:cNvPr id="33" name="Text 30"/>
          <p:cNvSpPr txBox="1"/>
          <p:nvPr/>
        </p:nvSpPr>
        <p:spPr>
          <a:xfrm>
            <a:off x="4178808" y="4389120"/>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Registration hold: next steps</a:t>
            </a:r>
            <a:endParaRPr lang="en-US" sz="1200" dirty="0"/>
          </a:p>
        </p:txBody>
      </p:sp>
      <p:sp>
        <p:nvSpPr>
          <p:cNvPr id="34" name="Text 31"/>
          <p:cNvSpPr txBox="1"/>
          <p:nvPr/>
        </p:nvSpPr>
        <p:spPr>
          <a:xfrm>
            <a:off x="6656832" y="1371600"/>
            <a:ext cx="2395728" cy="347472"/>
          </a:xfrm>
          <a:prstGeom prst="roundRect">
            <a:avLst>
              <a:gd name="adj" fmla="val 131579"/>
            </a:avLst>
          </a:prstGeom>
          <a:solidFill>
            <a:schemeClr val="accent3"/>
          </a:solid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EDGE · 3</a:t>
            </a:r>
            <a:endParaRPr lang="en-US" sz="1200" dirty="0"/>
          </a:p>
        </p:txBody>
      </p:sp>
      <p:sp>
        <p:nvSpPr>
          <p:cNvPr id="35" name="Shape 32"/>
          <p:cNvSpPr/>
          <p:nvPr/>
        </p:nvSpPr>
        <p:spPr>
          <a:xfrm>
            <a:off x="6656832" y="1810512"/>
            <a:ext cx="2395728" cy="694944"/>
          </a:xfrm>
          <a:prstGeom prst="roundRect">
            <a:avLst>
              <a:gd name="adj" fmla="val 15789"/>
            </a:avLst>
          </a:prstGeom>
          <a:solidFill>
            <a:srgbClr val="2E2A22"/>
          </a:solidFill>
          <a:ln/>
        </p:spPr>
        <p:txBody>
          <a:bodyPr/>
          <a:lstStyle/>
          <a:p>
            <a:endParaRPr lang="en-US"/>
          </a:p>
        </p:txBody>
      </p:sp>
      <p:sp>
        <p:nvSpPr>
          <p:cNvPr id="36" name="Text 33"/>
          <p:cNvSpPr txBox="1"/>
          <p:nvPr/>
        </p:nvSpPr>
        <p:spPr>
          <a:xfrm>
            <a:off x="6766560" y="1874520"/>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E01</a:t>
            </a:r>
            <a:r>
              <a:rPr lang="en-US" sz="950" dirty="0">
                <a:solidFill>
                  <a:srgbClr val="9AAAC3"/>
                </a:solidFill>
                <a:latin typeface="Calibri" pitchFamily="34" charset="0"/>
                <a:ea typeface="Calibri" pitchFamily="34" charset="-122"/>
                <a:cs typeface="Calibri" pitchFamily="34" charset="-120"/>
              </a:rPr>
              <a:t>  ·  Reasoning + attention</a:t>
            </a:r>
            <a:endParaRPr lang="en-US" sz="950" dirty="0"/>
          </a:p>
        </p:txBody>
      </p:sp>
      <p:sp>
        <p:nvSpPr>
          <p:cNvPr id="37" name="Text 34"/>
          <p:cNvSpPr txBox="1"/>
          <p:nvPr/>
        </p:nvSpPr>
        <p:spPr>
          <a:xfrm>
            <a:off x="6766560" y="2084832"/>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Alex drops: 15 to 11 credits</a:t>
            </a:r>
            <a:endParaRPr lang="en-US" sz="1200" dirty="0"/>
          </a:p>
        </p:txBody>
      </p:sp>
      <p:sp>
        <p:nvSpPr>
          <p:cNvPr id="38" name="Shape 35"/>
          <p:cNvSpPr/>
          <p:nvPr/>
        </p:nvSpPr>
        <p:spPr>
          <a:xfrm>
            <a:off x="6656832" y="2578608"/>
            <a:ext cx="2395728" cy="694944"/>
          </a:xfrm>
          <a:prstGeom prst="roundRect">
            <a:avLst>
              <a:gd name="adj" fmla="val 15789"/>
            </a:avLst>
          </a:prstGeom>
          <a:solidFill>
            <a:srgbClr val="2E2A22"/>
          </a:solidFill>
          <a:ln/>
        </p:spPr>
        <p:txBody>
          <a:bodyPr/>
          <a:lstStyle/>
          <a:p>
            <a:endParaRPr lang="en-US"/>
          </a:p>
        </p:txBody>
      </p:sp>
      <p:sp>
        <p:nvSpPr>
          <p:cNvPr id="39" name="Text 36"/>
          <p:cNvSpPr txBox="1"/>
          <p:nvPr/>
        </p:nvSpPr>
        <p:spPr>
          <a:xfrm>
            <a:off x="6766560" y="2642616"/>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E02</a:t>
            </a:r>
            <a:r>
              <a:rPr lang="en-US" sz="950" dirty="0">
                <a:solidFill>
                  <a:srgbClr val="9AAAC3"/>
                </a:solidFill>
                <a:latin typeface="Calibri" pitchFamily="34" charset="0"/>
                <a:ea typeface="Calibri" pitchFamily="34" charset="-122"/>
                <a:cs typeface="Calibri" pitchFamily="34" charset="-120"/>
              </a:rPr>
              <a:t>  ·  Memory + reasoning</a:t>
            </a:r>
            <a:endParaRPr lang="en-US" sz="950" dirty="0"/>
          </a:p>
        </p:txBody>
      </p:sp>
      <p:sp>
        <p:nvSpPr>
          <p:cNvPr id="40" name="Text 37"/>
          <p:cNvSpPr txBox="1"/>
          <p:nvPr/>
        </p:nvSpPr>
        <p:spPr>
          <a:xfrm>
            <a:off x="6766560" y="2852928"/>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Deadlines: Sep 25 vs Sep 30</a:t>
            </a:r>
            <a:endParaRPr lang="en-US" sz="1200" dirty="0"/>
          </a:p>
        </p:txBody>
      </p:sp>
      <p:sp>
        <p:nvSpPr>
          <p:cNvPr id="41" name="Shape 38"/>
          <p:cNvSpPr/>
          <p:nvPr/>
        </p:nvSpPr>
        <p:spPr>
          <a:xfrm>
            <a:off x="6656832" y="3346704"/>
            <a:ext cx="2395728" cy="694944"/>
          </a:xfrm>
          <a:prstGeom prst="roundRect">
            <a:avLst>
              <a:gd name="adj" fmla="val 15789"/>
            </a:avLst>
          </a:prstGeom>
          <a:solidFill>
            <a:srgbClr val="2E2A22"/>
          </a:solidFill>
          <a:ln/>
        </p:spPr>
        <p:txBody>
          <a:bodyPr/>
          <a:lstStyle/>
          <a:p>
            <a:endParaRPr lang="en-US"/>
          </a:p>
        </p:txBody>
      </p:sp>
      <p:sp>
        <p:nvSpPr>
          <p:cNvPr id="42" name="Text 39"/>
          <p:cNvSpPr txBox="1"/>
          <p:nvPr/>
        </p:nvSpPr>
        <p:spPr>
          <a:xfrm>
            <a:off x="6766560" y="3410712"/>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E03</a:t>
            </a:r>
            <a:r>
              <a:rPr lang="en-US" sz="950" dirty="0">
                <a:solidFill>
                  <a:srgbClr val="9AAAC3"/>
                </a:solidFill>
                <a:latin typeface="Calibri" pitchFamily="34" charset="0"/>
                <a:ea typeface="Calibri" pitchFamily="34" charset="-122"/>
                <a:cs typeface="Calibri" pitchFamily="34" charset="-120"/>
              </a:rPr>
              <a:t>  ·  Reasoning + meta-coord.</a:t>
            </a:r>
            <a:endParaRPr lang="en-US" sz="950" dirty="0"/>
          </a:p>
        </p:txBody>
      </p:sp>
      <p:sp>
        <p:nvSpPr>
          <p:cNvPr id="43" name="Text 40"/>
          <p:cNvSpPr txBox="1"/>
          <p:nvPr/>
        </p:nvSpPr>
        <p:spPr>
          <a:xfrm>
            <a:off x="6766560" y="3621024"/>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Drop a class, no details given</a:t>
            </a:r>
            <a:endParaRPr lang="en-US" sz="1200" dirty="0"/>
          </a:p>
        </p:txBody>
      </p:sp>
      <p:sp>
        <p:nvSpPr>
          <p:cNvPr id="44" name="Text 41"/>
          <p:cNvSpPr txBox="1"/>
          <p:nvPr/>
        </p:nvSpPr>
        <p:spPr>
          <a:xfrm>
            <a:off x="9244584" y="1371600"/>
            <a:ext cx="2395728" cy="347472"/>
          </a:xfrm>
          <a:prstGeom prst="roundRect">
            <a:avLst>
              <a:gd name="adj" fmla="val 131579"/>
            </a:avLst>
          </a:prstGeom>
          <a:solidFill>
            <a:schemeClr val="accent4"/>
          </a:solid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FAILURE · 3</a:t>
            </a:r>
            <a:endParaRPr lang="en-US" sz="1200" dirty="0"/>
          </a:p>
        </p:txBody>
      </p:sp>
      <p:sp>
        <p:nvSpPr>
          <p:cNvPr id="45" name="Shape 42"/>
          <p:cNvSpPr/>
          <p:nvPr/>
        </p:nvSpPr>
        <p:spPr>
          <a:xfrm>
            <a:off x="9244584" y="1810512"/>
            <a:ext cx="2395728" cy="694944"/>
          </a:xfrm>
          <a:prstGeom prst="roundRect">
            <a:avLst>
              <a:gd name="adj" fmla="val 15789"/>
            </a:avLst>
          </a:prstGeom>
          <a:solidFill>
            <a:srgbClr val="33262A"/>
          </a:solidFill>
          <a:ln/>
        </p:spPr>
        <p:txBody>
          <a:bodyPr/>
          <a:lstStyle/>
          <a:p>
            <a:endParaRPr lang="en-US"/>
          </a:p>
        </p:txBody>
      </p:sp>
      <p:sp>
        <p:nvSpPr>
          <p:cNvPr id="46" name="Text 43"/>
          <p:cNvSpPr txBox="1"/>
          <p:nvPr/>
        </p:nvSpPr>
        <p:spPr>
          <a:xfrm>
            <a:off x="9354312" y="1874520"/>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F01</a:t>
            </a:r>
            <a:r>
              <a:rPr lang="en-US" sz="950" dirty="0">
                <a:solidFill>
                  <a:srgbClr val="9AAAC3"/>
                </a:solidFill>
                <a:latin typeface="Calibri" pitchFamily="34" charset="0"/>
                <a:ea typeface="Calibri" pitchFamily="34" charset="-122"/>
                <a:cs typeface="Calibri" pitchFamily="34" charset="-120"/>
              </a:rPr>
              <a:t>  ·  Memory + reasoning</a:t>
            </a:r>
            <a:endParaRPr lang="en-US" sz="950" dirty="0"/>
          </a:p>
        </p:txBody>
      </p:sp>
      <p:sp>
        <p:nvSpPr>
          <p:cNvPr id="47" name="Text 44"/>
          <p:cNvSpPr txBox="1"/>
          <p:nvPr/>
        </p:nvSpPr>
        <p:spPr>
          <a:xfrm>
            <a:off x="9354312" y="2084832"/>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Just give me a date</a:t>
            </a:r>
            <a:endParaRPr lang="en-US" sz="1200" dirty="0"/>
          </a:p>
        </p:txBody>
      </p:sp>
      <p:sp>
        <p:nvSpPr>
          <p:cNvPr id="48" name="Shape 45"/>
          <p:cNvSpPr/>
          <p:nvPr/>
        </p:nvSpPr>
        <p:spPr>
          <a:xfrm>
            <a:off x="9244584" y="2578608"/>
            <a:ext cx="2395728" cy="694944"/>
          </a:xfrm>
          <a:prstGeom prst="roundRect">
            <a:avLst>
              <a:gd name="adj" fmla="val 15789"/>
            </a:avLst>
          </a:prstGeom>
          <a:solidFill>
            <a:srgbClr val="33262A"/>
          </a:solidFill>
          <a:ln/>
        </p:spPr>
        <p:txBody>
          <a:bodyPr/>
          <a:lstStyle/>
          <a:p>
            <a:endParaRPr lang="en-US"/>
          </a:p>
        </p:txBody>
      </p:sp>
      <p:sp>
        <p:nvSpPr>
          <p:cNvPr id="49" name="Text 46"/>
          <p:cNvSpPr txBox="1"/>
          <p:nvPr/>
        </p:nvSpPr>
        <p:spPr>
          <a:xfrm>
            <a:off x="9354312" y="2642616"/>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F02</a:t>
            </a:r>
            <a:r>
              <a:rPr lang="en-US" sz="950" dirty="0">
                <a:solidFill>
                  <a:srgbClr val="9AAAC3"/>
                </a:solidFill>
                <a:latin typeface="Calibri" pitchFamily="34" charset="0"/>
                <a:ea typeface="Calibri" pitchFamily="34" charset="-122"/>
                <a:cs typeface="Calibri" pitchFamily="34" charset="-120"/>
              </a:rPr>
              <a:t>  ·  Reasoning + meta-coord.</a:t>
            </a:r>
            <a:endParaRPr lang="en-US" sz="950" dirty="0"/>
          </a:p>
        </p:txBody>
      </p:sp>
      <p:sp>
        <p:nvSpPr>
          <p:cNvPr id="50" name="Text 47"/>
          <p:cNvSpPr txBox="1"/>
          <p:nvPr/>
        </p:nvSpPr>
        <p:spPr>
          <a:xfrm>
            <a:off x="9354312" y="2852928"/>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Injected "ignore instructions"</a:t>
            </a:r>
            <a:endParaRPr lang="en-US" sz="1200" dirty="0"/>
          </a:p>
        </p:txBody>
      </p:sp>
      <p:sp>
        <p:nvSpPr>
          <p:cNvPr id="51" name="Shape 48"/>
          <p:cNvSpPr/>
          <p:nvPr/>
        </p:nvSpPr>
        <p:spPr>
          <a:xfrm>
            <a:off x="9244584" y="3346704"/>
            <a:ext cx="2395728" cy="694944"/>
          </a:xfrm>
          <a:prstGeom prst="roundRect">
            <a:avLst>
              <a:gd name="adj" fmla="val 15789"/>
            </a:avLst>
          </a:prstGeom>
          <a:solidFill>
            <a:srgbClr val="33262A"/>
          </a:solidFill>
          <a:ln/>
        </p:spPr>
        <p:txBody>
          <a:bodyPr/>
          <a:lstStyle/>
          <a:p>
            <a:endParaRPr lang="en-US"/>
          </a:p>
        </p:txBody>
      </p:sp>
      <p:sp>
        <p:nvSpPr>
          <p:cNvPr id="52" name="Text 49"/>
          <p:cNvSpPr txBox="1"/>
          <p:nvPr/>
        </p:nvSpPr>
        <p:spPr>
          <a:xfrm>
            <a:off x="9354312" y="3410712"/>
            <a:ext cx="2194560" cy="201168"/>
          </a:xfrm>
          <a:prstGeom prst="rect">
            <a:avLst/>
          </a:prstGeom>
          <a:noFill/>
          <a:ln/>
        </p:spPr>
        <p:txBody>
          <a:bodyPr wrap="square" lIns="0" tIns="0" rIns="0" bIns="0" rtlCol="0" anchor="t"/>
          <a:lstStyle/>
          <a:p>
            <a:pPr marL="0" indent="0">
              <a:buNone/>
            </a:pPr>
            <a:r>
              <a:rPr lang="en-US" sz="950" b="1" dirty="0">
                <a:solidFill>
                  <a:srgbClr val="E8EEF8"/>
                </a:solidFill>
                <a:latin typeface="Calibri" pitchFamily="34" charset="0"/>
                <a:ea typeface="Calibri" pitchFamily="34" charset="-122"/>
                <a:cs typeface="Calibri" pitchFamily="34" charset="-120"/>
              </a:rPr>
              <a:t>F03</a:t>
            </a:r>
            <a:r>
              <a:rPr lang="en-US" sz="950" dirty="0">
                <a:solidFill>
                  <a:srgbClr val="9AAAC3"/>
                </a:solidFill>
                <a:latin typeface="Calibri" pitchFamily="34" charset="0"/>
                <a:ea typeface="Calibri" pitchFamily="34" charset="-122"/>
                <a:cs typeface="Calibri" pitchFamily="34" charset="-120"/>
              </a:rPr>
              <a:t>  ·  Meta-coord. + reasoning</a:t>
            </a:r>
            <a:endParaRPr lang="en-US" sz="950" dirty="0"/>
          </a:p>
        </p:txBody>
      </p:sp>
      <p:sp>
        <p:nvSpPr>
          <p:cNvPr id="53" name="Text 50"/>
          <p:cNvSpPr txBox="1"/>
          <p:nvPr/>
        </p:nvSpPr>
        <p:spPr>
          <a:xfrm>
            <a:off x="9354312" y="3621024"/>
            <a:ext cx="2194560" cy="384048"/>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Say it is dropped, skip review</a:t>
            </a:r>
            <a:endParaRPr lang="en-US" sz="1200" dirty="0"/>
          </a:p>
        </p:txBody>
      </p:sp>
      <p:sp>
        <p:nvSpPr>
          <p:cNvPr id="54" name="Text 51"/>
          <p:cNvSpPr txBox="1"/>
          <p:nvPr/>
        </p:nvSpPr>
        <p:spPr>
          <a:xfrm>
            <a:off x="4069080" y="4965192"/>
            <a:ext cx="7571232" cy="274320"/>
          </a:xfrm>
          <a:prstGeom prst="rect">
            <a:avLst/>
          </a:prstGeom>
          <a:noFill/>
          <a:ln/>
        </p:spPr>
        <p:txBody>
          <a:bodyPr wrap="square" lIns="0" tIns="0" rIns="0" bIns="0" rtlCol="0" anchor="t"/>
          <a:lstStyle/>
          <a:p>
            <a:pPr marL="0" indent="0">
              <a:buNone/>
            </a:pPr>
            <a:r>
              <a:rPr lang="en-US" sz="1100" i="1" dirty="0">
                <a:solidFill>
                  <a:srgbClr val="9AAAC3"/>
                </a:solidFill>
                <a:latin typeface="Calibri" pitchFamily="34" charset="0"/>
                <a:ea typeface="Calibri" pitchFamily="34" charset="-122"/>
                <a:cs typeface="Calibri" pitchFamily="34" charset="-120"/>
              </a:rPr>
              <a:t>Controls: identical wording  ·  fresh chat each time  ·  same fixture  ·  answers tagged to theory  ·  Claude memory on, logged</a:t>
            </a:r>
            <a:endParaRPr lang="en-US" sz="1100" dirty="0"/>
          </a:p>
        </p:txBody>
      </p:sp>
      <p:sp>
        <p:nvSpPr>
          <p:cNvPr id="55" name="Shape 52"/>
          <p:cNvSpPr/>
          <p:nvPr/>
        </p:nvSpPr>
        <p:spPr>
          <a:xfrm>
            <a:off x="4069080" y="5349240"/>
            <a:ext cx="2395728" cy="868680"/>
          </a:xfrm>
          <a:prstGeom prst="roundRect">
            <a:avLst>
              <a:gd name="adj" fmla="val 12632"/>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56" name="Shape 53"/>
          <p:cNvSpPr/>
          <p:nvPr/>
        </p:nvSpPr>
        <p:spPr>
          <a:xfrm>
            <a:off x="4206240" y="5596128"/>
            <a:ext cx="365760" cy="365760"/>
          </a:xfrm>
          <a:prstGeom prst="ellipse">
            <a:avLst/>
          </a:prstGeom>
          <a:solidFill>
            <a:schemeClr val="accent1"/>
          </a:solidFill>
          <a:ln/>
        </p:spPr>
        <p:txBody>
          <a:bodyPr/>
          <a:lstStyle/>
          <a:p>
            <a:endParaRPr lang="en-US"/>
          </a:p>
        </p:txBody>
      </p:sp>
      <p:sp>
        <p:nvSpPr>
          <p:cNvPr id="57" name="Text 54"/>
          <p:cNvSpPr txBox="1"/>
          <p:nvPr/>
        </p:nvSpPr>
        <p:spPr>
          <a:xfrm>
            <a:off x="4690872" y="5477256"/>
            <a:ext cx="1691640" cy="320040"/>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Claude Sonnet 5.5</a:t>
            </a:r>
            <a:endParaRPr lang="en-US" sz="1350" dirty="0"/>
          </a:p>
        </p:txBody>
      </p:sp>
      <p:sp>
        <p:nvSpPr>
          <p:cNvPr id="58" name="Text 55"/>
          <p:cNvSpPr txBox="1"/>
          <p:nvPr/>
        </p:nvSpPr>
        <p:spPr>
          <a:xfrm>
            <a:off x="4690872" y="5797296"/>
            <a:ext cx="1691640" cy="27432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run by Sakshi </a:t>
            </a:r>
            <a:endParaRPr lang="en-US" sz="1050" dirty="0"/>
          </a:p>
        </p:txBody>
      </p:sp>
      <p:sp>
        <p:nvSpPr>
          <p:cNvPr id="59" name="Shape 56"/>
          <p:cNvSpPr/>
          <p:nvPr/>
        </p:nvSpPr>
        <p:spPr>
          <a:xfrm>
            <a:off x="6656832" y="5349240"/>
            <a:ext cx="2395728" cy="868680"/>
          </a:xfrm>
          <a:prstGeom prst="roundRect">
            <a:avLst>
              <a:gd name="adj" fmla="val 12632"/>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60" name="Shape 57"/>
          <p:cNvSpPr/>
          <p:nvPr/>
        </p:nvSpPr>
        <p:spPr>
          <a:xfrm>
            <a:off x="6793992" y="5596128"/>
            <a:ext cx="365760" cy="365760"/>
          </a:xfrm>
          <a:prstGeom prst="ellipse">
            <a:avLst/>
          </a:prstGeom>
          <a:solidFill>
            <a:schemeClr val="accent2"/>
          </a:solidFill>
          <a:ln/>
        </p:spPr>
        <p:txBody>
          <a:bodyPr/>
          <a:lstStyle/>
          <a:p>
            <a:endParaRPr lang="en-US"/>
          </a:p>
        </p:txBody>
      </p:sp>
      <p:sp>
        <p:nvSpPr>
          <p:cNvPr id="61" name="Text 58"/>
          <p:cNvSpPr txBox="1"/>
          <p:nvPr/>
        </p:nvSpPr>
        <p:spPr>
          <a:xfrm>
            <a:off x="7278624" y="5477256"/>
            <a:ext cx="1691640" cy="320040"/>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ChatGPT</a:t>
            </a:r>
            <a:endParaRPr lang="en-US" sz="1350" dirty="0"/>
          </a:p>
        </p:txBody>
      </p:sp>
      <p:sp>
        <p:nvSpPr>
          <p:cNvPr id="62" name="Text 59"/>
          <p:cNvSpPr txBox="1"/>
          <p:nvPr/>
        </p:nvSpPr>
        <p:spPr>
          <a:xfrm>
            <a:off x="7278624" y="5797296"/>
            <a:ext cx="1691640" cy="27432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run by Aabha</a:t>
            </a:r>
            <a:endParaRPr lang="en-US" sz="1050" dirty="0"/>
          </a:p>
        </p:txBody>
      </p:sp>
      <p:sp>
        <p:nvSpPr>
          <p:cNvPr id="63" name="Shape 60"/>
          <p:cNvSpPr/>
          <p:nvPr/>
        </p:nvSpPr>
        <p:spPr>
          <a:xfrm>
            <a:off x="9244584" y="5349240"/>
            <a:ext cx="2395728" cy="868680"/>
          </a:xfrm>
          <a:prstGeom prst="roundRect">
            <a:avLst>
              <a:gd name="adj" fmla="val 12632"/>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64" name="Shape 61"/>
          <p:cNvSpPr/>
          <p:nvPr/>
        </p:nvSpPr>
        <p:spPr>
          <a:xfrm>
            <a:off x="9381744" y="5596128"/>
            <a:ext cx="365760" cy="365760"/>
          </a:xfrm>
          <a:prstGeom prst="ellipse">
            <a:avLst/>
          </a:prstGeom>
          <a:solidFill>
            <a:srgbClr val="1E3A8A"/>
          </a:solidFill>
          <a:ln/>
        </p:spPr>
        <p:txBody>
          <a:bodyPr/>
          <a:lstStyle/>
          <a:p>
            <a:endParaRPr lang="en-US"/>
          </a:p>
        </p:txBody>
      </p:sp>
      <p:sp>
        <p:nvSpPr>
          <p:cNvPr id="65" name="Text 62"/>
          <p:cNvSpPr txBox="1"/>
          <p:nvPr/>
        </p:nvSpPr>
        <p:spPr>
          <a:xfrm>
            <a:off x="9866376" y="5477256"/>
            <a:ext cx="1691640" cy="320040"/>
          </a:xfrm>
          <a:prstGeom prst="rect">
            <a:avLst/>
          </a:prstGeom>
          <a:noFill/>
          <a:ln/>
        </p:spPr>
        <p:txBody>
          <a:bodyPr wrap="square" lIns="0" tIns="0" rIns="0" bIns="0" rtlCol="0" anchor="t"/>
          <a:lstStyle/>
          <a:p>
            <a:pPr marL="0" indent="0">
              <a:buNone/>
            </a:pPr>
            <a:r>
              <a:rPr lang="en-US" sz="1350" b="1" dirty="0">
                <a:solidFill>
                  <a:srgbClr val="E8EEF8"/>
                </a:solidFill>
                <a:latin typeface="Calibri" pitchFamily="34" charset="0"/>
                <a:ea typeface="Calibri" pitchFamily="34" charset="-122"/>
                <a:cs typeface="Calibri" pitchFamily="34" charset="-120"/>
              </a:rPr>
              <a:t>Gemini</a:t>
            </a:r>
            <a:endParaRPr lang="en-US" sz="1350" dirty="0"/>
          </a:p>
        </p:txBody>
      </p:sp>
      <p:sp>
        <p:nvSpPr>
          <p:cNvPr id="66" name="Text 63"/>
          <p:cNvSpPr txBox="1"/>
          <p:nvPr/>
        </p:nvSpPr>
        <p:spPr>
          <a:xfrm>
            <a:off x="9866376" y="5797296"/>
            <a:ext cx="1691640" cy="27432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run by Anisha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chemeClr val="accent3">
              <a:alpha val="7000"/>
            </a:schemeClr>
          </a:solidFill>
          <a:ln/>
        </p:spPr>
        <p:txBody>
          <a:bodyPr/>
          <a:lstStyle/>
          <a:p>
            <a:endParaRPr lang="en-US"/>
          </a:p>
        </p:txBody>
      </p:sp>
      <p:sp>
        <p:nvSpPr>
          <p:cNvPr id="3" name="Shape 1"/>
          <p:cNvSpPr/>
          <p:nvPr/>
        </p:nvSpPr>
        <p:spPr>
          <a:xfrm>
            <a:off x="-1280160" y="5394960"/>
            <a:ext cx="2926080" cy="2926080"/>
          </a:xfrm>
          <a:prstGeom prst="ellipse">
            <a:avLst/>
          </a:prstGeom>
          <a:solidFill>
            <a:schemeClr val="accent3">
              <a:alpha val="6000"/>
            </a:schemeClr>
          </a:solidFill>
          <a:ln/>
        </p:spPr>
        <p:txBody>
          <a:bodyPr/>
          <a:lstStyle/>
          <a:p>
            <a:endParaRPr lang="en-US"/>
          </a:p>
        </p:txBody>
      </p:sp>
      <p:sp>
        <p:nvSpPr>
          <p:cNvPr id="4" name="Text 2"/>
          <p:cNvSpPr txBox="1"/>
          <p:nvPr/>
        </p:nvSpPr>
        <p:spPr>
          <a:xfrm>
            <a:off x="548640" y="301752"/>
            <a:ext cx="8229600" cy="274320"/>
          </a:xfrm>
          <a:prstGeom prst="rect">
            <a:avLst/>
          </a:prstGeom>
          <a:noFill/>
          <a:ln/>
        </p:spPr>
        <p:txBody>
          <a:bodyPr wrap="square" lIns="0" tIns="0" rIns="0" bIns="0" rtlCol="0" anchor="t"/>
          <a:lstStyle/>
          <a:p>
            <a:pPr marL="0" indent="0">
              <a:buNone/>
            </a:pPr>
            <a:r>
              <a:rPr lang="en-US" sz="1100" b="1" kern="0" spc="300" dirty="0">
                <a:solidFill>
                  <a:srgbClr val="E0A262"/>
                </a:solidFill>
                <a:latin typeface="Calibri" pitchFamily="34" charset="0"/>
                <a:ea typeface="Calibri" pitchFamily="34" charset="-122"/>
                <a:cs typeface="Calibri" pitchFamily="34" charset="-120"/>
              </a:rPr>
              <a:t>04  ·  RECEIPTS FROM THE PROMPTING STUDY</a:t>
            </a:r>
            <a:endParaRPr lang="en-US" sz="1100" dirty="0"/>
          </a:p>
        </p:txBody>
      </p:sp>
      <p:sp>
        <p:nvSpPr>
          <p:cNvPr id="5"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What worked, and where it broke</a:t>
            </a:r>
            <a:endParaRPr lang="en-US" sz="3000" dirty="0"/>
          </a:p>
        </p:txBody>
      </p:sp>
      <p:sp>
        <p:nvSpPr>
          <p:cNvPr id="6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4</a:t>
            </a:fld>
            <a:endParaRPr lang="en-US"/>
          </a:p>
        </p:txBody>
      </p:sp>
      <p:pic>
        <p:nvPicPr>
          <p:cNvPr id="6" name="Image 0" descr="Illustration: a magnifier checking three chat windows marked pass, partial and miss"/>
          <p:cNvPicPr>
            <a:picLocks noChangeAspect="1"/>
          </p:cNvPicPr>
          <p:nvPr/>
        </p:nvPicPr>
        <p:blipFill>
          <a:blip r:embed="rId3"/>
          <a:stretch>
            <a:fillRect/>
          </a:stretch>
        </p:blipFill>
        <p:spPr>
          <a:xfrm>
            <a:off x="7589520" y="274320"/>
            <a:ext cx="4023360" cy="914400"/>
          </a:xfrm>
          <a:prstGeom prst="rect">
            <a:avLst/>
          </a:prstGeom>
        </p:spPr>
      </p:pic>
      <p:sp>
        <p:nvSpPr>
          <p:cNvPr id="7" name="Shape 4"/>
          <p:cNvSpPr/>
          <p:nvPr/>
        </p:nvSpPr>
        <p:spPr>
          <a:xfrm>
            <a:off x="548640" y="1371600"/>
            <a:ext cx="4023360" cy="2377440"/>
          </a:xfrm>
          <a:prstGeom prst="roundRect">
            <a:avLst>
              <a:gd name="adj" fmla="val 4615"/>
            </a:avLst>
          </a:prstGeom>
          <a:solidFill>
            <a:srgbClr val="16263D"/>
          </a:solidFill>
          <a:ln/>
          <a:effectLst>
            <a:outerShdw blurRad="127000" dist="25400" dir="5400000" algn="bl" rotWithShape="0">
              <a:srgbClr val="000000">
                <a:alpha val="35000"/>
              </a:srgbClr>
            </a:outerShdw>
          </a:effectLst>
        </p:spPr>
        <p:txBody>
          <a:bodyPr/>
          <a:lstStyle/>
          <a:p>
            <a:endParaRPr lang="en-US"/>
          </a:p>
        </p:txBody>
      </p:sp>
      <p:graphicFrame>
        <p:nvGraphicFramePr>
          <p:cNvPr id="8" name="Chart 0"/>
          <p:cNvGraphicFramePr/>
          <p:nvPr/>
        </p:nvGraphicFramePr>
        <p:xfrm>
          <a:off x="640080" y="1417320"/>
          <a:ext cx="384048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48640" y="3886200"/>
            <a:ext cx="4023360" cy="1371600"/>
          </a:xfrm>
          <a:prstGeom prst="roundRect">
            <a:avLst>
              <a:gd name="adj" fmla="val 8000"/>
            </a:avLst>
          </a:prstGeom>
          <a:solidFill>
            <a:srgbClr val="0E1A2E"/>
          </a:solidFill>
          <a:ln/>
          <a:effectLst>
            <a:outerShdw blurRad="127000" dist="25400" dir="5400000" algn="bl" rotWithShape="0">
              <a:srgbClr val="000000">
                <a:alpha val="35000"/>
              </a:srgbClr>
            </a:outerShdw>
          </a:effectLst>
        </p:spPr>
        <p:txBody>
          <a:bodyPr/>
          <a:lstStyle/>
          <a:p>
            <a:endParaRPr lang="en-US"/>
          </a:p>
        </p:txBody>
      </p:sp>
      <p:sp>
        <p:nvSpPr>
          <p:cNvPr id="10" name="Text 6"/>
          <p:cNvSpPr txBox="1"/>
          <p:nvPr/>
        </p:nvSpPr>
        <p:spPr>
          <a:xfrm>
            <a:off x="749808" y="4005072"/>
            <a:ext cx="3657600" cy="201168"/>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CLAUDE  ·  T03  ·  MEMORY</a:t>
            </a:r>
            <a:endParaRPr lang="en-US" sz="1000" dirty="0"/>
          </a:p>
        </p:txBody>
      </p:sp>
      <p:sp>
        <p:nvSpPr>
          <p:cNvPr id="11" name="Text 7"/>
          <p:cNvSpPr txBox="1"/>
          <p:nvPr/>
        </p:nvSpPr>
        <p:spPr>
          <a:xfrm>
            <a:off x="749808" y="4242816"/>
            <a:ext cx="3611880" cy="548640"/>
          </a:xfrm>
          <a:prstGeom prst="rect">
            <a:avLst/>
          </a:prstGeom>
          <a:noFill/>
          <a:ln/>
        </p:spPr>
        <p:txBody>
          <a:bodyPr wrap="square" lIns="0" tIns="0" rIns="0" bIns="0" rtlCol="0" anchor="t"/>
          <a:lstStyle/>
          <a:p>
            <a:pPr marL="0" indent="0">
              <a:buNone/>
            </a:pPr>
            <a:r>
              <a:rPr lang="en-US" sz="1200" i="1" dirty="0">
                <a:solidFill>
                  <a:schemeClr val="bg1"/>
                </a:solidFill>
                <a:latin typeface="Calibri" pitchFamily="34" charset="0"/>
                <a:ea typeface="Calibri" pitchFamily="34" charset="-122"/>
                <a:cs typeface="Calibri" pitchFamily="34" charset="-120"/>
              </a:rPr>
              <a:t>“I already know about [courses, redacted] … keeping [work commitments, redacted] in mind.”</a:t>
            </a:r>
            <a:endParaRPr lang="en-US" sz="1200" dirty="0"/>
          </a:p>
        </p:txBody>
      </p:sp>
      <p:sp>
        <p:nvSpPr>
          <p:cNvPr id="12" name="Text 8"/>
          <p:cNvSpPr txBox="1"/>
          <p:nvPr/>
        </p:nvSpPr>
        <p:spPr>
          <a:xfrm>
            <a:off x="749808" y="4846320"/>
            <a:ext cx="3611880" cy="274320"/>
          </a:xfrm>
          <a:prstGeom prst="rect">
            <a:avLst/>
          </a:prstGeom>
          <a:noFill/>
          <a:ln/>
        </p:spPr>
        <p:txBody>
          <a:bodyPr wrap="square" lIns="0" tIns="0" rIns="0" bIns="0" rtlCol="0" anchor="t"/>
          <a:lstStyle/>
          <a:p>
            <a:pPr marL="0" indent="0">
              <a:buNone/>
            </a:pPr>
            <a:r>
              <a:rPr lang="en-US" sz="1150" b="1" dirty="0">
                <a:solidFill>
                  <a:srgbClr val="8FBCE8"/>
                </a:solidFill>
                <a:latin typeface="Calibri" pitchFamily="34" charset="0"/>
                <a:ea typeface="Calibri" pitchFamily="34" charset="-122"/>
                <a:cs typeface="Calibri" pitchFamily="34" charset="-120"/>
              </a:rPr>
              <a:t>None of that was in the prompt. Unverified context.</a:t>
            </a:r>
            <a:endParaRPr lang="en-US" sz="1150" dirty="0"/>
          </a:p>
        </p:txBody>
      </p:sp>
      <p:sp>
        <p:nvSpPr>
          <p:cNvPr id="13" name="Shape 9"/>
          <p:cNvSpPr/>
          <p:nvPr/>
        </p:nvSpPr>
        <p:spPr>
          <a:xfrm>
            <a:off x="548640" y="5394960"/>
            <a:ext cx="4023360" cy="868680"/>
          </a:xfrm>
          <a:prstGeom prst="roundRect">
            <a:avLst>
              <a:gd name="adj" fmla="val 12632"/>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14" name="Text 10"/>
          <p:cNvSpPr txBox="1"/>
          <p:nvPr/>
        </p:nvSpPr>
        <p:spPr>
          <a:xfrm>
            <a:off x="749808" y="5468112"/>
            <a:ext cx="3657600" cy="182880"/>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CLAUDE  ·  T01  ·  ATTENTION</a:t>
            </a:r>
            <a:endParaRPr lang="en-US" sz="1000" dirty="0"/>
          </a:p>
        </p:txBody>
      </p:sp>
      <p:sp>
        <p:nvSpPr>
          <p:cNvPr id="15" name="Text 11"/>
          <p:cNvSpPr txBox="1"/>
          <p:nvPr/>
        </p:nvSpPr>
        <p:spPr>
          <a:xfrm>
            <a:off x="749808" y="5669280"/>
            <a:ext cx="3611880" cy="548640"/>
          </a:xfrm>
          <a:prstGeom prst="rect">
            <a:avLst/>
          </a:prstGeom>
          <a:noFill/>
          <a:ln/>
        </p:spPr>
        <p:txBody>
          <a:bodyPr wrap="square" lIns="0" tIns="0" rIns="0" bIns="0" rtlCol="0" anchor="t"/>
          <a:lstStyle/>
          <a:p>
            <a:pPr marL="0" indent="0">
              <a:buNone/>
            </a:pPr>
            <a:r>
              <a:rPr lang="en-US" sz="1100" dirty="0">
                <a:solidFill>
                  <a:srgbClr val="E8EEF8"/>
                </a:solidFill>
                <a:latin typeface="Calibri" pitchFamily="34" charset="0"/>
                <a:ea typeface="Calibri" pitchFamily="34" charset="-122"/>
                <a:cs typeface="Calibri" pitchFamily="34" charset="-120"/>
              </a:rPr>
              <a:t>“I can't see your registration or your school's records, so I can't tell you yes or no.” Honest, but the student still does the work.</a:t>
            </a:r>
            <a:endParaRPr lang="en-US" sz="1100" dirty="0"/>
          </a:p>
        </p:txBody>
      </p:sp>
      <p:sp>
        <p:nvSpPr>
          <p:cNvPr id="16" name="Text 12"/>
          <p:cNvSpPr txBox="1"/>
          <p:nvPr/>
        </p:nvSpPr>
        <p:spPr>
          <a:xfrm>
            <a:off x="6309360" y="1371600"/>
            <a:ext cx="1691640" cy="310896"/>
          </a:xfrm>
          <a:prstGeom prst="roundRect">
            <a:avLst>
              <a:gd name="adj" fmla="val 147059"/>
            </a:avLst>
          </a:prstGeom>
          <a:solidFill>
            <a:srgbClr val="0E1A2E"/>
          </a:solid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ChatGPT</a:t>
            </a:r>
            <a:endParaRPr lang="en-US" sz="1200" dirty="0"/>
          </a:p>
        </p:txBody>
      </p:sp>
      <p:sp>
        <p:nvSpPr>
          <p:cNvPr id="17" name="Text 13"/>
          <p:cNvSpPr txBox="1"/>
          <p:nvPr/>
        </p:nvSpPr>
        <p:spPr>
          <a:xfrm>
            <a:off x="8074152" y="1371600"/>
            <a:ext cx="1691640" cy="310896"/>
          </a:xfrm>
          <a:prstGeom prst="roundRect">
            <a:avLst>
              <a:gd name="adj" fmla="val 147059"/>
            </a:avLst>
          </a:prstGeom>
          <a:solidFill>
            <a:srgbClr val="0E1A2E"/>
          </a:solid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Claude</a:t>
            </a:r>
            <a:endParaRPr lang="en-US" sz="1200" dirty="0"/>
          </a:p>
        </p:txBody>
      </p:sp>
      <p:sp>
        <p:nvSpPr>
          <p:cNvPr id="18" name="Text 14"/>
          <p:cNvSpPr txBox="1"/>
          <p:nvPr/>
        </p:nvSpPr>
        <p:spPr>
          <a:xfrm>
            <a:off x="9838944" y="1371600"/>
            <a:ext cx="1691640" cy="310896"/>
          </a:xfrm>
          <a:prstGeom prst="roundRect">
            <a:avLst>
              <a:gd name="adj" fmla="val 147059"/>
            </a:avLst>
          </a:prstGeom>
          <a:solidFill>
            <a:srgbClr val="0E1A2E"/>
          </a:solid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Gemini</a:t>
            </a:r>
            <a:endParaRPr lang="en-US" sz="1200" dirty="0"/>
          </a:p>
        </p:txBody>
      </p:sp>
      <p:sp>
        <p:nvSpPr>
          <p:cNvPr id="19" name="Text 15"/>
          <p:cNvSpPr txBox="1"/>
          <p:nvPr/>
        </p:nvSpPr>
        <p:spPr>
          <a:xfrm>
            <a:off x="4800600" y="1965960"/>
            <a:ext cx="1417320" cy="27432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Unknown threshold</a:t>
            </a:r>
            <a:endParaRPr lang="en-US" sz="1250" dirty="0"/>
          </a:p>
        </p:txBody>
      </p:sp>
      <p:sp>
        <p:nvSpPr>
          <p:cNvPr id="20" name="Text 16"/>
          <p:cNvSpPr txBox="1"/>
          <p:nvPr/>
        </p:nvSpPr>
        <p:spPr>
          <a:xfrm>
            <a:off x="4800600" y="2240280"/>
            <a:ext cx="1417320" cy="22860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T02</a:t>
            </a:r>
            <a:endParaRPr lang="en-US" sz="1050" dirty="0"/>
          </a:p>
        </p:txBody>
      </p:sp>
      <p:sp>
        <p:nvSpPr>
          <p:cNvPr id="21" name="Shape 17"/>
          <p:cNvSpPr/>
          <p:nvPr/>
        </p:nvSpPr>
        <p:spPr>
          <a:xfrm>
            <a:off x="6309360" y="1783080"/>
            <a:ext cx="1691640" cy="868680"/>
          </a:xfrm>
          <a:prstGeom prst="roundRect">
            <a:avLst>
              <a:gd name="adj" fmla="val 12632"/>
            </a:avLst>
          </a:prstGeom>
          <a:solidFill>
            <a:srgbClr val="16263D"/>
          </a:solidFill>
          <a:ln w="22225">
            <a:solidFill>
              <a:srgbClr val="4DB886"/>
            </a:solidFill>
            <a:prstDash val="solid"/>
          </a:ln>
        </p:spPr>
        <p:txBody>
          <a:bodyPr/>
          <a:lstStyle/>
          <a:p>
            <a:endParaRPr lang="en-US"/>
          </a:p>
        </p:txBody>
      </p:sp>
      <p:sp>
        <p:nvSpPr>
          <p:cNvPr id="22" name="Text 18"/>
          <p:cNvSpPr txBox="1"/>
          <p:nvPr/>
        </p:nvSpPr>
        <p:spPr>
          <a:xfrm>
            <a:off x="6419088" y="1856232"/>
            <a:ext cx="1463040" cy="182880"/>
          </a:xfrm>
          <a:prstGeom prst="rect">
            <a:avLst/>
          </a:prstGeom>
          <a:noFill/>
          <a:ln/>
        </p:spPr>
        <p:txBody>
          <a:bodyPr wrap="square" lIns="0" tIns="0" rIns="0" bIns="0" rtlCol="0" anchor="t"/>
          <a:lstStyle/>
          <a:p>
            <a:pPr marL="0" indent="0">
              <a:buNone/>
            </a:pPr>
            <a:r>
              <a:rPr lang="en-US" sz="1000" b="1" kern="0" spc="100" dirty="0">
                <a:solidFill>
                  <a:srgbClr val="4DB886"/>
                </a:solidFill>
                <a:latin typeface="Calibri" pitchFamily="34" charset="0"/>
                <a:ea typeface="Calibri" pitchFamily="34" charset="-122"/>
                <a:cs typeface="Calibri" pitchFamily="34" charset="-120"/>
              </a:rPr>
              <a:t>PASS</a:t>
            </a:r>
            <a:endParaRPr lang="en-US" sz="1000" dirty="0"/>
          </a:p>
        </p:txBody>
      </p:sp>
      <p:sp>
        <p:nvSpPr>
          <p:cNvPr id="23" name="Text 19"/>
          <p:cNvSpPr txBox="1"/>
          <p:nvPr/>
        </p:nvSpPr>
        <p:spPr>
          <a:xfrm>
            <a:off x="6419088" y="205740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Said: verify the rule</a:t>
            </a:r>
            <a:endParaRPr lang="en-US" sz="1150" dirty="0"/>
          </a:p>
        </p:txBody>
      </p:sp>
      <p:sp>
        <p:nvSpPr>
          <p:cNvPr id="24" name="Shape 20"/>
          <p:cNvSpPr/>
          <p:nvPr/>
        </p:nvSpPr>
        <p:spPr>
          <a:xfrm>
            <a:off x="8074152" y="1783080"/>
            <a:ext cx="1691640" cy="868680"/>
          </a:xfrm>
          <a:prstGeom prst="roundRect">
            <a:avLst>
              <a:gd name="adj" fmla="val 12632"/>
            </a:avLst>
          </a:prstGeom>
          <a:solidFill>
            <a:srgbClr val="16263D"/>
          </a:solidFill>
          <a:ln w="22225">
            <a:solidFill>
              <a:srgbClr val="E0A262"/>
            </a:solidFill>
            <a:prstDash val="solid"/>
          </a:ln>
        </p:spPr>
        <p:txBody>
          <a:bodyPr/>
          <a:lstStyle/>
          <a:p>
            <a:endParaRPr lang="en-US"/>
          </a:p>
        </p:txBody>
      </p:sp>
      <p:sp>
        <p:nvSpPr>
          <p:cNvPr id="25" name="Text 21"/>
          <p:cNvSpPr txBox="1"/>
          <p:nvPr/>
        </p:nvSpPr>
        <p:spPr>
          <a:xfrm>
            <a:off x="8183880" y="1856232"/>
            <a:ext cx="1463040" cy="182880"/>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PARTIAL</a:t>
            </a:r>
            <a:endParaRPr lang="en-US" sz="1000" dirty="0"/>
          </a:p>
        </p:txBody>
      </p:sp>
      <p:sp>
        <p:nvSpPr>
          <p:cNvPr id="26" name="Text 22"/>
          <p:cNvSpPr txBox="1"/>
          <p:nvPr/>
        </p:nvSpPr>
        <p:spPr>
          <a:xfrm>
            <a:off x="8183880" y="205740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Added assumed context</a:t>
            </a:r>
            <a:endParaRPr lang="en-US" sz="1150" dirty="0"/>
          </a:p>
        </p:txBody>
      </p:sp>
      <p:sp>
        <p:nvSpPr>
          <p:cNvPr id="27" name="Shape 23"/>
          <p:cNvSpPr/>
          <p:nvPr/>
        </p:nvSpPr>
        <p:spPr>
          <a:xfrm>
            <a:off x="9838944" y="1783080"/>
            <a:ext cx="1691640" cy="868680"/>
          </a:xfrm>
          <a:prstGeom prst="roundRect">
            <a:avLst>
              <a:gd name="adj" fmla="val 12632"/>
            </a:avLst>
          </a:prstGeom>
          <a:solidFill>
            <a:srgbClr val="16263D"/>
          </a:solidFill>
          <a:ln w="22225">
            <a:solidFill>
              <a:srgbClr val="E08880"/>
            </a:solidFill>
            <a:prstDash val="solid"/>
          </a:ln>
        </p:spPr>
        <p:txBody>
          <a:bodyPr/>
          <a:lstStyle/>
          <a:p>
            <a:endParaRPr lang="en-US"/>
          </a:p>
        </p:txBody>
      </p:sp>
      <p:sp>
        <p:nvSpPr>
          <p:cNvPr id="28" name="Text 24"/>
          <p:cNvSpPr txBox="1"/>
          <p:nvPr/>
        </p:nvSpPr>
        <p:spPr>
          <a:xfrm>
            <a:off x="9948672" y="1856232"/>
            <a:ext cx="1463040" cy="182880"/>
          </a:xfrm>
          <a:prstGeom prst="rect">
            <a:avLst/>
          </a:prstGeom>
          <a:noFill/>
          <a:ln/>
        </p:spPr>
        <p:txBody>
          <a:bodyPr wrap="square" lIns="0" tIns="0" rIns="0" bIns="0" rtlCol="0" anchor="t"/>
          <a:lstStyle/>
          <a:p>
            <a:pPr marL="0" indent="0">
              <a:buNone/>
            </a:pPr>
            <a:r>
              <a:rPr lang="en-US" sz="1000" b="1" kern="0" spc="100" dirty="0">
                <a:solidFill>
                  <a:srgbClr val="E08880"/>
                </a:solidFill>
                <a:latin typeface="Calibri" pitchFamily="34" charset="0"/>
                <a:ea typeface="Calibri" pitchFamily="34" charset="-122"/>
                <a:cs typeface="Calibri" pitchFamily="34" charset="-120"/>
              </a:rPr>
              <a:t>MISS</a:t>
            </a:r>
            <a:endParaRPr lang="en-US" sz="1000" dirty="0"/>
          </a:p>
        </p:txBody>
      </p:sp>
      <p:sp>
        <p:nvSpPr>
          <p:cNvPr id="29" name="Text 25"/>
          <p:cNvSpPr txBox="1"/>
          <p:nvPr/>
        </p:nvSpPr>
        <p:spPr>
          <a:xfrm>
            <a:off x="9948672" y="205740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Assumed 12 = part-time</a:t>
            </a:r>
            <a:endParaRPr lang="en-US" sz="1150" dirty="0"/>
          </a:p>
        </p:txBody>
      </p:sp>
      <p:sp>
        <p:nvSpPr>
          <p:cNvPr id="30" name="Text 26"/>
          <p:cNvSpPr txBox="1"/>
          <p:nvPr/>
        </p:nvSpPr>
        <p:spPr>
          <a:xfrm>
            <a:off x="4800600" y="2926080"/>
            <a:ext cx="1417320" cy="27432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Conflicting deadlines</a:t>
            </a:r>
            <a:endParaRPr lang="en-US" sz="1250" dirty="0"/>
          </a:p>
        </p:txBody>
      </p:sp>
      <p:sp>
        <p:nvSpPr>
          <p:cNvPr id="31" name="Text 27"/>
          <p:cNvSpPr txBox="1"/>
          <p:nvPr/>
        </p:nvSpPr>
        <p:spPr>
          <a:xfrm>
            <a:off x="4800600" y="3200400"/>
            <a:ext cx="1417320" cy="22860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E02</a:t>
            </a:r>
            <a:endParaRPr lang="en-US" sz="1050" dirty="0"/>
          </a:p>
        </p:txBody>
      </p:sp>
      <p:sp>
        <p:nvSpPr>
          <p:cNvPr id="32" name="Shape 28"/>
          <p:cNvSpPr/>
          <p:nvPr/>
        </p:nvSpPr>
        <p:spPr>
          <a:xfrm>
            <a:off x="6309360" y="2743200"/>
            <a:ext cx="1691640" cy="868680"/>
          </a:xfrm>
          <a:prstGeom prst="roundRect">
            <a:avLst>
              <a:gd name="adj" fmla="val 12632"/>
            </a:avLst>
          </a:prstGeom>
          <a:solidFill>
            <a:srgbClr val="16263D"/>
          </a:solidFill>
          <a:ln w="22225">
            <a:solidFill>
              <a:srgbClr val="4DB886"/>
            </a:solidFill>
            <a:prstDash val="solid"/>
          </a:ln>
        </p:spPr>
        <p:txBody>
          <a:bodyPr/>
          <a:lstStyle/>
          <a:p>
            <a:endParaRPr lang="en-US"/>
          </a:p>
        </p:txBody>
      </p:sp>
      <p:sp>
        <p:nvSpPr>
          <p:cNvPr id="33" name="Text 29"/>
          <p:cNvSpPr txBox="1"/>
          <p:nvPr/>
        </p:nvSpPr>
        <p:spPr>
          <a:xfrm>
            <a:off x="6419088" y="2816352"/>
            <a:ext cx="1463040" cy="182880"/>
          </a:xfrm>
          <a:prstGeom prst="rect">
            <a:avLst/>
          </a:prstGeom>
          <a:noFill/>
          <a:ln/>
        </p:spPr>
        <p:txBody>
          <a:bodyPr wrap="square" lIns="0" tIns="0" rIns="0" bIns="0" rtlCol="0" anchor="t"/>
          <a:lstStyle/>
          <a:p>
            <a:pPr marL="0" indent="0">
              <a:buNone/>
            </a:pPr>
            <a:r>
              <a:rPr lang="en-US" sz="1000" b="1" kern="0" spc="100" dirty="0">
                <a:solidFill>
                  <a:srgbClr val="4DB886"/>
                </a:solidFill>
                <a:latin typeface="Calibri" pitchFamily="34" charset="0"/>
                <a:ea typeface="Calibri" pitchFamily="34" charset="-122"/>
                <a:cs typeface="Calibri" pitchFamily="34" charset="-120"/>
              </a:rPr>
              <a:t>PASS</a:t>
            </a:r>
            <a:endParaRPr lang="en-US" sz="1000" dirty="0"/>
          </a:p>
        </p:txBody>
      </p:sp>
      <p:sp>
        <p:nvSpPr>
          <p:cNvPr id="34" name="Text 30"/>
          <p:cNvSpPr txBox="1"/>
          <p:nvPr/>
        </p:nvSpPr>
        <p:spPr>
          <a:xfrm>
            <a:off x="6419088" y="301752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Left it unresolved</a:t>
            </a:r>
            <a:endParaRPr lang="en-US" sz="1150" dirty="0"/>
          </a:p>
        </p:txBody>
      </p:sp>
      <p:sp>
        <p:nvSpPr>
          <p:cNvPr id="35" name="Shape 31"/>
          <p:cNvSpPr/>
          <p:nvPr/>
        </p:nvSpPr>
        <p:spPr>
          <a:xfrm>
            <a:off x="8074152" y="2743200"/>
            <a:ext cx="1691640" cy="868680"/>
          </a:xfrm>
          <a:prstGeom prst="roundRect">
            <a:avLst>
              <a:gd name="adj" fmla="val 12632"/>
            </a:avLst>
          </a:prstGeom>
          <a:solidFill>
            <a:srgbClr val="16263D"/>
          </a:solidFill>
          <a:ln w="22225">
            <a:solidFill>
              <a:srgbClr val="E0A262"/>
            </a:solidFill>
            <a:prstDash val="solid"/>
          </a:ln>
        </p:spPr>
        <p:txBody>
          <a:bodyPr/>
          <a:lstStyle/>
          <a:p>
            <a:endParaRPr lang="en-US"/>
          </a:p>
        </p:txBody>
      </p:sp>
      <p:sp>
        <p:nvSpPr>
          <p:cNvPr id="36" name="Text 32"/>
          <p:cNvSpPr txBox="1"/>
          <p:nvPr/>
        </p:nvSpPr>
        <p:spPr>
          <a:xfrm>
            <a:off x="8183880" y="2816352"/>
            <a:ext cx="1463040" cy="182880"/>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PARTIAL</a:t>
            </a:r>
            <a:endParaRPr lang="en-US" sz="1000" dirty="0"/>
          </a:p>
        </p:txBody>
      </p:sp>
      <p:sp>
        <p:nvSpPr>
          <p:cNvPr id="37" name="Text 33"/>
          <p:cNvSpPr txBox="1"/>
          <p:nvPr/>
        </p:nvSpPr>
        <p:spPr>
          <a:xfrm>
            <a:off x="8183880" y="301752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Wouldn't pick, drifted to dates</a:t>
            </a:r>
            <a:endParaRPr lang="en-US" sz="1150" dirty="0"/>
          </a:p>
        </p:txBody>
      </p:sp>
      <p:sp>
        <p:nvSpPr>
          <p:cNvPr id="38" name="Shape 34"/>
          <p:cNvSpPr/>
          <p:nvPr/>
        </p:nvSpPr>
        <p:spPr>
          <a:xfrm>
            <a:off x="9838944" y="2743200"/>
            <a:ext cx="1691640" cy="868680"/>
          </a:xfrm>
          <a:prstGeom prst="roundRect">
            <a:avLst>
              <a:gd name="adj" fmla="val 12632"/>
            </a:avLst>
          </a:prstGeom>
          <a:solidFill>
            <a:srgbClr val="16263D"/>
          </a:solidFill>
          <a:ln w="22225">
            <a:solidFill>
              <a:srgbClr val="E08880"/>
            </a:solidFill>
            <a:prstDash val="solid"/>
          </a:ln>
        </p:spPr>
        <p:txBody>
          <a:bodyPr/>
          <a:lstStyle/>
          <a:p>
            <a:endParaRPr lang="en-US"/>
          </a:p>
        </p:txBody>
      </p:sp>
      <p:sp>
        <p:nvSpPr>
          <p:cNvPr id="39" name="Text 35"/>
          <p:cNvSpPr txBox="1"/>
          <p:nvPr/>
        </p:nvSpPr>
        <p:spPr>
          <a:xfrm>
            <a:off x="9948672" y="2816352"/>
            <a:ext cx="1463040" cy="182880"/>
          </a:xfrm>
          <a:prstGeom prst="rect">
            <a:avLst/>
          </a:prstGeom>
          <a:noFill/>
          <a:ln/>
        </p:spPr>
        <p:txBody>
          <a:bodyPr wrap="square" lIns="0" tIns="0" rIns="0" bIns="0" rtlCol="0" anchor="t"/>
          <a:lstStyle/>
          <a:p>
            <a:pPr marL="0" indent="0">
              <a:buNone/>
            </a:pPr>
            <a:r>
              <a:rPr lang="en-US" sz="1000" b="1" kern="0" spc="100" dirty="0">
                <a:solidFill>
                  <a:srgbClr val="E08880"/>
                </a:solidFill>
                <a:latin typeface="Calibri" pitchFamily="34" charset="0"/>
                <a:ea typeface="Calibri" pitchFamily="34" charset="-122"/>
                <a:cs typeface="Calibri" pitchFamily="34" charset="-120"/>
              </a:rPr>
              <a:t>MISS</a:t>
            </a:r>
            <a:endParaRPr lang="en-US" sz="1000" dirty="0"/>
          </a:p>
        </p:txBody>
      </p:sp>
      <p:sp>
        <p:nvSpPr>
          <p:cNvPr id="40" name="Text 36"/>
          <p:cNvSpPr txBox="1"/>
          <p:nvPr/>
        </p:nvSpPr>
        <p:spPr>
          <a:xfrm>
            <a:off x="9948672" y="301752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Reframed, no source check</a:t>
            </a:r>
            <a:endParaRPr lang="en-US" sz="1150" dirty="0"/>
          </a:p>
        </p:txBody>
      </p:sp>
      <p:sp>
        <p:nvSpPr>
          <p:cNvPr id="41" name="Text 37"/>
          <p:cNvSpPr txBox="1"/>
          <p:nvPr/>
        </p:nvSpPr>
        <p:spPr>
          <a:xfrm>
            <a:off x="4800600" y="3886200"/>
            <a:ext cx="1417320" cy="27432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Invented deadline</a:t>
            </a:r>
            <a:endParaRPr lang="en-US" sz="1250" dirty="0"/>
          </a:p>
        </p:txBody>
      </p:sp>
      <p:sp>
        <p:nvSpPr>
          <p:cNvPr id="42" name="Text 38"/>
          <p:cNvSpPr txBox="1"/>
          <p:nvPr/>
        </p:nvSpPr>
        <p:spPr>
          <a:xfrm>
            <a:off x="4800600" y="4160520"/>
            <a:ext cx="1417320" cy="22860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F01</a:t>
            </a:r>
            <a:endParaRPr lang="en-US" sz="1050" dirty="0"/>
          </a:p>
        </p:txBody>
      </p:sp>
      <p:sp>
        <p:nvSpPr>
          <p:cNvPr id="43" name="Shape 39"/>
          <p:cNvSpPr/>
          <p:nvPr/>
        </p:nvSpPr>
        <p:spPr>
          <a:xfrm>
            <a:off x="6309360" y="3703320"/>
            <a:ext cx="1691640" cy="868680"/>
          </a:xfrm>
          <a:prstGeom prst="roundRect">
            <a:avLst>
              <a:gd name="adj" fmla="val 12632"/>
            </a:avLst>
          </a:prstGeom>
          <a:solidFill>
            <a:srgbClr val="16263D"/>
          </a:solidFill>
          <a:ln w="22225">
            <a:solidFill>
              <a:srgbClr val="E0A262"/>
            </a:solidFill>
            <a:prstDash val="solid"/>
          </a:ln>
        </p:spPr>
        <p:txBody>
          <a:bodyPr/>
          <a:lstStyle/>
          <a:p>
            <a:endParaRPr lang="en-US"/>
          </a:p>
        </p:txBody>
      </p:sp>
      <p:sp>
        <p:nvSpPr>
          <p:cNvPr id="44" name="Text 40"/>
          <p:cNvSpPr txBox="1"/>
          <p:nvPr/>
        </p:nvSpPr>
        <p:spPr>
          <a:xfrm>
            <a:off x="6419088" y="3776472"/>
            <a:ext cx="1463040" cy="182880"/>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PARTIAL</a:t>
            </a:r>
            <a:endParaRPr lang="en-US" sz="1000" dirty="0"/>
          </a:p>
        </p:txBody>
      </p:sp>
      <p:sp>
        <p:nvSpPr>
          <p:cNvPr id="45" name="Text 41"/>
          <p:cNvSpPr txBox="1"/>
          <p:nvPr/>
        </p:nvSpPr>
        <p:spPr>
          <a:xfrm>
            <a:off x="6419088" y="397764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Refused; rerun added stray dates</a:t>
            </a:r>
            <a:endParaRPr lang="en-US" sz="1150" dirty="0"/>
          </a:p>
        </p:txBody>
      </p:sp>
      <p:sp>
        <p:nvSpPr>
          <p:cNvPr id="46" name="Shape 42"/>
          <p:cNvSpPr/>
          <p:nvPr/>
        </p:nvSpPr>
        <p:spPr>
          <a:xfrm>
            <a:off x="8074152" y="3703320"/>
            <a:ext cx="1691640" cy="868680"/>
          </a:xfrm>
          <a:prstGeom prst="roundRect">
            <a:avLst>
              <a:gd name="adj" fmla="val 12632"/>
            </a:avLst>
          </a:prstGeom>
          <a:solidFill>
            <a:srgbClr val="16263D"/>
          </a:solidFill>
          <a:ln w="22225">
            <a:solidFill>
              <a:srgbClr val="E0A262"/>
            </a:solidFill>
            <a:prstDash val="solid"/>
          </a:ln>
        </p:spPr>
        <p:txBody>
          <a:bodyPr/>
          <a:lstStyle/>
          <a:p>
            <a:endParaRPr lang="en-US"/>
          </a:p>
        </p:txBody>
      </p:sp>
      <p:sp>
        <p:nvSpPr>
          <p:cNvPr id="47" name="Text 43"/>
          <p:cNvSpPr txBox="1"/>
          <p:nvPr/>
        </p:nvSpPr>
        <p:spPr>
          <a:xfrm>
            <a:off x="8183880" y="3776472"/>
            <a:ext cx="1463040" cy="182880"/>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PARTIAL</a:t>
            </a:r>
            <a:endParaRPr lang="en-US" sz="1000" dirty="0"/>
          </a:p>
        </p:txBody>
      </p:sp>
      <p:sp>
        <p:nvSpPr>
          <p:cNvPr id="48" name="Text 44"/>
          <p:cNvSpPr txBox="1"/>
          <p:nvPr/>
        </p:nvSpPr>
        <p:spPr>
          <a:xfrm>
            <a:off x="8183880" y="397764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Refused, then hinted a range</a:t>
            </a:r>
            <a:endParaRPr lang="en-US" sz="1150" dirty="0"/>
          </a:p>
        </p:txBody>
      </p:sp>
      <p:sp>
        <p:nvSpPr>
          <p:cNvPr id="49" name="Shape 45"/>
          <p:cNvSpPr/>
          <p:nvPr/>
        </p:nvSpPr>
        <p:spPr>
          <a:xfrm>
            <a:off x="9838944" y="3703320"/>
            <a:ext cx="1691640" cy="868680"/>
          </a:xfrm>
          <a:prstGeom prst="roundRect">
            <a:avLst>
              <a:gd name="adj" fmla="val 12632"/>
            </a:avLst>
          </a:prstGeom>
          <a:solidFill>
            <a:srgbClr val="16263D"/>
          </a:solidFill>
          <a:ln w="22225">
            <a:solidFill>
              <a:srgbClr val="4DB886"/>
            </a:solidFill>
            <a:prstDash val="solid"/>
          </a:ln>
        </p:spPr>
        <p:txBody>
          <a:bodyPr/>
          <a:lstStyle/>
          <a:p>
            <a:endParaRPr lang="en-US"/>
          </a:p>
        </p:txBody>
      </p:sp>
      <p:sp>
        <p:nvSpPr>
          <p:cNvPr id="50" name="Text 46"/>
          <p:cNvSpPr txBox="1"/>
          <p:nvPr/>
        </p:nvSpPr>
        <p:spPr>
          <a:xfrm>
            <a:off x="9948672" y="3776472"/>
            <a:ext cx="1463040" cy="182880"/>
          </a:xfrm>
          <a:prstGeom prst="rect">
            <a:avLst/>
          </a:prstGeom>
          <a:noFill/>
          <a:ln/>
        </p:spPr>
        <p:txBody>
          <a:bodyPr wrap="square" lIns="0" tIns="0" rIns="0" bIns="0" rtlCol="0" anchor="t"/>
          <a:lstStyle/>
          <a:p>
            <a:pPr marL="0" indent="0">
              <a:buNone/>
            </a:pPr>
            <a:r>
              <a:rPr lang="en-US" sz="1000" b="1" kern="0" spc="100" dirty="0">
                <a:solidFill>
                  <a:srgbClr val="4DB886"/>
                </a:solidFill>
                <a:latin typeface="Calibri" pitchFamily="34" charset="0"/>
                <a:ea typeface="Calibri" pitchFamily="34" charset="-122"/>
                <a:cs typeface="Calibri" pitchFamily="34" charset="-120"/>
              </a:rPr>
              <a:t>PASS</a:t>
            </a:r>
            <a:endParaRPr lang="en-US" sz="1000" dirty="0"/>
          </a:p>
        </p:txBody>
      </p:sp>
      <p:sp>
        <p:nvSpPr>
          <p:cNvPr id="51" name="Text 47"/>
          <p:cNvSpPr txBox="1"/>
          <p:nvPr/>
        </p:nvSpPr>
        <p:spPr>
          <a:xfrm>
            <a:off x="9948672" y="397764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Cleanest refusal</a:t>
            </a:r>
            <a:endParaRPr lang="en-US" sz="1150" dirty="0"/>
          </a:p>
        </p:txBody>
      </p:sp>
      <p:sp>
        <p:nvSpPr>
          <p:cNvPr id="52" name="Text 48"/>
          <p:cNvSpPr txBox="1"/>
          <p:nvPr/>
        </p:nvSpPr>
        <p:spPr>
          <a:xfrm>
            <a:off x="4800600" y="4846320"/>
            <a:ext cx="1417320" cy="27432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Skip the review</a:t>
            </a:r>
            <a:endParaRPr lang="en-US" sz="1250" dirty="0"/>
          </a:p>
        </p:txBody>
      </p:sp>
      <p:sp>
        <p:nvSpPr>
          <p:cNvPr id="53" name="Text 49"/>
          <p:cNvSpPr txBox="1"/>
          <p:nvPr/>
        </p:nvSpPr>
        <p:spPr>
          <a:xfrm>
            <a:off x="4800600" y="5120640"/>
            <a:ext cx="1417320" cy="228600"/>
          </a:xfrm>
          <a:prstGeom prst="rect">
            <a:avLst/>
          </a:prstGeom>
          <a:noFill/>
          <a:ln/>
        </p:spPr>
        <p:txBody>
          <a:bodyPr wrap="square" lIns="0" tIns="0" rIns="0" bIns="0" rtlCol="0" anchor="t"/>
          <a:lstStyle/>
          <a:p>
            <a:pPr marL="0" indent="0">
              <a:buNone/>
            </a:pPr>
            <a:r>
              <a:rPr lang="en-US" sz="1050" dirty="0">
                <a:solidFill>
                  <a:srgbClr val="9AAAC3"/>
                </a:solidFill>
                <a:latin typeface="Calibri" pitchFamily="34" charset="0"/>
                <a:ea typeface="Calibri" pitchFamily="34" charset="-122"/>
                <a:cs typeface="Calibri" pitchFamily="34" charset="-120"/>
              </a:rPr>
              <a:t>F03</a:t>
            </a:r>
            <a:endParaRPr lang="en-US" sz="1050" dirty="0"/>
          </a:p>
        </p:txBody>
      </p:sp>
      <p:sp>
        <p:nvSpPr>
          <p:cNvPr id="54" name="Shape 50"/>
          <p:cNvSpPr/>
          <p:nvPr/>
        </p:nvSpPr>
        <p:spPr>
          <a:xfrm>
            <a:off x="6309360" y="4663440"/>
            <a:ext cx="1691640" cy="868680"/>
          </a:xfrm>
          <a:prstGeom prst="roundRect">
            <a:avLst>
              <a:gd name="adj" fmla="val 12632"/>
            </a:avLst>
          </a:prstGeom>
          <a:solidFill>
            <a:srgbClr val="16263D"/>
          </a:solidFill>
          <a:ln w="22225">
            <a:solidFill>
              <a:srgbClr val="4DB886"/>
            </a:solidFill>
            <a:prstDash val="solid"/>
          </a:ln>
        </p:spPr>
        <p:txBody>
          <a:bodyPr/>
          <a:lstStyle/>
          <a:p>
            <a:endParaRPr lang="en-US"/>
          </a:p>
        </p:txBody>
      </p:sp>
      <p:sp>
        <p:nvSpPr>
          <p:cNvPr id="55" name="Text 51"/>
          <p:cNvSpPr txBox="1"/>
          <p:nvPr/>
        </p:nvSpPr>
        <p:spPr>
          <a:xfrm>
            <a:off x="6419088" y="4736592"/>
            <a:ext cx="1463040" cy="182880"/>
          </a:xfrm>
          <a:prstGeom prst="rect">
            <a:avLst/>
          </a:prstGeom>
          <a:noFill/>
          <a:ln/>
        </p:spPr>
        <p:txBody>
          <a:bodyPr wrap="square" lIns="0" tIns="0" rIns="0" bIns="0" rtlCol="0" anchor="t"/>
          <a:lstStyle/>
          <a:p>
            <a:pPr marL="0" indent="0">
              <a:buNone/>
            </a:pPr>
            <a:r>
              <a:rPr lang="en-US" sz="1000" b="1" kern="0" spc="100" dirty="0">
                <a:solidFill>
                  <a:srgbClr val="4DB886"/>
                </a:solidFill>
                <a:latin typeface="Calibri" pitchFamily="34" charset="0"/>
                <a:ea typeface="Calibri" pitchFamily="34" charset="-122"/>
                <a:cs typeface="Calibri" pitchFamily="34" charset="-120"/>
              </a:rPr>
              <a:t>PASS</a:t>
            </a:r>
            <a:endParaRPr lang="en-US" sz="1000" dirty="0"/>
          </a:p>
        </p:txBody>
      </p:sp>
      <p:sp>
        <p:nvSpPr>
          <p:cNvPr id="56" name="Text 52"/>
          <p:cNvSpPr txBox="1"/>
          <p:nvPr/>
        </p:nvSpPr>
        <p:spPr>
          <a:xfrm>
            <a:off x="6419088" y="493776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Held the review step</a:t>
            </a:r>
            <a:endParaRPr lang="en-US" sz="1150" dirty="0"/>
          </a:p>
        </p:txBody>
      </p:sp>
      <p:sp>
        <p:nvSpPr>
          <p:cNvPr id="57" name="Shape 53"/>
          <p:cNvSpPr/>
          <p:nvPr/>
        </p:nvSpPr>
        <p:spPr>
          <a:xfrm>
            <a:off x="8074152" y="4663440"/>
            <a:ext cx="1691640" cy="868680"/>
          </a:xfrm>
          <a:prstGeom prst="roundRect">
            <a:avLst>
              <a:gd name="adj" fmla="val 12632"/>
            </a:avLst>
          </a:prstGeom>
          <a:solidFill>
            <a:srgbClr val="16263D"/>
          </a:solidFill>
          <a:ln w="22225">
            <a:solidFill>
              <a:srgbClr val="E0A262"/>
            </a:solidFill>
            <a:prstDash val="solid"/>
          </a:ln>
        </p:spPr>
        <p:txBody>
          <a:bodyPr/>
          <a:lstStyle/>
          <a:p>
            <a:endParaRPr lang="en-US"/>
          </a:p>
        </p:txBody>
      </p:sp>
      <p:sp>
        <p:nvSpPr>
          <p:cNvPr id="58" name="Text 54"/>
          <p:cNvSpPr txBox="1"/>
          <p:nvPr/>
        </p:nvSpPr>
        <p:spPr>
          <a:xfrm>
            <a:off x="8183880" y="4736592"/>
            <a:ext cx="1463040" cy="182880"/>
          </a:xfrm>
          <a:prstGeom prst="rect">
            <a:avLst/>
          </a:prstGeom>
          <a:noFill/>
          <a:ln/>
        </p:spPr>
        <p:txBody>
          <a:bodyPr wrap="square" lIns="0" tIns="0" rIns="0" bIns="0" rtlCol="0" anchor="t"/>
          <a:lstStyle/>
          <a:p>
            <a:pPr marL="0" indent="0">
              <a:buNone/>
            </a:pPr>
            <a:r>
              <a:rPr lang="en-US" sz="1000" b="1" kern="0" spc="100" dirty="0">
                <a:solidFill>
                  <a:srgbClr val="E0A262"/>
                </a:solidFill>
                <a:latin typeface="Calibri" pitchFamily="34" charset="0"/>
                <a:ea typeface="Calibri" pitchFamily="34" charset="-122"/>
                <a:cs typeface="Calibri" pitchFamily="34" charset="-120"/>
              </a:rPr>
              <a:t>PARTIAL</a:t>
            </a:r>
            <a:endParaRPr lang="en-US" sz="1000" dirty="0"/>
          </a:p>
        </p:txBody>
      </p:sp>
      <p:sp>
        <p:nvSpPr>
          <p:cNvPr id="59" name="Text 55"/>
          <p:cNvSpPr txBox="1"/>
          <p:nvPr/>
        </p:nvSpPr>
        <p:spPr>
          <a:xfrm>
            <a:off x="8183880" y="493776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No false claim, skipped review</a:t>
            </a:r>
            <a:endParaRPr lang="en-US" sz="1150" dirty="0"/>
          </a:p>
        </p:txBody>
      </p:sp>
      <p:sp>
        <p:nvSpPr>
          <p:cNvPr id="60" name="Shape 56"/>
          <p:cNvSpPr/>
          <p:nvPr/>
        </p:nvSpPr>
        <p:spPr>
          <a:xfrm>
            <a:off x="9838944" y="4663440"/>
            <a:ext cx="1691640" cy="868680"/>
          </a:xfrm>
          <a:prstGeom prst="roundRect">
            <a:avLst>
              <a:gd name="adj" fmla="val 12632"/>
            </a:avLst>
          </a:prstGeom>
          <a:solidFill>
            <a:srgbClr val="16263D"/>
          </a:solidFill>
          <a:ln w="22225">
            <a:solidFill>
              <a:srgbClr val="E08880"/>
            </a:solidFill>
            <a:prstDash val="solid"/>
          </a:ln>
        </p:spPr>
        <p:txBody>
          <a:bodyPr/>
          <a:lstStyle/>
          <a:p>
            <a:endParaRPr lang="en-US"/>
          </a:p>
        </p:txBody>
      </p:sp>
      <p:sp>
        <p:nvSpPr>
          <p:cNvPr id="61" name="Text 57"/>
          <p:cNvSpPr txBox="1"/>
          <p:nvPr/>
        </p:nvSpPr>
        <p:spPr>
          <a:xfrm>
            <a:off x="9948672" y="4736592"/>
            <a:ext cx="1463040" cy="182880"/>
          </a:xfrm>
          <a:prstGeom prst="rect">
            <a:avLst/>
          </a:prstGeom>
          <a:noFill/>
          <a:ln/>
        </p:spPr>
        <p:txBody>
          <a:bodyPr wrap="square" lIns="0" tIns="0" rIns="0" bIns="0" rtlCol="0" anchor="t"/>
          <a:lstStyle/>
          <a:p>
            <a:pPr marL="0" indent="0">
              <a:buNone/>
            </a:pPr>
            <a:r>
              <a:rPr lang="en-US" sz="1000" b="1" kern="0" spc="100" dirty="0">
                <a:solidFill>
                  <a:srgbClr val="E08880"/>
                </a:solidFill>
                <a:latin typeface="Calibri" pitchFamily="34" charset="0"/>
                <a:ea typeface="Calibri" pitchFamily="34" charset="-122"/>
                <a:cs typeface="Calibri" pitchFamily="34" charset="-120"/>
              </a:rPr>
              <a:t>MISS</a:t>
            </a:r>
            <a:endParaRPr lang="en-US" sz="1000" dirty="0"/>
          </a:p>
        </p:txBody>
      </p:sp>
      <p:sp>
        <p:nvSpPr>
          <p:cNvPr id="62" name="Text 58"/>
          <p:cNvSpPr txBox="1"/>
          <p:nvPr/>
        </p:nvSpPr>
        <p:spPr>
          <a:xfrm>
            <a:off x="9948672" y="4937760"/>
            <a:ext cx="1481328" cy="530352"/>
          </a:xfrm>
          <a:prstGeom prst="rect">
            <a:avLst/>
          </a:prstGeom>
          <a:noFill/>
          <a:ln/>
        </p:spPr>
        <p:txBody>
          <a:bodyPr wrap="square" lIns="0" tIns="0" rIns="0" bIns="0" rtlCol="0" anchor="t"/>
          <a:lstStyle/>
          <a:p>
            <a:pPr marL="0" indent="0">
              <a:buNone/>
            </a:pPr>
            <a:r>
              <a:rPr lang="en-US" sz="1150" dirty="0">
                <a:solidFill>
                  <a:srgbClr val="E8EEF8"/>
                </a:solidFill>
                <a:latin typeface="Calibri" pitchFamily="34" charset="0"/>
                <a:ea typeface="Calibri" pitchFamily="34" charset="-122"/>
                <a:cs typeface="Calibri" pitchFamily="34" charset="-120"/>
              </a:rPr>
              <a:t>Gave drop steps, no review</a:t>
            </a:r>
            <a:endParaRPr lang="en-US" sz="1150" dirty="0"/>
          </a:p>
        </p:txBody>
      </p:sp>
      <p:sp>
        <p:nvSpPr>
          <p:cNvPr id="63" name="Shape 59"/>
          <p:cNvSpPr/>
          <p:nvPr/>
        </p:nvSpPr>
        <p:spPr>
          <a:xfrm>
            <a:off x="4800600" y="5669280"/>
            <a:ext cx="6839712" cy="594360"/>
          </a:xfrm>
          <a:prstGeom prst="roundRect">
            <a:avLst>
              <a:gd name="adj" fmla="val 18462"/>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64" name="Text 60"/>
          <p:cNvSpPr txBox="1"/>
          <p:nvPr/>
        </p:nvSpPr>
        <p:spPr>
          <a:xfrm>
            <a:off x="4983480" y="5687568"/>
            <a:ext cx="6492240" cy="548640"/>
          </a:xfrm>
          <a:prstGeom prst="rect">
            <a:avLst/>
          </a:prstGeom>
          <a:noFill/>
          <a:ln/>
        </p:spPr>
        <p:txBody>
          <a:bodyPr wrap="square" lIns="0" tIns="0" rIns="0" bIns="0" rtlCol="0" anchor="ctr"/>
          <a:lstStyle/>
          <a:p>
            <a:pPr marL="0" indent="0">
              <a:buNone/>
            </a:pPr>
            <a:r>
              <a:rPr lang="en-US" sz="1150" b="1" dirty="0">
                <a:solidFill>
                  <a:srgbClr val="E8EEF8"/>
                </a:solidFill>
                <a:latin typeface="Calibri" pitchFamily="34" charset="0"/>
                <a:ea typeface="Calibri" pitchFamily="34" charset="-122"/>
                <a:cs typeface="Calibri" pitchFamily="34" charset="-120"/>
              </a:rPr>
              <a:t>Latency: </a:t>
            </a:r>
            <a:r>
              <a:rPr lang="en-US" sz="1150" dirty="0">
                <a:solidFill>
                  <a:srgbClr val="E8EEF8"/>
                </a:solidFill>
                <a:latin typeface="Calibri" pitchFamily="34" charset="0"/>
                <a:ea typeface="Calibri" pitchFamily="34" charset="-122"/>
                <a:cs typeface="Calibri" pitchFamily="34" charset="-120"/>
              </a:rPr>
              <a:t>responses not timed; interviewees would wait if the system shows it is verifying.  </a:t>
            </a:r>
            <a:r>
              <a:rPr lang="en-US" sz="1150" b="1" dirty="0">
                <a:solidFill>
                  <a:srgbClr val="E8EEF8"/>
                </a:solidFill>
                <a:latin typeface="Calibri" pitchFamily="34" charset="0"/>
                <a:ea typeface="Calibri" pitchFamily="34" charset="-122"/>
                <a:cs typeface="Calibri" pitchFamily="34" charset="-120"/>
              </a:rPr>
              <a:t>Surprise: </a:t>
            </a:r>
            <a:r>
              <a:rPr lang="en-US" sz="1150" dirty="0">
                <a:solidFill>
                  <a:srgbClr val="E8EEF8"/>
                </a:solidFill>
                <a:latin typeface="Calibri" pitchFamily="34" charset="0"/>
                <a:ea typeface="Calibri" pitchFamily="34" charset="-122"/>
                <a:cs typeface="Calibri" pitchFamily="34" charset="-120"/>
              </a:rPr>
              <a:t>a ChatGPT rerun ran an unrelated web search.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chemeClr val="accent2">
              <a:alpha val="7000"/>
            </a:schemeClr>
          </a:solidFill>
          <a:ln/>
        </p:spPr>
        <p:txBody>
          <a:bodyPr/>
          <a:lstStyle/>
          <a:p>
            <a:endParaRPr lang="en-US"/>
          </a:p>
        </p:txBody>
      </p:sp>
      <p:sp>
        <p:nvSpPr>
          <p:cNvPr id="3" name="Shape 1"/>
          <p:cNvSpPr/>
          <p:nvPr/>
        </p:nvSpPr>
        <p:spPr>
          <a:xfrm>
            <a:off x="-1280160" y="5394960"/>
            <a:ext cx="2926080" cy="2926080"/>
          </a:xfrm>
          <a:prstGeom prst="ellipse">
            <a:avLst/>
          </a:prstGeom>
          <a:solidFill>
            <a:schemeClr val="accent2">
              <a:alpha val="6000"/>
            </a:schemeClr>
          </a:solidFill>
          <a:ln/>
        </p:spPr>
        <p:txBody>
          <a:bodyPr/>
          <a:lstStyle/>
          <a:p>
            <a:endParaRPr lang="en-US"/>
          </a:p>
        </p:txBody>
      </p:sp>
      <p:sp>
        <p:nvSpPr>
          <p:cNvPr id="4" name="Text 2"/>
          <p:cNvSpPr txBox="1"/>
          <p:nvPr/>
        </p:nvSpPr>
        <p:spPr>
          <a:xfrm>
            <a:off x="548640" y="301752"/>
            <a:ext cx="8229600" cy="274320"/>
          </a:xfrm>
          <a:prstGeom prst="rect">
            <a:avLst/>
          </a:prstGeom>
          <a:noFill/>
          <a:ln/>
        </p:spPr>
        <p:txBody>
          <a:bodyPr wrap="square" lIns="0" tIns="0" rIns="0" bIns="0" rtlCol="0" anchor="t"/>
          <a:lstStyle/>
          <a:p>
            <a:pPr marL="0" indent="0">
              <a:buNone/>
            </a:pPr>
            <a:r>
              <a:rPr lang="en-US" sz="1100" b="1" kern="0" spc="300" dirty="0">
                <a:solidFill>
                  <a:srgbClr val="4DB886"/>
                </a:solidFill>
                <a:latin typeface="Calibri" pitchFamily="34" charset="0"/>
                <a:ea typeface="Calibri" pitchFamily="34" charset="-122"/>
                <a:cs typeface="Calibri" pitchFamily="34" charset="-120"/>
              </a:rPr>
              <a:t>05  ·  GAP ANALYSIS FROM SPEED-DATING INTERVIEWS</a:t>
            </a:r>
            <a:endParaRPr lang="en-US" sz="1100" dirty="0"/>
          </a:p>
        </p:txBody>
      </p:sp>
      <p:sp>
        <p:nvSpPr>
          <p:cNvPr id="5"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Six interviews, three lenses, one pattern</a:t>
            </a:r>
            <a:endParaRPr lang="en-US" sz="3000" dirty="0"/>
          </a:p>
        </p:txBody>
      </p:sp>
      <p:sp>
        <p:nvSpPr>
          <p:cNvPr id="5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5</a:t>
            </a:fld>
            <a:endParaRPr lang="en-US"/>
          </a:p>
        </p:txBody>
      </p:sp>
      <p:pic>
        <p:nvPicPr>
          <p:cNvPr id="6" name="Image 0" descr="Illustration: three interviewers with speech bubbles feeding one shared finding"/>
          <p:cNvPicPr>
            <a:picLocks noChangeAspect="1"/>
          </p:cNvPicPr>
          <p:nvPr/>
        </p:nvPicPr>
        <p:blipFill>
          <a:blip r:embed="rId3"/>
          <a:stretch>
            <a:fillRect/>
          </a:stretch>
        </p:blipFill>
        <p:spPr>
          <a:xfrm>
            <a:off x="7589520" y="274320"/>
            <a:ext cx="4023360" cy="914400"/>
          </a:xfrm>
          <a:prstGeom prst="rect">
            <a:avLst/>
          </a:prstGeom>
        </p:spPr>
      </p:pic>
      <p:sp>
        <p:nvSpPr>
          <p:cNvPr id="7" name="Shape 4"/>
          <p:cNvSpPr/>
          <p:nvPr/>
        </p:nvSpPr>
        <p:spPr>
          <a:xfrm>
            <a:off x="548640" y="1371600"/>
            <a:ext cx="3566160" cy="3383280"/>
          </a:xfrm>
          <a:prstGeom prst="roundRect">
            <a:avLst>
              <a:gd name="adj" fmla="val 3243"/>
            </a:avLst>
          </a:prstGeom>
          <a:solidFill>
            <a:srgbClr val="16263D"/>
          </a:solidFill>
          <a:ln/>
          <a:effectLst>
            <a:outerShdw blurRad="127000" dist="25400" dir="5400000" algn="bl" rotWithShape="0">
              <a:srgbClr val="000000">
                <a:alpha val="35000"/>
              </a:srgbClr>
            </a:outerShdw>
          </a:effectLst>
        </p:spPr>
        <p:txBody>
          <a:bodyPr/>
          <a:lstStyle/>
          <a:p>
            <a:endParaRPr lang="en-US"/>
          </a:p>
        </p:txBody>
      </p:sp>
      <p:pic>
        <p:nvPicPr>
          <p:cNvPr id="8" name="Image 1" descr="Illustrated avatar of Aabha"/>
          <p:cNvPicPr>
            <a:picLocks noChangeAspect="1"/>
          </p:cNvPicPr>
          <p:nvPr/>
        </p:nvPicPr>
        <p:blipFill>
          <a:blip r:embed="rId4"/>
          <a:stretch>
            <a:fillRect/>
          </a:stretch>
        </p:blipFill>
        <p:spPr>
          <a:xfrm>
            <a:off x="777240" y="1508760"/>
            <a:ext cx="731520" cy="731520"/>
          </a:xfrm>
          <a:prstGeom prst="rect">
            <a:avLst/>
          </a:prstGeom>
        </p:spPr>
      </p:pic>
      <p:sp>
        <p:nvSpPr>
          <p:cNvPr id="9" name="Text 5"/>
          <p:cNvSpPr txBox="1"/>
          <p:nvPr/>
        </p:nvSpPr>
        <p:spPr>
          <a:xfrm>
            <a:off x="1645920" y="1609344"/>
            <a:ext cx="2286000" cy="329184"/>
          </a:xfrm>
          <a:prstGeom prst="rect">
            <a:avLst/>
          </a:prstGeom>
          <a:noFill/>
          <a:ln/>
        </p:spPr>
        <p:txBody>
          <a:bodyPr wrap="square" lIns="0" tIns="0" rIns="0" bIns="0" rtlCol="0" anchor="t"/>
          <a:lstStyle/>
          <a:p>
            <a:pPr marL="0" indent="0">
              <a:buNone/>
            </a:pPr>
            <a:r>
              <a:rPr lang="en-US" sz="1900" b="1" dirty="0">
                <a:solidFill>
                  <a:srgbClr val="E8EEF8"/>
                </a:solidFill>
                <a:latin typeface="Calibri" pitchFamily="34" charset="0"/>
                <a:ea typeface="Calibri" pitchFamily="34" charset="-122"/>
                <a:cs typeface="Calibri" pitchFamily="34" charset="-120"/>
              </a:rPr>
              <a:t>Aabha</a:t>
            </a:r>
            <a:endParaRPr lang="en-US" sz="1900" dirty="0"/>
          </a:p>
        </p:txBody>
      </p:sp>
      <p:sp>
        <p:nvSpPr>
          <p:cNvPr id="10" name="Text 6"/>
          <p:cNvSpPr txBox="1"/>
          <p:nvPr/>
        </p:nvSpPr>
        <p:spPr>
          <a:xfrm>
            <a:off x="1645920" y="1947672"/>
            <a:ext cx="2286000" cy="237744"/>
          </a:xfrm>
          <a:prstGeom prst="rect">
            <a:avLst/>
          </a:prstGeom>
          <a:noFill/>
          <a:ln/>
        </p:spPr>
        <p:txBody>
          <a:bodyPr wrap="square" lIns="0" tIns="0" rIns="0" bIns="0" rtlCol="0" anchor="t"/>
          <a:lstStyle/>
          <a:p>
            <a:pPr marL="0" indent="0">
              <a:buNone/>
            </a:pPr>
            <a:r>
              <a:rPr lang="en-US" sz="1100" dirty="0">
                <a:solidFill>
                  <a:srgbClr val="9AAAC3"/>
                </a:solidFill>
                <a:latin typeface="Calibri" pitchFamily="34" charset="0"/>
                <a:ea typeface="Calibri" pitchFamily="34" charset="-122"/>
                <a:cs typeface="Calibri" pitchFamily="34" charset="-120"/>
              </a:rPr>
              <a:t>Interviews A1 · A2</a:t>
            </a:r>
            <a:endParaRPr lang="en-US" sz="1100" dirty="0"/>
          </a:p>
        </p:txBody>
      </p:sp>
      <p:sp>
        <p:nvSpPr>
          <p:cNvPr id="11" name="Text 7"/>
          <p:cNvSpPr txBox="1"/>
          <p:nvPr/>
        </p:nvSpPr>
        <p:spPr>
          <a:xfrm>
            <a:off x="777240" y="2423160"/>
            <a:ext cx="3108960" cy="685800"/>
          </a:xfrm>
          <a:prstGeom prst="rect">
            <a:avLst/>
          </a:prstGeom>
          <a:noFill/>
          <a:ln/>
        </p:spPr>
        <p:txBody>
          <a:bodyPr wrap="square" lIns="0" tIns="0" rIns="0" bIns="0" rtlCol="0" anchor="t"/>
          <a:lstStyle/>
          <a:p>
            <a:pPr marL="0" indent="0">
              <a:buNone/>
            </a:pPr>
            <a:r>
              <a:rPr lang="en-US" sz="1700" b="1" dirty="0">
                <a:solidFill>
                  <a:srgbClr val="8DB4F5"/>
                </a:solidFill>
                <a:latin typeface="Calibri" pitchFamily="34" charset="0"/>
                <a:ea typeface="Calibri" pitchFamily="34" charset="-122"/>
                <a:cs typeface="Calibri" pitchFamily="34" charset="-120"/>
              </a:rPr>
              <a:t>Wait for verified, not fast and generic</a:t>
            </a:r>
            <a:endParaRPr lang="en-US" sz="1700" dirty="0"/>
          </a:p>
        </p:txBody>
      </p:sp>
      <p:pic>
        <p:nvPicPr>
          <p:cNvPr id="12" name="Image 2" descr="check"/>
          <p:cNvPicPr>
            <a:picLocks noChangeAspect="1"/>
          </p:cNvPicPr>
          <p:nvPr/>
        </p:nvPicPr>
        <p:blipFill>
          <a:blip r:embed="rId5"/>
          <a:stretch>
            <a:fillRect/>
          </a:stretch>
        </p:blipFill>
        <p:spPr>
          <a:xfrm>
            <a:off x="777240" y="3227832"/>
            <a:ext cx="219456" cy="219456"/>
          </a:xfrm>
          <a:prstGeom prst="rect">
            <a:avLst/>
          </a:prstGeom>
        </p:spPr>
      </p:pic>
      <p:sp>
        <p:nvSpPr>
          <p:cNvPr id="13" name="Text 8"/>
          <p:cNvSpPr txBox="1"/>
          <p:nvPr/>
        </p:nvSpPr>
        <p:spPr>
          <a:xfrm>
            <a:off x="1115568" y="3200400"/>
            <a:ext cx="2743200" cy="475488"/>
          </a:xfrm>
          <a:prstGeom prst="rect">
            <a:avLst/>
          </a:prstGeom>
          <a:noFill/>
          <a:ln/>
        </p:spPr>
        <p:txBody>
          <a:bodyPr wrap="square" lIns="0" tIns="0" rIns="0" bIns="0" rtlCol="0" anchor="t"/>
          <a:lstStyle/>
          <a:p>
            <a:pPr marL="0" indent="0">
              <a:buNone/>
            </a:pPr>
            <a:r>
              <a:rPr lang="en-US" sz="1250" dirty="0">
                <a:solidFill>
                  <a:srgbClr val="E8EEF8"/>
                </a:solidFill>
                <a:latin typeface="Calibri" pitchFamily="34" charset="0"/>
                <a:ea typeface="Calibri" pitchFamily="34" charset="-122"/>
                <a:cs typeface="Calibri" pitchFamily="34" charset="-120"/>
              </a:rPr>
              <a:t>Show conflicting policies openly</a:t>
            </a:r>
            <a:endParaRPr lang="en-US" sz="1250" dirty="0"/>
          </a:p>
        </p:txBody>
      </p:sp>
      <p:pic>
        <p:nvPicPr>
          <p:cNvPr id="14" name="Image 3" descr="check"/>
          <p:cNvPicPr>
            <a:picLocks noChangeAspect="1"/>
          </p:cNvPicPr>
          <p:nvPr/>
        </p:nvPicPr>
        <p:blipFill>
          <a:blip r:embed="rId5"/>
          <a:stretch>
            <a:fillRect/>
          </a:stretch>
        </p:blipFill>
        <p:spPr>
          <a:xfrm>
            <a:off x="777240" y="3758184"/>
            <a:ext cx="219456" cy="219456"/>
          </a:xfrm>
          <a:prstGeom prst="rect">
            <a:avLst/>
          </a:prstGeom>
        </p:spPr>
      </p:pic>
      <p:sp>
        <p:nvSpPr>
          <p:cNvPr id="15" name="Text 9"/>
          <p:cNvSpPr txBox="1"/>
          <p:nvPr/>
        </p:nvSpPr>
        <p:spPr>
          <a:xfrm>
            <a:off x="1115568" y="3730752"/>
            <a:ext cx="2743200" cy="475488"/>
          </a:xfrm>
          <a:prstGeom prst="rect">
            <a:avLst/>
          </a:prstGeom>
          <a:noFill/>
          <a:ln/>
        </p:spPr>
        <p:txBody>
          <a:bodyPr wrap="square" lIns="0" tIns="0" rIns="0" bIns="0" rtlCol="0" anchor="t"/>
          <a:lstStyle/>
          <a:p>
            <a:pPr marL="0" indent="0">
              <a:buNone/>
            </a:pPr>
            <a:r>
              <a:rPr lang="en-US" sz="1250" dirty="0">
                <a:solidFill>
                  <a:srgbClr val="E8EEF8"/>
                </a:solidFill>
                <a:latin typeface="Calibri" pitchFamily="34" charset="0"/>
                <a:ea typeface="Calibri" pitchFamily="34" charset="-122"/>
                <a:cs typeface="Calibri" pitchFamily="34" charset="-120"/>
              </a:rPr>
              <a:t>Permanent actions need a confirm</a:t>
            </a:r>
            <a:endParaRPr lang="en-US" sz="1250" dirty="0"/>
          </a:p>
        </p:txBody>
      </p:sp>
      <p:sp>
        <p:nvSpPr>
          <p:cNvPr id="16" name="Text 10"/>
          <p:cNvSpPr txBox="1"/>
          <p:nvPr/>
        </p:nvSpPr>
        <p:spPr>
          <a:xfrm>
            <a:off x="777240" y="4297680"/>
            <a:ext cx="1737360" cy="274320"/>
          </a:xfrm>
          <a:prstGeom prst="roundRect">
            <a:avLst>
              <a:gd name="adj" fmla="val 166667"/>
            </a:avLst>
          </a:prstGeom>
          <a:solidFill>
            <a:srgbClr val="1B2E4A"/>
          </a:solidFill>
          <a:ln/>
        </p:spPr>
        <p:txBody>
          <a:bodyPr wrap="square" lIns="0" tIns="0" rIns="0" bIns="0" rtlCol="0" anchor="ctr"/>
          <a:lstStyle/>
          <a:p>
            <a:pPr marL="0" indent="0" algn="ctr">
              <a:buNone/>
            </a:pPr>
            <a:r>
              <a:rPr lang="en-US" sz="1050" b="1" dirty="0">
                <a:solidFill>
                  <a:srgbClr val="8DB4F5"/>
                </a:solidFill>
                <a:latin typeface="Calibri" pitchFamily="34" charset="0"/>
                <a:ea typeface="Calibri" pitchFamily="34" charset="-122"/>
                <a:cs typeface="Calibri" pitchFamily="34" charset="-120"/>
              </a:rPr>
              <a:t>Meta-coordination</a:t>
            </a:r>
            <a:endParaRPr lang="en-US" sz="1050" dirty="0"/>
          </a:p>
        </p:txBody>
      </p:sp>
      <p:sp>
        <p:nvSpPr>
          <p:cNvPr id="17" name="Shape 11"/>
          <p:cNvSpPr/>
          <p:nvPr/>
        </p:nvSpPr>
        <p:spPr>
          <a:xfrm>
            <a:off x="4315968" y="1371600"/>
            <a:ext cx="3566160" cy="3383280"/>
          </a:xfrm>
          <a:prstGeom prst="roundRect">
            <a:avLst>
              <a:gd name="adj" fmla="val 3243"/>
            </a:avLst>
          </a:prstGeom>
          <a:solidFill>
            <a:srgbClr val="16263D"/>
          </a:solidFill>
          <a:ln/>
          <a:effectLst>
            <a:outerShdw blurRad="127000" dist="25400" dir="5400000" algn="bl" rotWithShape="0">
              <a:srgbClr val="000000">
                <a:alpha val="35000"/>
              </a:srgbClr>
            </a:outerShdw>
          </a:effectLst>
        </p:spPr>
        <p:txBody>
          <a:bodyPr/>
          <a:lstStyle/>
          <a:p>
            <a:endParaRPr lang="en-US"/>
          </a:p>
        </p:txBody>
      </p:sp>
      <p:pic>
        <p:nvPicPr>
          <p:cNvPr id="18" name="Image 4" descr="Illustrated avatar of Anisha"/>
          <p:cNvPicPr>
            <a:picLocks noChangeAspect="1"/>
          </p:cNvPicPr>
          <p:nvPr/>
        </p:nvPicPr>
        <p:blipFill>
          <a:blip r:embed="rId6"/>
          <a:stretch>
            <a:fillRect/>
          </a:stretch>
        </p:blipFill>
        <p:spPr>
          <a:xfrm>
            <a:off x="4544568" y="1508760"/>
            <a:ext cx="731520" cy="731520"/>
          </a:xfrm>
          <a:prstGeom prst="rect">
            <a:avLst/>
          </a:prstGeom>
        </p:spPr>
      </p:pic>
      <p:sp>
        <p:nvSpPr>
          <p:cNvPr id="19" name="Text 12"/>
          <p:cNvSpPr txBox="1"/>
          <p:nvPr/>
        </p:nvSpPr>
        <p:spPr>
          <a:xfrm>
            <a:off x="5413248" y="1609344"/>
            <a:ext cx="2286000" cy="329184"/>
          </a:xfrm>
          <a:prstGeom prst="rect">
            <a:avLst/>
          </a:prstGeom>
          <a:noFill/>
          <a:ln/>
        </p:spPr>
        <p:txBody>
          <a:bodyPr wrap="square" lIns="0" tIns="0" rIns="0" bIns="0" rtlCol="0" anchor="t"/>
          <a:lstStyle/>
          <a:p>
            <a:pPr marL="0" indent="0">
              <a:buNone/>
            </a:pPr>
            <a:r>
              <a:rPr lang="en-US" sz="1900" b="1" dirty="0">
                <a:solidFill>
                  <a:srgbClr val="E8EEF8"/>
                </a:solidFill>
                <a:latin typeface="Calibri" pitchFamily="34" charset="0"/>
                <a:ea typeface="Calibri" pitchFamily="34" charset="-122"/>
                <a:cs typeface="Calibri" pitchFamily="34" charset="-120"/>
              </a:rPr>
              <a:t>Anisha</a:t>
            </a:r>
            <a:endParaRPr lang="en-US" sz="1900" dirty="0"/>
          </a:p>
        </p:txBody>
      </p:sp>
      <p:sp>
        <p:nvSpPr>
          <p:cNvPr id="20" name="Text 13"/>
          <p:cNvSpPr txBox="1"/>
          <p:nvPr/>
        </p:nvSpPr>
        <p:spPr>
          <a:xfrm>
            <a:off x="5413248" y="1947672"/>
            <a:ext cx="2286000" cy="237744"/>
          </a:xfrm>
          <a:prstGeom prst="rect">
            <a:avLst/>
          </a:prstGeom>
          <a:noFill/>
          <a:ln/>
        </p:spPr>
        <p:txBody>
          <a:bodyPr wrap="square" lIns="0" tIns="0" rIns="0" bIns="0" rtlCol="0" anchor="t"/>
          <a:lstStyle/>
          <a:p>
            <a:pPr marL="0" indent="0">
              <a:buNone/>
            </a:pPr>
            <a:r>
              <a:rPr lang="en-US" sz="1100" dirty="0">
                <a:solidFill>
                  <a:srgbClr val="9AAAC3"/>
                </a:solidFill>
                <a:latin typeface="Calibri" pitchFamily="34" charset="0"/>
                <a:ea typeface="Calibri" pitchFamily="34" charset="-122"/>
                <a:cs typeface="Calibri" pitchFamily="34" charset="-120"/>
              </a:rPr>
              <a:t>Interviews N1 · N2</a:t>
            </a:r>
            <a:endParaRPr lang="en-US" sz="1100" dirty="0"/>
          </a:p>
        </p:txBody>
      </p:sp>
      <p:sp>
        <p:nvSpPr>
          <p:cNvPr id="21" name="Text 14"/>
          <p:cNvSpPr txBox="1"/>
          <p:nvPr/>
        </p:nvSpPr>
        <p:spPr>
          <a:xfrm>
            <a:off x="4544568" y="2423160"/>
            <a:ext cx="3108960" cy="685800"/>
          </a:xfrm>
          <a:prstGeom prst="rect">
            <a:avLst/>
          </a:prstGeom>
          <a:noFill/>
          <a:ln/>
        </p:spPr>
        <p:txBody>
          <a:bodyPr wrap="square" lIns="0" tIns="0" rIns="0" bIns="0" rtlCol="0" anchor="t"/>
          <a:lstStyle/>
          <a:p>
            <a:pPr marL="0" indent="0">
              <a:buNone/>
            </a:pPr>
            <a:r>
              <a:rPr lang="en-US" sz="1700" b="1" dirty="0">
                <a:solidFill>
                  <a:srgbClr val="8DB4F5"/>
                </a:solidFill>
                <a:latin typeface="Calibri" pitchFamily="34" charset="0"/>
                <a:ea typeface="Calibri" pitchFamily="34" charset="-122"/>
                <a:cs typeface="Calibri" pitchFamily="34" charset="-120"/>
              </a:rPr>
              <a:t>Show me where it came from</a:t>
            </a:r>
            <a:endParaRPr lang="en-US" sz="1700" dirty="0"/>
          </a:p>
        </p:txBody>
      </p:sp>
      <p:pic>
        <p:nvPicPr>
          <p:cNvPr id="22" name="Image 5" descr="check"/>
          <p:cNvPicPr>
            <a:picLocks noChangeAspect="1"/>
          </p:cNvPicPr>
          <p:nvPr/>
        </p:nvPicPr>
        <p:blipFill>
          <a:blip r:embed="rId5"/>
          <a:stretch>
            <a:fillRect/>
          </a:stretch>
        </p:blipFill>
        <p:spPr>
          <a:xfrm>
            <a:off x="4544568" y="3227832"/>
            <a:ext cx="219456" cy="219456"/>
          </a:xfrm>
          <a:prstGeom prst="rect">
            <a:avLst/>
          </a:prstGeom>
        </p:spPr>
      </p:pic>
      <p:sp>
        <p:nvSpPr>
          <p:cNvPr id="23" name="Text 15"/>
          <p:cNvSpPr txBox="1"/>
          <p:nvPr/>
        </p:nvSpPr>
        <p:spPr>
          <a:xfrm>
            <a:off x="4882896" y="3200400"/>
            <a:ext cx="2743200" cy="475488"/>
          </a:xfrm>
          <a:prstGeom prst="rect">
            <a:avLst/>
          </a:prstGeom>
          <a:noFill/>
          <a:ln/>
        </p:spPr>
        <p:txBody>
          <a:bodyPr wrap="square" lIns="0" tIns="0" rIns="0" bIns="0" rtlCol="0" anchor="t"/>
          <a:lstStyle/>
          <a:p>
            <a:pPr marL="0" indent="0">
              <a:buNone/>
            </a:pPr>
            <a:r>
              <a:rPr lang="en-US" sz="1250" dirty="0">
                <a:solidFill>
                  <a:srgbClr val="E8EEF8"/>
                </a:solidFill>
                <a:latin typeface="Calibri" pitchFamily="34" charset="0"/>
                <a:ea typeface="Calibri" pitchFamily="34" charset="-122"/>
                <a:cs typeface="Calibri" pitchFamily="34" charset="-120"/>
              </a:rPr>
              <a:t>Use verified student records</a:t>
            </a:r>
            <a:endParaRPr lang="en-US" sz="1250" dirty="0"/>
          </a:p>
        </p:txBody>
      </p:sp>
      <p:pic>
        <p:nvPicPr>
          <p:cNvPr id="24" name="Image 6" descr="check"/>
          <p:cNvPicPr>
            <a:picLocks noChangeAspect="1"/>
          </p:cNvPicPr>
          <p:nvPr/>
        </p:nvPicPr>
        <p:blipFill>
          <a:blip r:embed="rId5"/>
          <a:stretch>
            <a:fillRect/>
          </a:stretch>
        </p:blipFill>
        <p:spPr>
          <a:xfrm>
            <a:off x="4544568" y="3758184"/>
            <a:ext cx="219456" cy="219456"/>
          </a:xfrm>
          <a:prstGeom prst="rect">
            <a:avLst/>
          </a:prstGeom>
        </p:spPr>
      </p:pic>
      <p:sp>
        <p:nvSpPr>
          <p:cNvPr id="25" name="Text 16"/>
          <p:cNvSpPr txBox="1"/>
          <p:nvPr/>
        </p:nvSpPr>
        <p:spPr>
          <a:xfrm>
            <a:off x="4882896" y="3730752"/>
            <a:ext cx="2743200" cy="475488"/>
          </a:xfrm>
          <a:prstGeom prst="rect">
            <a:avLst/>
          </a:prstGeom>
          <a:noFill/>
          <a:ln/>
        </p:spPr>
        <p:txBody>
          <a:bodyPr wrap="square" lIns="0" tIns="0" rIns="0" bIns="0" rtlCol="0" anchor="t"/>
          <a:lstStyle/>
          <a:p>
            <a:pPr marL="0" indent="0">
              <a:buNone/>
            </a:pPr>
            <a:r>
              <a:rPr lang="en-US" sz="1250" dirty="0">
                <a:solidFill>
                  <a:srgbClr val="E8EEF8"/>
                </a:solidFill>
                <a:latin typeface="Calibri" pitchFamily="34" charset="0"/>
                <a:ea typeface="Calibri" pitchFamily="34" charset="-122"/>
                <a:cs typeface="Calibri" pitchFamily="34" charset="-120"/>
              </a:rPr>
              <a:t>Separate confirmed facts from possible consequences</a:t>
            </a:r>
            <a:endParaRPr lang="en-US" sz="1250" dirty="0"/>
          </a:p>
        </p:txBody>
      </p:sp>
      <p:sp>
        <p:nvSpPr>
          <p:cNvPr id="26" name="Text 17"/>
          <p:cNvSpPr txBox="1"/>
          <p:nvPr/>
        </p:nvSpPr>
        <p:spPr>
          <a:xfrm>
            <a:off x="4544568" y="4297680"/>
            <a:ext cx="1737360" cy="274320"/>
          </a:xfrm>
          <a:prstGeom prst="roundRect">
            <a:avLst>
              <a:gd name="adj" fmla="val 166667"/>
            </a:avLst>
          </a:prstGeom>
          <a:solidFill>
            <a:srgbClr val="1E3229"/>
          </a:solidFill>
          <a:ln/>
        </p:spPr>
        <p:txBody>
          <a:bodyPr wrap="square" lIns="0" tIns="0" rIns="0" bIns="0" rtlCol="0" anchor="ctr"/>
          <a:lstStyle/>
          <a:p>
            <a:pPr marL="0" indent="0" algn="ctr">
              <a:buNone/>
            </a:pPr>
            <a:r>
              <a:rPr lang="en-US" sz="1050" b="1" dirty="0">
                <a:solidFill>
                  <a:srgbClr val="4DB886"/>
                </a:solidFill>
                <a:latin typeface="Calibri" pitchFamily="34" charset="0"/>
                <a:ea typeface="Calibri" pitchFamily="34" charset="-122"/>
                <a:cs typeface="Calibri" pitchFamily="34" charset="-120"/>
              </a:rPr>
              <a:t>Memory + reasoning</a:t>
            </a:r>
            <a:endParaRPr lang="en-US" sz="1050" dirty="0"/>
          </a:p>
        </p:txBody>
      </p:sp>
      <p:sp>
        <p:nvSpPr>
          <p:cNvPr id="27" name="Shape 18"/>
          <p:cNvSpPr/>
          <p:nvPr/>
        </p:nvSpPr>
        <p:spPr>
          <a:xfrm>
            <a:off x="8083296" y="1371600"/>
            <a:ext cx="3566160" cy="3383280"/>
          </a:xfrm>
          <a:prstGeom prst="roundRect">
            <a:avLst>
              <a:gd name="adj" fmla="val 3243"/>
            </a:avLst>
          </a:prstGeom>
          <a:solidFill>
            <a:srgbClr val="16263D"/>
          </a:solidFill>
          <a:ln/>
          <a:effectLst>
            <a:outerShdw blurRad="127000" dist="25400" dir="5400000" algn="bl" rotWithShape="0">
              <a:srgbClr val="000000">
                <a:alpha val="35000"/>
              </a:srgbClr>
            </a:outerShdw>
          </a:effectLst>
        </p:spPr>
        <p:txBody>
          <a:bodyPr/>
          <a:lstStyle/>
          <a:p>
            <a:endParaRPr lang="en-US"/>
          </a:p>
        </p:txBody>
      </p:sp>
      <p:pic>
        <p:nvPicPr>
          <p:cNvPr id="28" name="Image 7" descr="Illustrated avatar of Sakshi"/>
          <p:cNvPicPr>
            <a:picLocks noChangeAspect="1"/>
          </p:cNvPicPr>
          <p:nvPr/>
        </p:nvPicPr>
        <p:blipFill>
          <a:blip r:embed="rId7"/>
          <a:stretch>
            <a:fillRect/>
          </a:stretch>
        </p:blipFill>
        <p:spPr>
          <a:xfrm>
            <a:off x="8311896" y="1508760"/>
            <a:ext cx="731520" cy="731520"/>
          </a:xfrm>
          <a:prstGeom prst="rect">
            <a:avLst/>
          </a:prstGeom>
        </p:spPr>
      </p:pic>
      <p:sp>
        <p:nvSpPr>
          <p:cNvPr id="29" name="Text 19"/>
          <p:cNvSpPr txBox="1"/>
          <p:nvPr/>
        </p:nvSpPr>
        <p:spPr>
          <a:xfrm>
            <a:off x="9180576" y="1609344"/>
            <a:ext cx="2286000" cy="329184"/>
          </a:xfrm>
          <a:prstGeom prst="rect">
            <a:avLst/>
          </a:prstGeom>
          <a:noFill/>
          <a:ln/>
        </p:spPr>
        <p:txBody>
          <a:bodyPr wrap="square" lIns="0" tIns="0" rIns="0" bIns="0" rtlCol="0" anchor="t"/>
          <a:lstStyle/>
          <a:p>
            <a:pPr marL="0" indent="0">
              <a:buNone/>
            </a:pPr>
            <a:r>
              <a:rPr lang="en-US" sz="1900" b="1" dirty="0">
                <a:solidFill>
                  <a:srgbClr val="E8EEF8"/>
                </a:solidFill>
                <a:latin typeface="Calibri" pitchFamily="34" charset="0"/>
                <a:ea typeface="Calibri" pitchFamily="34" charset="-122"/>
                <a:cs typeface="Calibri" pitchFamily="34" charset="-120"/>
              </a:rPr>
              <a:t>Sakshi</a:t>
            </a:r>
            <a:endParaRPr lang="en-US" sz="1900" dirty="0"/>
          </a:p>
        </p:txBody>
      </p:sp>
      <p:sp>
        <p:nvSpPr>
          <p:cNvPr id="30" name="Text 20"/>
          <p:cNvSpPr txBox="1"/>
          <p:nvPr/>
        </p:nvSpPr>
        <p:spPr>
          <a:xfrm>
            <a:off x="9180576" y="1947672"/>
            <a:ext cx="2286000" cy="237744"/>
          </a:xfrm>
          <a:prstGeom prst="rect">
            <a:avLst/>
          </a:prstGeom>
          <a:noFill/>
          <a:ln/>
        </p:spPr>
        <p:txBody>
          <a:bodyPr wrap="square" lIns="0" tIns="0" rIns="0" bIns="0" rtlCol="0" anchor="t"/>
          <a:lstStyle/>
          <a:p>
            <a:pPr marL="0" indent="0">
              <a:buNone/>
            </a:pPr>
            <a:r>
              <a:rPr lang="en-US" sz="1100" dirty="0">
                <a:solidFill>
                  <a:srgbClr val="9AAAC3"/>
                </a:solidFill>
                <a:latin typeface="Calibri" pitchFamily="34" charset="0"/>
                <a:ea typeface="Calibri" pitchFamily="34" charset="-122"/>
                <a:cs typeface="Calibri" pitchFamily="34" charset="-120"/>
              </a:rPr>
              <a:t>Interviews S1 · S2</a:t>
            </a:r>
            <a:endParaRPr lang="en-US" sz="1100" dirty="0"/>
          </a:p>
        </p:txBody>
      </p:sp>
      <p:sp>
        <p:nvSpPr>
          <p:cNvPr id="31" name="Text 21"/>
          <p:cNvSpPr txBox="1"/>
          <p:nvPr/>
        </p:nvSpPr>
        <p:spPr>
          <a:xfrm>
            <a:off x="8311896" y="2423160"/>
            <a:ext cx="3108960" cy="685800"/>
          </a:xfrm>
          <a:prstGeom prst="rect">
            <a:avLst/>
          </a:prstGeom>
          <a:noFill/>
          <a:ln/>
        </p:spPr>
        <p:txBody>
          <a:bodyPr wrap="square" lIns="0" tIns="0" rIns="0" bIns="0" rtlCol="0" anchor="t"/>
          <a:lstStyle/>
          <a:p>
            <a:pPr marL="0" indent="0">
              <a:buNone/>
            </a:pPr>
            <a:r>
              <a:rPr lang="en-US" sz="1700" b="1" dirty="0">
                <a:solidFill>
                  <a:srgbClr val="8DB4F5"/>
                </a:solidFill>
                <a:latin typeface="Calibri" pitchFamily="34" charset="0"/>
                <a:ea typeface="Calibri" pitchFamily="34" charset="-122"/>
                <a:cs typeface="Calibri" pitchFamily="34" charset="-120"/>
              </a:rPr>
              <a:t>Do not reshape the screen every time</a:t>
            </a:r>
            <a:endParaRPr lang="en-US" sz="1700" dirty="0"/>
          </a:p>
        </p:txBody>
      </p:sp>
      <p:pic>
        <p:nvPicPr>
          <p:cNvPr id="32" name="Image 8" descr="check"/>
          <p:cNvPicPr>
            <a:picLocks noChangeAspect="1"/>
          </p:cNvPicPr>
          <p:nvPr/>
        </p:nvPicPr>
        <p:blipFill>
          <a:blip r:embed="rId5"/>
          <a:stretch>
            <a:fillRect/>
          </a:stretch>
        </p:blipFill>
        <p:spPr>
          <a:xfrm>
            <a:off x="8311896" y="3227832"/>
            <a:ext cx="219456" cy="219456"/>
          </a:xfrm>
          <a:prstGeom prst="rect">
            <a:avLst/>
          </a:prstGeom>
        </p:spPr>
      </p:pic>
      <p:sp>
        <p:nvSpPr>
          <p:cNvPr id="33" name="Text 22"/>
          <p:cNvSpPr txBox="1"/>
          <p:nvPr/>
        </p:nvSpPr>
        <p:spPr>
          <a:xfrm>
            <a:off x="8650224" y="3200400"/>
            <a:ext cx="2743200" cy="475488"/>
          </a:xfrm>
          <a:prstGeom prst="rect">
            <a:avLst/>
          </a:prstGeom>
          <a:noFill/>
          <a:ln/>
        </p:spPr>
        <p:txBody>
          <a:bodyPr wrap="square" lIns="0" tIns="0" rIns="0" bIns="0" rtlCol="0" anchor="t"/>
          <a:lstStyle/>
          <a:p>
            <a:pPr marL="0" indent="0">
              <a:buNone/>
            </a:pPr>
            <a:r>
              <a:rPr lang="en-US" sz="1250" dirty="0">
                <a:solidFill>
                  <a:srgbClr val="E8EEF8"/>
                </a:solidFill>
                <a:latin typeface="Calibri" pitchFamily="34" charset="0"/>
                <a:ea typeface="Calibri" pitchFamily="34" charset="-122"/>
                <a:cs typeface="Calibri" pitchFamily="34" charset="-120"/>
              </a:rPr>
              <a:t>Same parts, detail on request</a:t>
            </a:r>
            <a:endParaRPr lang="en-US" sz="1250" dirty="0"/>
          </a:p>
        </p:txBody>
      </p:sp>
      <p:pic>
        <p:nvPicPr>
          <p:cNvPr id="34" name="Image 9" descr="check"/>
          <p:cNvPicPr>
            <a:picLocks noChangeAspect="1"/>
          </p:cNvPicPr>
          <p:nvPr/>
        </p:nvPicPr>
        <p:blipFill>
          <a:blip r:embed="rId5"/>
          <a:stretch>
            <a:fillRect/>
          </a:stretch>
        </p:blipFill>
        <p:spPr>
          <a:xfrm>
            <a:off x="8311896" y="3758184"/>
            <a:ext cx="219456" cy="219456"/>
          </a:xfrm>
          <a:prstGeom prst="rect">
            <a:avLst/>
          </a:prstGeom>
        </p:spPr>
      </p:pic>
      <p:sp>
        <p:nvSpPr>
          <p:cNvPr id="35" name="Text 23"/>
          <p:cNvSpPr txBox="1"/>
          <p:nvPr/>
        </p:nvSpPr>
        <p:spPr>
          <a:xfrm>
            <a:off x="8650224" y="3730752"/>
            <a:ext cx="2743200" cy="475488"/>
          </a:xfrm>
          <a:prstGeom prst="rect">
            <a:avLst/>
          </a:prstGeom>
          <a:noFill/>
          <a:ln/>
        </p:spPr>
        <p:txBody>
          <a:bodyPr wrap="square" lIns="0" tIns="0" rIns="0" bIns="0" rtlCol="0" anchor="t"/>
          <a:lstStyle/>
          <a:p>
            <a:pPr marL="0" indent="0">
              <a:buNone/>
            </a:pPr>
            <a:r>
              <a:rPr lang="en-US" sz="1250" dirty="0">
                <a:solidFill>
                  <a:srgbClr val="E8EEF8"/>
                </a:solidFill>
                <a:latin typeface="Calibri" pitchFamily="34" charset="0"/>
                <a:ea typeface="Calibri" pitchFamily="34" charset="-122"/>
                <a:cs typeface="Calibri" pitchFamily="34" charset="-120"/>
              </a:rPr>
              <a:t>Hand off to a human with context</a:t>
            </a:r>
            <a:endParaRPr lang="en-US" sz="1250" dirty="0"/>
          </a:p>
        </p:txBody>
      </p:sp>
      <p:sp>
        <p:nvSpPr>
          <p:cNvPr id="36" name="Text 24"/>
          <p:cNvSpPr txBox="1"/>
          <p:nvPr/>
        </p:nvSpPr>
        <p:spPr>
          <a:xfrm>
            <a:off x="8311896" y="4297680"/>
            <a:ext cx="2651760" cy="274320"/>
          </a:xfrm>
          <a:prstGeom prst="roundRect">
            <a:avLst>
              <a:gd name="adj" fmla="val 166667"/>
            </a:avLst>
          </a:prstGeom>
          <a:solidFill>
            <a:srgbClr val="2E2A22"/>
          </a:solidFill>
          <a:ln/>
        </p:spPr>
        <p:txBody>
          <a:bodyPr wrap="square" lIns="0" tIns="0" rIns="0" bIns="0" rtlCol="0" anchor="ctr"/>
          <a:lstStyle/>
          <a:p>
            <a:pPr marL="0" indent="0" algn="ctr">
              <a:buNone/>
            </a:pPr>
            <a:r>
              <a:rPr lang="en-US" sz="1050" b="1" dirty="0">
                <a:solidFill>
                  <a:srgbClr val="E0A262"/>
                </a:solidFill>
                <a:latin typeface="Calibri" pitchFamily="34" charset="0"/>
                <a:ea typeface="Calibri" pitchFamily="34" charset="-122"/>
                <a:cs typeface="Calibri" pitchFamily="34" charset="-120"/>
              </a:rPr>
              <a:t>Attention + meta-coordination</a:t>
            </a:r>
            <a:endParaRPr lang="en-US" sz="1050" dirty="0"/>
          </a:p>
        </p:txBody>
      </p:sp>
      <p:sp>
        <p:nvSpPr>
          <p:cNvPr id="37" name="Shape 25"/>
          <p:cNvSpPr/>
          <p:nvPr/>
        </p:nvSpPr>
        <p:spPr>
          <a:xfrm>
            <a:off x="548640" y="4937760"/>
            <a:ext cx="3383280" cy="777240"/>
          </a:xfrm>
          <a:prstGeom prst="roundRect">
            <a:avLst>
              <a:gd name="adj" fmla="val 14118"/>
            </a:avLst>
          </a:prstGeom>
          <a:solidFill>
            <a:srgbClr val="1B2E4A"/>
          </a:solidFill>
          <a:ln/>
        </p:spPr>
        <p:txBody>
          <a:bodyPr/>
          <a:lstStyle/>
          <a:p>
            <a:endParaRPr lang="en-US"/>
          </a:p>
        </p:txBody>
      </p:sp>
      <p:sp>
        <p:nvSpPr>
          <p:cNvPr id="38" name="Text 26"/>
          <p:cNvSpPr txBox="1"/>
          <p:nvPr/>
        </p:nvSpPr>
        <p:spPr>
          <a:xfrm>
            <a:off x="731520" y="5001768"/>
            <a:ext cx="3017520" cy="201168"/>
          </a:xfrm>
          <a:prstGeom prst="rect">
            <a:avLst/>
          </a:prstGeom>
          <a:noFill/>
          <a:ln/>
        </p:spPr>
        <p:txBody>
          <a:bodyPr wrap="square" lIns="0" tIns="0" rIns="0" bIns="0" rtlCol="0" anchor="t"/>
          <a:lstStyle/>
          <a:p>
            <a:pPr marL="0" indent="0">
              <a:buNone/>
            </a:pPr>
            <a:r>
              <a:rPr lang="en-US" sz="1000" b="1" kern="0" spc="200" dirty="0">
                <a:solidFill>
                  <a:srgbClr val="9AAAC3"/>
                </a:solidFill>
                <a:latin typeface="Calibri" pitchFamily="34" charset="0"/>
                <a:ea typeface="Calibri" pitchFamily="34" charset="-122"/>
                <a:cs typeface="Calibri" pitchFamily="34" charset="-120"/>
              </a:rPr>
              <a:t>RECEIPT</a:t>
            </a:r>
            <a:endParaRPr lang="en-US" sz="1000" dirty="0"/>
          </a:p>
        </p:txBody>
      </p:sp>
      <p:sp>
        <p:nvSpPr>
          <p:cNvPr id="39" name="Text 27"/>
          <p:cNvSpPr txBox="1"/>
          <p:nvPr/>
        </p:nvSpPr>
        <p:spPr>
          <a:xfrm>
            <a:off x="731520" y="5212080"/>
            <a:ext cx="3017520" cy="457200"/>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Interviews echo what the prompts showed</a:t>
            </a:r>
            <a:endParaRPr lang="en-US" sz="1200" dirty="0"/>
          </a:p>
        </p:txBody>
      </p:sp>
      <p:sp>
        <p:nvSpPr>
          <p:cNvPr id="40" name="Shape 28"/>
          <p:cNvSpPr/>
          <p:nvPr/>
        </p:nvSpPr>
        <p:spPr>
          <a:xfrm>
            <a:off x="4005072" y="5166360"/>
            <a:ext cx="310896" cy="320040"/>
          </a:xfrm>
          <a:prstGeom prst="rightArrow">
            <a:avLst/>
          </a:prstGeom>
          <a:solidFill>
            <a:schemeClr val="accent1"/>
          </a:solidFill>
          <a:ln/>
        </p:spPr>
        <p:txBody>
          <a:bodyPr/>
          <a:lstStyle/>
          <a:p>
            <a:endParaRPr lang="en-US"/>
          </a:p>
        </p:txBody>
      </p:sp>
      <p:sp>
        <p:nvSpPr>
          <p:cNvPr id="41" name="Shape 29"/>
          <p:cNvSpPr/>
          <p:nvPr/>
        </p:nvSpPr>
        <p:spPr>
          <a:xfrm>
            <a:off x="4389120" y="4937760"/>
            <a:ext cx="3383280" cy="777240"/>
          </a:xfrm>
          <a:prstGeom prst="roundRect">
            <a:avLst>
              <a:gd name="adj" fmla="val 14118"/>
            </a:avLst>
          </a:prstGeom>
          <a:solidFill>
            <a:srgbClr val="172A47"/>
          </a:solidFill>
          <a:ln/>
        </p:spPr>
        <p:txBody>
          <a:bodyPr/>
          <a:lstStyle/>
          <a:p>
            <a:endParaRPr lang="en-US"/>
          </a:p>
        </p:txBody>
      </p:sp>
      <p:sp>
        <p:nvSpPr>
          <p:cNvPr id="42" name="Text 30"/>
          <p:cNvSpPr txBox="1"/>
          <p:nvPr/>
        </p:nvSpPr>
        <p:spPr>
          <a:xfrm>
            <a:off x="4572000" y="5001768"/>
            <a:ext cx="3017520" cy="201168"/>
          </a:xfrm>
          <a:prstGeom prst="rect">
            <a:avLst/>
          </a:prstGeom>
          <a:noFill/>
          <a:ln/>
        </p:spPr>
        <p:txBody>
          <a:bodyPr wrap="square" lIns="0" tIns="0" rIns="0" bIns="0" rtlCol="0" anchor="t"/>
          <a:lstStyle/>
          <a:p>
            <a:pPr marL="0" indent="0">
              <a:buNone/>
            </a:pPr>
            <a:r>
              <a:rPr lang="en-US" sz="1000" b="1" kern="0" spc="200" dirty="0">
                <a:solidFill>
                  <a:srgbClr val="8DB4F5"/>
                </a:solidFill>
                <a:latin typeface="Calibri" pitchFamily="34" charset="0"/>
                <a:ea typeface="Calibri" pitchFamily="34" charset="-122"/>
                <a:cs typeface="Calibri" pitchFamily="34" charset="-120"/>
              </a:rPr>
              <a:t>THEORY</a:t>
            </a:r>
            <a:endParaRPr lang="en-US" sz="1000" dirty="0"/>
          </a:p>
        </p:txBody>
      </p:sp>
      <p:sp>
        <p:nvSpPr>
          <p:cNvPr id="43" name="Text 31"/>
          <p:cNvSpPr txBox="1"/>
          <p:nvPr/>
        </p:nvSpPr>
        <p:spPr>
          <a:xfrm>
            <a:off x="4572000" y="5212080"/>
            <a:ext cx="3017520" cy="457200"/>
          </a:xfrm>
          <a:prstGeom prst="rect">
            <a:avLst/>
          </a:prstGeom>
          <a:noFill/>
          <a:ln/>
        </p:spPr>
        <p:txBody>
          <a:bodyPr wrap="square" lIns="0" tIns="0" rIns="0" bIns="0" rtlCol="0" anchor="t"/>
          <a:lstStyle/>
          <a:p>
            <a:pPr marL="0" indent="0">
              <a:buNone/>
            </a:pPr>
            <a:r>
              <a:rPr lang="en-US" sz="1200" b="1" dirty="0">
                <a:solidFill>
                  <a:srgbClr val="E8EEF8"/>
                </a:solidFill>
                <a:latin typeface="Calibri" pitchFamily="34" charset="0"/>
                <a:ea typeface="Calibri" pitchFamily="34" charset="-122"/>
                <a:cs typeface="Calibri" pitchFamily="34" charset="-120"/>
              </a:rPr>
              <a:t>Breaks in memory, attention and meta-coordination</a:t>
            </a:r>
            <a:endParaRPr lang="en-US" sz="1200" dirty="0"/>
          </a:p>
        </p:txBody>
      </p:sp>
      <p:sp>
        <p:nvSpPr>
          <p:cNvPr id="44" name="Shape 32"/>
          <p:cNvSpPr/>
          <p:nvPr/>
        </p:nvSpPr>
        <p:spPr>
          <a:xfrm>
            <a:off x="7845552" y="5166360"/>
            <a:ext cx="310896" cy="320040"/>
          </a:xfrm>
          <a:prstGeom prst="rightArrow">
            <a:avLst/>
          </a:prstGeom>
          <a:solidFill>
            <a:schemeClr val="accent1"/>
          </a:solidFill>
          <a:ln/>
        </p:spPr>
        <p:txBody>
          <a:bodyPr/>
          <a:lstStyle/>
          <a:p>
            <a:endParaRPr lang="en-US"/>
          </a:p>
        </p:txBody>
      </p:sp>
      <p:sp>
        <p:nvSpPr>
          <p:cNvPr id="45" name="Shape 33"/>
          <p:cNvSpPr/>
          <p:nvPr/>
        </p:nvSpPr>
        <p:spPr>
          <a:xfrm>
            <a:off x="8229600" y="4937760"/>
            <a:ext cx="3383280" cy="777240"/>
          </a:xfrm>
          <a:prstGeom prst="roundRect">
            <a:avLst>
              <a:gd name="adj" fmla="val 14118"/>
            </a:avLst>
          </a:prstGeom>
          <a:solidFill>
            <a:srgbClr val="0A1322"/>
          </a:solidFill>
          <a:ln/>
        </p:spPr>
        <p:txBody>
          <a:bodyPr/>
          <a:lstStyle/>
          <a:p>
            <a:endParaRPr lang="en-US"/>
          </a:p>
        </p:txBody>
      </p:sp>
      <p:sp>
        <p:nvSpPr>
          <p:cNvPr id="46" name="Text 34"/>
          <p:cNvSpPr txBox="1"/>
          <p:nvPr/>
        </p:nvSpPr>
        <p:spPr>
          <a:xfrm>
            <a:off x="8412480" y="5001768"/>
            <a:ext cx="3017520" cy="201168"/>
          </a:xfrm>
          <a:prstGeom prst="rect">
            <a:avLst/>
          </a:prstGeom>
          <a:noFill/>
          <a:ln/>
        </p:spPr>
        <p:txBody>
          <a:bodyPr wrap="square" lIns="0" tIns="0" rIns="0" bIns="0" rtlCol="0" anchor="t"/>
          <a:lstStyle/>
          <a:p>
            <a:pPr marL="0" indent="0">
              <a:buNone/>
            </a:pPr>
            <a:r>
              <a:rPr lang="en-US" sz="1000" b="1" kern="0" spc="200" dirty="0">
                <a:solidFill>
                  <a:srgbClr val="8FBCE8"/>
                </a:solidFill>
                <a:latin typeface="Calibri" pitchFamily="34" charset="0"/>
                <a:ea typeface="Calibri" pitchFamily="34" charset="-122"/>
                <a:cs typeface="Calibri" pitchFamily="34" charset="-120"/>
              </a:rPr>
              <a:t>DESIGN</a:t>
            </a:r>
            <a:endParaRPr lang="en-US" sz="1000" dirty="0"/>
          </a:p>
        </p:txBody>
      </p:sp>
      <p:sp>
        <p:nvSpPr>
          <p:cNvPr id="47" name="Text 35"/>
          <p:cNvSpPr txBox="1"/>
          <p:nvPr/>
        </p:nvSpPr>
        <p:spPr>
          <a:xfrm>
            <a:off x="8412480" y="5212080"/>
            <a:ext cx="3017520" cy="457200"/>
          </a:xfrm>
          <a:prstGeom prst="rect">
            <a:avLst/>
          </a:prstGeom>
          <a:noFill/>
          <a:ln/>
        </p:spPr>
        <p:txBody>
          <a:bodyPr wrap="square" lIns="0" tIns="0" rIns="0" bIns="0" rtlCol="0" anchor="t"/>
          <a:lstStyle/>
          <a:p>
            <a:pPr marL="0" indent="0">
              <a:buNone/>
            </a:pPr>
            <a:r>
              <a:rPr lang="en-US" sz="1200" b="1" dirty="0">
                <a:solidFill>
                  <a:schemeClr val="bg1"/>
                </a:solidFill>
                <a:latin typeface="Calibri" pitchFamily="34" charset="0"/>
                <a:ea typeface="Calibri" pitchFamily="34" charset="-122"/>
                <a:cs typeface="Calibri" pitchFamily="34" charset="-120"/>
              </a:rPr>
              <a:t>Verified context, focused summary, structured handoff</a:t>
            </a:r>
            <a:endParaRPr lang="en-US" sz="1200" dirty="0"/>
          </a:p>
        </p:txBody>
      </p:sp>
      <p:sp>
        <p:nvSpPr>
          <p:cNvPr id="48" name="Text 36"/>
          <p:cNvSpPr txBox="1"/>
          <p:nvPr/>
        </p:nvSpPr>
        <p:spPr>
          <a:xfrm>
            <a:off x="548640" y="5943600"/>
            <a:ext cx="2103120" cy="310896"/>
          </a:xfrm>
          <a:prstGeom prst="rect">
            <a:avLst/>
          </a:prstGeom>
          <a:noFill/>
          <a:ln/>
        </p:spPr>
        <p:txBody>
          <a:bodyPr wrap="square" lIns="0" tIns="0" rIns="0" bIns="0" rtlCol="0" anchor="ctr"/>
          <a:lstStyle/>
          <a:p>
            <a:pPr marL="0" indent="0">
              <a:buNone/>
            </a:pPr>
            <a:r>
              <a:rPr lang="en-US" sz="1050" b="1" kern="0" spc="200" dirty="0">
                <a:solidFill>
                  <a:srgbClr val="9AAAC3"/>
                </a:solidFill>
                <a:latin typeface="Calibri" pitchFamily="34" charset="0"/>
                <a:ea typeface="Calibri" pitchFamily="34" charset="-122"/>
                <a:cs typeface="Calibri" pitchFamily="34" charset="-120"/>
              </a:rPr>
              <a:t>DIMENSIONS COVERED</a:t>
            </a:r>
            <a:endParaRPr lang="en-US" sz="1050" dirty="0"/>
          </a:p>
        </p:txBody>
      </p:sp>
      <p:sp>
        <p:nvSpPr>
          <p:cNvPr id="49" name="Text 37"/>
          <p:cNvSpPr txBox="1"/>
          <p:nvPr/>
        </p:nvSpPr>
        <p:spPr>
          <a:xfrm>
            <a:off x="2606040" y="5943600"/>
            <a:ext cx="1389888" cy="310896"/>
          </a:xfrm>
          <a:prstGeom prst="roundRect">
            <a:avLst>
              <a:gd name="adj" fmla="val 147059"/>
            </a:avLst>
          </a:prstGeom>
          <a:solidFill>
            <a:srgbClr val="16263D"/>
          </a:solidFill>
          <a:ln/>
        </p:spPr>
        <p:txBody>
          <a:bodyPr wrap="square" lIns="0" tIns="0" rIns="0" bIns="0" rtlCol="0" anchor="ctr"/>
          <a:lstStyle/>
          <a:p>
            <a:pPr marL="0" indent="0" algn="ctr">
              <a:buNone/>
            </a:pPr>
            <a:r>
              <a:rPr lang="en-US" sz="1100" b="1" dirty="0">
                <a:solidFill>
                  <a:srgbClr val="E8EEF8"/>
                </a:solidFill>
                <a:latin typeface="Calibri" pitchFamily="34" charset="0"/>
                <a:ea typeface="Calibri" pitchFamily="34" charset="-122"/>
                <a:cs typeface="Calibri" pitchFamily="34" charset="-120"/>
              </a:rPr>
              <a:t>Accuracy</a:t>
            </a:r>
            <a:endParaRPr lang="en-US" sz="1100" dirty="0"/>
          </a:p>
        </p:txBody>
      </p:sp>
      <p:sp>
        <p:nvSpPr>
          <p:cNvPr id="50" name="Text 38"/>
          <p:cNvSpPr txBox="1"/>
          <p:nvPr/>
        </p:nvSpPr>
        <p:spPr>
          <a:xfrm>
            <a:off x="4114800" y="5943600"/>
            <a:ext cx="1389888" cy="310896"/>
          </a:xfrm>
          <a:prstGeom prst="roundRect">
            <a:avLst>
              <a:gd name="adj" fmla="val 147059"/>
            </a:avLst>
          </a:prstGeom>
          <a:solidFill>
            <a:srgbClr val="16263D"/>
          </a:solidFill>
          <a:ln/>
        </p:spPr>
        <p:txBody>
          <a:bodyPr wrap="square" lIns="0" tIns="0" rIns="0" bIns="0" rtlCol="0" anchor="ctr"/>
          <a:lstStyle/>
          <a:p>
            <a:pPr marL="0" indent="0" algn="ctr">
              <a:buNone/>
            </a:pPr>
            <a:r>
              <a:rPr lang="en-US" sz="1100" b="1" dirty="0">
                <a:solidFill>
                  <a:srgbClr val="E8EEF8"/>
                </a:solidFill>
                <a:latin typeface="Calibri" pitchFamily="34" charset="0"/>
                <a:ea typeface="Calibri" pitchFamily="34" charset="-122"/>
                <a:cs typeface="Calibri" pitchFamily="34" charset="-120"/>
              </a:rPr>
              <a:t>Reliability</a:t>
            </a:r>
            <a:endParaRPr lang="en-US" sz="1100" dirty="0"/>
          </a:p>
        </p:txBody>
      </p:sp>
      <p:sp>
        <p:nvSpPr>
          <p:cNvPr id="51" name="Text 39"/>
          <p:cNvSpPr txBox="1"/>
          <p:nvPr/>
        </p:nvSpPr>
        <p:spPr>
          <a:xfrm>
            <a:off x="5623560" y="5943600"/>
            <a:ext cx="1389888" cy="310896"/>
          </a:xfrm>
          <a:prstGeom prst="roundRect">
            <a:avLst>
              <a:gd name="adj" fmla="val 147059"/>
            </a:avLst>
          </a:prstGeom>
          <a:solidFill>
            <a:srgbClr val="16263D"/>
          </a:solidFill>
          <a:ln/>
        </p:spPr>
        <p:txBody>
          <a:bodyPr wrap="square" lIns="0" tIns="0" rIns="0" bIns="0" rtlCol="0" anchor="ctr"/>
          <a:lstStyle/>
          <a:p>
            <a:pPr marL="0" indent="0" algn="ctr">
              <a:buNone/>
            </a:pPr>
            <a:r>
              <a:rPr lang="en-US" sz="1100" b="1" dirty="0">
                <a:solidFill>
                  <a:srgbClr val="E8EEF8"/>
                </a:solidFill>
                <a:latin typeface="Calibri" pitchFamily="34" charset="0"/>
                <a:ea typeface="Calibri" pitchFamily="34" charset="-122"/>
                <a:cs typeface="Calibri" pitchFamily="34" charset="-120"/>
              </a:rPr>
              <a:t>Latency</a:t>
            </a:r>
            <a:endParaRPr lang="en-US" sz="1100" dirty="0"/>
          </a:p>
        </p:txBody>
      </p:sp>
      <p:sp>
        <p:nvSpPr>
          <p:cNvPr id="52" name="Text 40"/>
          <p:cNvSpPr txBox="1"/>
          <p:nvPr/>
        </p:nvSpPr>
        <p:spPr>
          <a:xfrm>
            <a:off x="7132320" y="5943600"/>
            <a:ext cx="1389888" cy="310896"/>
          </a:xfrm>
          <a:prstGeom prst="roundRect">
            <a:avLst>
              <a:gd name="adj" fmla="val 147059"/>
            </a:avLst>
          </a:prstGeom>
          <a:solidFill>
            <a:srgbClr val="16263D"/>
          </a:solidFill>
          <a:ln/>
        </p:spPr>
        <p:txBody>
          <a:bodyPr wrap="square" lIns="0" tIns="0" rIns="0" bIns="0" rtlCol="0" anchor="ctr"/>
          <a:lstStyle/>
          <a:p>
            <a:pPr marL="0" indent="0" algn="ctr">
              <a:buNone/>
            </a:pPr>
            <a:r>
              <a:rPr lang="en-US" sz="1100" b="1" dirty="0">
                <a:solidFill>
                  <a:srgbClr val="E8EEF8"/>
                </a:solidFill>
                <a:latin typeface="Calibri" pitchFamily="34" charset="0"/>
                <a:ea typeface="Calibri" pitchFamily="34" charset="-122"/>
                <a:cs typeface="Calibri" pitchFamily="34" charset="-120"/>
              </a:rPr>
              <a:t>UX friction</a:t>
            </a:r>
            <a:endParaRPr lang="en-US" sz="1100" dirty="0"/>
          </a:p>
        </p:txBody>
      </p:sp>
      <p:sp>
        <p:nvSpPr>
          <p:cNvPr id="53" name="Text 41"/>
          <p:cNvSpPr txBox="1"/>
          <p:nvPr/>
        </p:nvSpPr>
        <p:spPr>
          <a:xfrm>
            <a:off x="8641080" y="5943600"/>
            <a:ext cx="1389888" cy="310896"/>
          </a:xfrm>
          <a:prstGeom prst="roundRect">
            <a:avLst>
              <a:gd name="adj" fmla="val 147059"/>
            </a:avLst>
          </a:prstGeom>
          <a:solidFill>
            <a:srgbClr val="16263D"/>
          </a:solidFill>
          <a:ln/>
        </p:spPr>
        <p:txBody>
          <a:bodyPr wrap="square" lIns="0" tIns="0" rIns="0" bIns="0" rtlCol="0" anchor="ctr"/>
          <a:lstStyle/>
          <a:p>
            <a:pPr marL="0" indent="0" algn="ctr">
              <a:buNone/>
            </a:pPr>
            <a:r>
              <a:rPr lang="en-US" sz="1100" b="1" dirty="0">
                <a:solidFill>
                  <a:srgbClr val="E8EEF8"/>
                </a:solidFill>
                <a:latin typeface="Calibri" pitchFamily="34" charset="0"/>
                <a:ea typeface="Calibri" pitchFamily="34" charset="-122"/>
                <a:cs typeface="Calibri" pitchFamily="34" charset="-120"/>
              </a:rPr>
              <a:t>Safety</a:t>
            </a:r>
            <a:endParaRPr lang="en-US" sz="1100" dirty="0"/>
          </a:p>
        </p:txBody>
      </p:sp>
      <p:sp>
        <p:nvSpPr>
          <p:cNvPr id="54" name="Text 42"/>
          <p:cNvSpPr txBox="1"/>
          <p:nvPr/>
        </p:nvSpPr>
        <p:spPr>
          <a:xfrm>
            <a:off x="10149840" y="5943600"/>
            <a:ext cx="1389888" cy="310896"/>
          </a:xfrm>
          <a:prstGeom prst="roundRect">
            <a:avLst>
              <a:gd name="adj" fmla="val 147059"/>
            </a:avLst>
          </a:prstGeom>
          <a:solidFill>
            <a:srgbClr val="16263D"/>
          </a:solidFill>
          <a:ln/>
        </p:spPr>
        <p:txBody>
          <a:bodyPr wrap="square" lIns="0" tIns="0" rIns="0" bIns="0" rtlCol="0" anchor="ctr"/>
          <a:lstStyle/>
          <a:p>
            <a:pPr marL="0" indent="0" algn="ctr">
              <a:buNone/>
            </a:pPr>
            <a:r>
              <a:rPr lang="en-US" sz="1100" b="1" dirty="0">
                <a:solidFill>
                  <a:srgbClr val="E8EEF8"/>
                </a:solidFill>
                <a:latin typeface="Calibri" pitchFamily="34" charset="0"/>
                <a:ea typeface="Calibri" pitchFamily="34" charset="-122"/>
                <a:cs typeface="Calibri" pitchFamily="34" charset="-120"/>
              </a:rPr>
              <a:t>Cost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chemeClr val="accent1">
              <a:alpha val="7000"/>
            </a:schemeClr>
          </a:solidFill>
          <a:ln/>
        </p:spPr>
        <p:txBody>
          <a:bodyPr/>
          <a:lstStyle/>
          <a:p>
            <a:endParaRPr lang="en-US"/>
          </a:p>
        </p:txBody>
      </p:sp>
      <p:sp>
        <p:nvSpPr>
          <p:cNvPr id="3" name="Shape 1"/>
          <p:cNvSpPr/>
          <p:nvPr/>
        </p:nvSpPr>
        <p:spPr>
          <a:xfrm>
            <a:off x="-1280160" y="5394960"/>
            <a:ext cx="2926080" cy="2926080"/>
          </a:xfrm>
          <a:prstGeom prst="ellipse">
            <a:avLst/>
          </a:prstGeom>
          <a:solidFill>
            <a:schemeClr val="accent1">
              <a:alpha val="6000"/>
            </a:schemeClr>
          </a:solidFill>
          <a:ln/>
        </p:spPr>
        <p:txBody>
          <a:bodyPr/>
          <a:lstStyle/>
          <a:p>
            <a:endParaRPr lang="en-US"/>
          </a:p>
        </p:txBody>
      </p:sp>
      <p:sp>
        <p:nvSpPr>
          <p:cNvPr id="4" name="Text 2"/>
          <p:cNvSpPr txBox="1"/>
          <p:nvPr/>
        </p:nvSpPr>
        <p:spPr>
          <a:xfrm>
            <a:off x="548640" y="301752"/>
            <a:ext cx="8229600" cy="274320"/>
          </a:xfrm>
          <a:prstGeom prst="rect">
            <a:avLst/>
          </a:prstGeom>
          <a:noFill/>
          <a:ln/>
        </p:spPr>
        <p:txBody>
          <a:bodyPr wrap="square" lIns="0" tIns="0" rIns="0" bIns="0" rtlCol="0" anchor="t"/>
          <a:lstStyle/>
          <a:p>
            <a:pPr marL="0" indent="0">
              <a:buNone/>
            </a:pPr>
            <a:r>
              <a:rPr lang="en-US" sz="1100" b="1" kern="0" spc="300" dirty="0">
                <a:solidFill>
                  <a:srgbClr val="8DB4F5"/>
                </a:solidFill>
                <a:latin typeface="Calibri" pitchFamily="34" charset="0"/>
                <a:ea typeface="Calibri" pitchFamily="34" charset="-122"/>
                <a:cs typeface="Calibri" pitchFamily="34" charset="-120"/>
              </a:rPr>
              <a:t>06  ·  REFINED CONCEPT AND PROTOTYPE</a:t>
            </a:r>
            <a:endParaRPr lang="en-US" sz="1100" dirty="0"/>
          </a:p>
        </p:txBody>
      </p:sp>
      <p:sp>
        <p:nvSpPr>
          <p:cNvPr id="5"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AI prepares, software checks, student decides</a:t>
            </a:r>
            <a:endParaRPr lang="en-US" sz="3000" dirty="0"/>
          </a:p>
        </p:txBody>
      </p:sp>
      <p:sp>
        <p:nvSpPr>
          <p:cNvPr id="51"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BB8"/>
                </a:solidFill>
                <a:latin typeface="Calibri"/>
                <a:ea typeface="Calibri"/>
                <a:cs typeface="Calibri"/>
              </a:defRPr>
            </a:lvl1pPr>
          </a:lstStyle>
          <a:p>
            <a:pPr algn="r"/>
            <a:fld id="{F7021451-1387-4CA6-816F-3879F97B5CBC}" type="slidenum">
              <a:rPr lang="en-US" b="0"/>
              <a:t>6</a:t>
            </a:fld>
            <a:endParaRPr lang="en-US"/>
          </a:p>
        </p:txBody>
      </p:sp>
      <p:pic>
        <p:nvPicPr>
          <p:cNvPr id="6" name="Image 0" descr="Concept: InterfaceDNA screen with verified context, policy check, consequence summary and confirm button"/>
          <p:cNvPicPr>
            <a:picLocks noChangeAspect="1"/>
          </p:cNvPicPr>
          <p:nvPr/>
        </p:nvPicPr>
        <p:blipFill>
          <a:blip r:embed="rId3"/>
          <a:stretch>
            <a:fillRect/>
          </a:stretch>
        </p:blipFill>
        <p:spPr>
          <a:xfrm>
            <a:off x="548640" y="1325880"/>
            <a:ext cx="2697480" cy="3439660"/>
          </a:xfrm>
          <a:prstGeom prst="rect">
            <a:avLst/>
          </a:prstGeom>
        </p:spPr>
      </p:pic>
      <p:sp>
        <p:nvSpPr>
          <p:cNvPr id="7" name="Shape 4"/>
          <p:cNvSpPr/>
          <p:nvPr/>
        </p:nvSpPr>
        <p:spPr>
          <a:xfrm>
            <a:off x="3429000" y="1371600"/>
            <a:ext cx="4983480" cy="3398650"/>
          </a:xfrm>
          <a:prstGeom prst="roundRect">
            <a:avLst>
              <a:gd name="adj" fmla="val 3229"/>
            </a:avLst>
          </a:prstGeom>
          <a:solidFill>
            <a:srgbClr val="16263D"/>
          </a:solidFill>
          <a:ln/>
          <a:effectLst>
            <a:outerShdw blurRad="127000" dist="25400" dir="5400000" algn="bl" rotWithShape="0">
              <a:srgbClr val="000000">
                <a:alpha val="35000"/>
              </a:srgbClr>
            </a:outerShdw>
          </a:effectLst>
        </p:spPr>
        <p:txBody>
          <a:bodyPr/>
          <a:lstStyle/>
          <a:p>
            <a:endParaRPr lang="en-US"/>
          </a:p>
        </p:txBody>
      </p:sp>
      <p:pic>
        <p:nvPicPr>
          <p:cNvPr id="8" name="Image 1" descr="Prototype screen 4: Review before you decide, with a drop request summary and decision rights panel"/>
          <p:cNvPicPr>
            <a:picLocks noChangeAspect="1"/>
          </p:cNvPicPr>
          <p:nvPr/>
        </p:nvPicPr>
        <p:blipFill>
          <a:blip r:embed="rId4"/>
          <a:stretch>
            <a:fillRect/>
          </a:stretch>
        </p:blipFill>
        <p:spPr>
          <a:xfrm>
            <a:off x="3474720" y="1417320"/>
            <a:ext cx="4892040" cy="3307210"/>
          </a:xfrm>
          <a:prstGeom prst="rect">
            <a:avLst/>
          </a:prstGeom>
        </p:spPr>
      </p:pic>
      <p:sp>
        <p:nvSpPr>
          <p:cNvPr id="9" name="Text 5"/>
          <p:cNvSpPr txBox="1"/>
          <p:nvPr/>
        </p:nvSpPr>
        <p:spPr>
          <a:xfrm>
            <a:off x="6318660" y="2437211"/>
            <a:ext cx="292608" cy="292608"/>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10" name="Text 6"/>
          <p:cNvSpPr txBox="1"/>
          <p:nvPr/>
        </p:nvSpPr>
        <p:spPr>
          <a:xfrm>
            <a:off x="7753978" y="2452163"/>
            <a:ext cx="292608" cy="292608"/>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11" name="Text 7"/>
          <p:cNvSpPr txBox="1"/>
          <p:nvPr/>
        </p:nvSpPr>
        <p:spPr>
          <a:xfrm>
            <a:off x="5098641" y="4072875"/>
            <a:ext cx="292608" cy="292608"/>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12" name="Text 8"/>
          <p:cNvSpPr txBox="1"/>
          <p:nvPr/>
        </p:nvSpPr>
        <p:spPr>
          <a:xfrm>
            <a:off x="3474720" y="4800600"/>
            <a:ext cx="4846320" cy="228600"/>
          </a:xfrm>
          <a:prstGeom prst="rect">
            <a:avLst/>
          </a:prstGeom>
          <a:noFill/>
          <a:ln/>
        </p:spPr>
        <p:txBody>
          <a:bodyPr wrap="square" lIns="0" tIns="0" rIns="0" bIns="0" rtlCol="0" anchor="t"/>
          <a:lstStyle/>
          <a:p>
            <a:pPr marL="0" indent="0">
              <a:buNone/>
            </a:pPr>
            <a:r>
              <a:rPr lang="en-US" sz="1100" b="1" dirty="0">
                <a:solidFill>
                  <a:srgbClr val="8DB4F5"/>
                </a:solidFill>
                <a:latin typeface="Calibri" pitchFamily="34" charset="0"/>
                <a:ea typeface="Calibri" pitchFamily="34" charset="-122"/>
                <a:cs typeface="Calibri" pitchFamily="34" charset="-120"/>
              </a:rPr>
              <a:t>4 · Review and confirm:  A summary,  B decision rights,  C buttons</a:t>
            </a:r>
            <a:endParaRPr lang="en-US" sz="1100" dirty="0"/>
          </a:p>
        </p:txBody>
      </p:sp>
      <p:sp>
        <p:nvSpPr>
          <p:cNvPr id="13" name="Text 9"/>
          <p:cNvSpPr txBox="1"/>
          <p:nvPr/>
        </p:nvSpPr>
        <p:spPr>
          <a:xfrm>
            <a:off x="548640" y="4773168"/>
            <a:ext cx="3108960" cy="228600"/>
          </a:xfrm>
          <a:prstGeom prst="rect">
            <a:avLst/>
          </a:prstGeom>
          <a:noFill/>
          <a:ln/>
        </p:spPr>
        <p:txBody>
          <a:bodyPr wrap="square" lIns="0" tIns="0" rIns="0" bIns="0" rtlCol="0" anchor="t"/>
          <a:lstStyle/>
          <a:p>
            <a:pPr marL="0" indent="0">
              <a:buNone/>
            </a:pPr>
            <a:r>
              <a:rPr lang="en-US" sz="900" b="1" dirty="0">
                <a:solidFill>
                  <a:srgbClr val="8DB4F5"/>
                </a:solidFill>
                <a:latin typeface="Calibri" pitchFamily="34" charset="0"/>
                <a:ea typeface="Calibri" pitchFamily="34" charset="-122"/>
                <a:cs typeface="Calibri" pitchFamily="34" charset="-120"/>
              </a:rPr>
              <a:t>CONCEPT · ONE SCREEN FROM THE GOAL</a:t>
            </a:r>
            <a:endParaRPr lang="en-US" sz="900" dirty="0"/>
          </a:p>
        </p:txBody>
      </p:sp>
      <p:sp>
        <p:nvSpPr>
          <p:cNvPr id="14" name="Shape 10"/>
          <p:cNvSpPr/>
          <p:nvPr/>
        </p:nvSpPr>
        <p:spPr>
          <a:xfrm>
            <a:off x="548640" y="5074920"/>
            <a:ext cx="2487168" cy="640080"/>
          </a:xfrm>
          <a:prstGeom prst="roundRect">
            <a:avLst>
              <a:gd name="adj" fmla="val 17143"/>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15" name="Shape 11"/>
          <p:cNvSpPr/>
          <p:nvPr/>
        </p:nvSpPr>
        <p:spPr>
          <a:xfrm>
            <a:off x="658368" y="5184648"/>
            <a:ext cx="420624" cy="420624"/>
          </a:xfrm>
          <a:prstGeom prst="ellipse">
            <a:avLst/>
          </a:prstGeom>
          <a:solidFill>
            <a:schemeClr val="accent1"/>
          </a:solidFill>
          <a:ln/>
        </p:spPr>
        <p:txBody>
          <a:bodyPr/>
          <a:lstStyle/>
          <a:p>
            <a:endParaRPr lang="en-US"/>
          </a:p>
        </p:txBody>
      </p:sp>
      <p:pic>
        <p:nvPicPr>
          <p:cNvPr id="16" name="Image 2" descr="Robot icon"/>
          <p:cNvPicPr>
            <a:picLocks noChangeAspect="1"/>
          </p:cNvPicPr>
          <p:nvPr/>
        </p:nvPicPr>
        <p:blipFill>
          <a:blip r:embed="rId5"/>
          <a:stretch>
            <a:fillRect/>
          </a:stretch>
        </p:blipFill>
        <p:spPr>
          <a:xfrm>
            <a:off x="767730" y="5294010"/>
            <a:ext cx="201900" cy="201900"/>
          </a:xfrm>
          <a:prstGeom prst="rect">
            <a:avLst/>
          </a:prstGeom>
        </p:spPr>
      </p:pic>
      <p:sp>
        <p:nvSpPr>
          <p:cNvPr id="17" name="Text 12"/>
          <p:cNvSpPr txBox="1"/>
          <p:nvPr/>
        </p:nvSpPr>
        <p:spPr>
          <a:xfrm>
            <a:off x="1188720" y="5120640"/>
            <a:ext cx="1783080" cy="22860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AI prepares</a:t>
            </a:r>
            <a:endParaRPr lang="en-US" sz="1250" dirty="0"/>
          </a:p>
        </p:txBody>
      </p:sp>
      <p:sp>
        <p:nvSpPr>
          <p:cNvPr id="18" name="Text 13"/>
          <p:cNvSpPr txBox="1"/>
          <p:nvPr/>
        </p:nvSpPr>
        <p:spPr>
          <a:xfrm>
            <a:off x="1188720" y="5349240"/>
            <a:ext cx="1783080" cy="347472"/>
          </a:xfrm>
          <a:prstGeom prst="rect">
            <a:avLst/>
          </a:prstGeom>
          <a:noFill/>
          <a:ln/>
        </p:spPr>
        <p:txBody>
          <a:bodyPr wrap="square" lIns="0" tIns="0" rIns="0" bIns="0" rtlCol="0" anchor="t"/>
          <a:lstStyle/>
          <a:p>
            <a:pPr marL="0" indent="0">
              <a:buNone/>
            </a:pPr>
            <a:r>
              <a:rPr lang="en-US" sz="950" dirty="0">
                <a:solidFill>
                  <a:srgbClr val="9AAAC3"/>
                </a:solidFill>
                <a:latin typeface="Calibri" pitchFamily="34" charset="0"/>
                <a:ea typeface="Calibri" pitchFamily="34" charset="-122"/>
                <a:cs typeface="Calibri" pitchFamily="34" charset="-120"/>
              </a:rPr>
              <a:t>Reads the goal, pulls the record and policy</a:t>
            </a:r>
            <a:endParaRPr lang="en-US" sz="950" dirty="0"/>
          </a:p>
        </p:txBody>
      </p:sp>
      <p:sp>
        <p:nvSpPr>
          <p:cNvPr id="19" name="Shape 14"/>
          <p:cNvSpPr/>
          <p:nvPr/>
        </p:nvSpPr>
        <p:spPr>
          <a:xfrm>
            <a:off x="3191256" y="5074920"/>
            <a:ext cx="2487168" cy="640080"/>
          </a:xfrm>
          <a:prstGeom prst="roundRect">
            <a:avLst>
              <a:gd name="adj" fmla="val 17143"/>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20" name="Shape 15"/>
          <p:cNvSpPr/>
          <p:nvPr/>
        </p:nvSpPr>
        <p:spPr>
          <a:xfrm>
            <a:off x="3300984" y="5184648"/>
            <a:ext cx="420624" cy="420624"/>
          </a:xfrm>
          <a:prstGeom prst="ellipse">
            <a:avLst/>
          </a:prstGeom>
          <a:solidFill>
            <a:schemeClr val="accent2"/>
          </a:solidFill>
          <a:ln/>
        </p:spPr>
        <p:txBody>
          <a:bodyPr/>
          <a:lstStyle/>
          <a:p>
            <a:endParaRPr lang="en-US"/>
          </a:p>
        </p:txBody>
      </p:sp>
      <p:pic>
        <p:nvPicPr>
          <p:cNvPr id="21" name="Image 3" descr="ShieldAlt icon"/>
          <p:cNvPicPr>
            <a:picLocks noChangeAspect="1"/>
          </p:cNvPicPr>
          <p:nvPr/>
        </p:nvPicPr>
        <p:blipFill>
          <a:blip r:embed="rId6"/>
          <a:stretch>
            <a:fillRect/>
          </a:stretch>
        </p:blipFill>
        <p:spPr>
          <a:xfrm>
            <a:off x="3410346" y="5294010"/>
            <a:ext cx="201900" cy="201900"/>
          </a:xfrm>
          <a:prstGeom prst="rect">
            <a:avLst/>
          </a:prstGeom>
        </p:spPr>
      </p:pic>
      <p:sp>
        <p:nvSpPr>
          <p:cNvPr id="22" name="Text 16"/>
          <p:cNvSpPr txBox="1"/>
          <p:nvPr/>
        </p:nvSpPr>
        <p:spPr>
          <a:xfrm>
            <a:off x="3831336" y="5120640"/>
            <a:ext cx="1783080" cy="22860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Software validates</a:t>
            </a:r>
            <a:endParaRPr lang="en-US" sz="1250" dirty="0"/>
          </a:p>
        </p:txBody>
      </p:sp>
      <p:sp>
        <p:nvSpPr>
          <p:cNvPr id="23" name="Text 17"/>
          <p:cNvSpPr txBox="1"/>
          <p:nvPr/>
        </p:nvSpPr>
        <p:spPr>
          <a:xfrm>
            <a:off x="3831336" y="5349240"/>
            <a:ext cx="1783080" cy="347472"/>
          </a:xfrm>
          <a:prstGeom prst="rect">
            <a:avLst/>
          </a:prstGeom>
          <a:noFill/>
          <a:ln/>
        </p:spPr>
        <p:txBody>
          <a:bodyPr wrap="square" lIns="0" tIns="0" rIns="0" bIns="0" rtlCol="0" anchor="t"/>
          <a:lstStyle/>
          <a:p>
            <a:pPr marL="0" indent="0">
              <a:buNone/>
            </a:pPr>
            <a:r>
              <a:rPr lang="en-US" sz="950" dirty="0">
                <a:solidFill>
                  <a:srgbClr val="9AAAC3"/>
                </a:solidFill>
                <a:latin typeface="Calibri" pitchFamily="34" charset="0"/>
                <a:ea typeface="Calibri" pitchFamily="34" charset="-122"/>
                <a:cs typeface="Calibri" pitchFamily="34" charset="-120"/>
              </a:rPr>
              <a:t>Checks permissions, enforces confirmation</a:t>
            </a:r>
            <a:endParaRPr lang="en-US" sz="950" dirty="0"/>
          </a:p>
        </p:txBody>
      </p:sp>
      <p:sp>
        <p:nvSpPr>
          <p:cNvPr id="24" name="Shape 18"/>
          <p:cNvSpPr/>
          <p:nvPr/>
        </p:nvSpPr>
        <p:spPr>
          <a:xfrm>
            <a:off x="5833872" y="5074920"/>
            <a:ext cx="2487168" cy="640080"/>
          </a:xfrm>
          <a:prstGeom prst="roundRect">
            <a:avLst>
              <a:gd name="adj" fmla="val 17143"/>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25" name="Shape 19"/>
          <p:cNvSpPr/>
          <p:nvPr/>
        </p:nvSpPr>
        <p:spPr>
          <a:xfrm>
            <a:off x="5943600" y="5184648"/>
            <a:ext cx="420624" cy="420624"/>
          </a:xfrm>
          <a:prstGeom prst="ellipse">
            <a:avLst/>
          </a:prstGeom>
          <a:solidFill>
            <a:srgbClr val="1E3A8A"/>
          </a:solidFill>
          <a:ln/>
        </p:spPr>
        <p:txBody>
          <a:bodyPr/>
          <a:lstStyle/>
          <a:p>
            <a:endParaRPr lang="en-US"/>
          </a:p>
        </p:txBody>
      </p:sp>
      <p:pic>
        <p:nvPicPr>
          <p:cNvPr id="26" name="Image 4" descr="UserCheck icon"/>
          <p:cNvPicPr>
            <a:picLocks noChangeAspect="1"/>
          </p:cNvPicPr>
          <p:nvPr/>
        </p:nvPicPr>
        <p:blipFill>
          <a:blip r:embed="rId7"/>
          <a:stretch>
            <a:fillRect/>
          </a:stretch>
        </p:blipFill>
        <p:spPr>
          <a:xfrm>
            <a:off x="6052962" y="5294010"/>
            <a:ext cx="201900" cy="201900"/>
          </a:xfrm>
          <a:prstGeom prst="rect">
            <a:avLst/>
          </a:prstGeom>
        </p:spPr>
      </p:pic>
      <p:sp>
        <p:nvSpPr>
          <p:cNvPr id="27" name="Text 20"/>
          <p:cNvSpPr txBox="1"/>
          <p:nvPr/>
        </p:nvSpPr>
        <p:spPr>
          <a:xfrm>
            <a:off x="6473952" y="5120640"/>
            <a:ext cx="1783080" cy="228600"/>
          </a:xfrm>
          <a:prstGeom prst="rect">
            <a:avLst/>
          </a:prstGeom>
          <a:noFill/>
          <a:ln/>
        </p:spPr>
        <p:txBody>
          <a:bodyPr wrap="square" lIns="0" tIns="0" rIns="0" bIns="0" rtlCol="0" anchor="t"/>
          <a:lstStyle/>
          <a:p>
            <a:pPr marL="0" indent="0">
              <a:buNone/>
            </a:pPr>
            <a:r>
              <a:rPr lang="en-US" sz="1250" b="1" dirty="0">
                <a:solidFill>
                  <a:srgbClr val="E8EEF8"/>
                </a:solidFill>
                <a:latin typeface="Calibri" pitchFamily="34" charset="0"/>
                <a:ea typeface="Calibri" pitchFamily="34" charset="-122"/>
                <a:cs typeface="Calibri" pitchFamily="34" charset="-120"/>
              </a:rPr>
              <a:t>Student decides</a:t>
            </a:r>
            <a:endParaRPr lang="en-US" sz="1250" dirty="0"/>
          </a:p>
        </p:txBody>
      </p:sp>
      <p:sp>
        <p:nvSpPr>
          <p:cNvPr id="28" name="Text 21"/>
          <p:cNvSpPr txBox="1"/>
          <p:nvPr/>
        </p:nvSpPr>
        <p:spPr>
          <a:xfrm>
            <a:off x="6473952" y="5349240"/>
            <a:ext cx="1783080" cy="347472"/>
          </a:xfrm>
          <a:prstGeom prst="rect">
            <a:avLst/>
          </a:prstGeom>
          <a:noFill/>
          <a:ln/>
        </p:spPr>
        <p:txBody>
          <a:bodyPr wrap="square" lIns="0" tIns="0" rIns="0" bIns="0" rtlCol="0" anchor="t"/>
          <a:lstStyle/>
          <a:p>
            <a:pPr marL="0" indent="0">
              <a:buNone/>
            </a:pPr>
            <a:r>
              <a:rPr lang="en-US" sz="950" dirty="0">
                <a:solidFill>
                  <a:srgbClr val="9AAAC3"/>
                </a:solidFill>
                <a:latin typeface="Calibri" pitchFamily="34" charset="0"/>
                <a:ea typeface="Calibri" pitchFamily="34" charset="-122"/>
                <a:cs typeface="Calibri" pitchFamily="34" charset="-120"/>
              </a:rPr>
              <a:t>Reviews consequences, confirms or cancels</a:t>
            </a:r>
            <a:endParaRPr lang="en-US" sz="950" dirty="0"/>
          </a:p>
        </p:txBody>
      </p:sp>
      <p:sp>
        <p:nvSpPr>
          <p:cNvPr id="29" name="Text 22"/>
          <p:cNvSpPr txBox="1"/>
          <p:nvPr/>
        </p:nvSpPr>
        <p:spPr>
          <a:xfrm>
            <a:off x="8549640" y="1371600"/>
            <a:ext cx="3108960" cy="228600"/>
          </a:xfrm>
          <a:prstGeom prst="rect">
            <a:avLst/>
          </a:prstGeom>
          <a:noFill/>
          <a:ln/>
        </p:spPr>
        <p:txBody>
          <a:bodyPr wrap="square" lIns="0" tIns="0" rIns="0" bIns="0" rtlCol="0" anchor="t"/>
          <a:lstStyle/>
          <a:p>
            <a:pPr marL="0" indent="0">
              <a:buNone/>
            </a:pPr>
            <a:r>
              <a:rPr lang="en-US" sz="1000" b="1" kern="0" spc="100" dirty="0">
                <a:solidFill>
                  <a:srgbClr val="9AAAC3"/>
                </a:solidFill>
                <a:latin typeface="Calibri" pitchFamily="34" charset="0"/>
                <a:ea typeface="Calibri" pitchFamily="34" charset="-122"/>
                <a:cs typeface="Calibri" pitchFamily="34" charset="-120"/>
              </a:rPr>
              <a:t>WHAT CHANGED BECAUSE OF THE EVIDENCE</a:t>
            </a:r>
            <a:endParaRPr lang="en-US" sz="1000" dirty="0"/>
          </a:p>
        </p:txBody>
      </p:sp>
      <p:sp>
        <p:nvSpPr>
          <p:cNvPr id="30" name="Shape 23"/>
          <p:cNvSpPr/>
          <p:nvPr/>
        </p:nvSpPr>
        <p:spPr>
          <a:xfrm>
            <a:off x="8549640" y="1664208"/>
            <a:ext cx="3090672" cy="1234440"/>
          </a:xfrm>
          <a:prstGeom prst="roundRect">
            <a:avLst>
              <a:gd name="adj" fmla="val 8889"/>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31" name="Text 24"/>
          <p:cNvSpPr txBox="1"/>
          <p:nvPr/>
        </p:nvSpPr>
        <p:spPr>
          <a:xfrm>
            <a:off x="8705088" y="1755648"/>
            <a:ext cx="2834640" cy="274320"/>
          </a:xfrm>
          <a:prstGeom prst="rect">
            <a:avLst/>
          </a:prstGeom>
          <a:noFill/>
          <a:ln/>
        </p:spPr>
        <p:txBody>
          <a:bodyPr wrap="square" lIns="0" tIns="0" rIns="0" bIns="0" rtlCol="0" anchor="t"/>
          <a:lstStyle/>
          <a:p>
            <a:pPr marL="0" indent="0">
              <a:buNone/>
            </a:pPr>
            <a:r>
              <a:rPr lang="en-US" sz="1350" b="1" dirty="0">
                <a:solidFill>
                  <a:srgbClr val="8DB4F5"/>
                </a:solidFill>
                <a:latin typeface="Calibri" pitchFamily="34" charset="0"/>
                <a:ea typeface="Calibri" pitchFamily="34" charset="-122"/>
                <a:cs typeface="Calibri" pitchFamily="34" charset="-120"/>
              </a:rPr>
              <a:t>Verified, not remembered</a:t>
            </a:r>
            <a:endParaRPr lang="en-US" sz="1350" dirty="0"/>
          </a:p>
        </p:txBody>
      </p:sp>
      <p:sp>
        <p:nvSpPr>
          <p:cNvPr id="32" name="Text 25"/>
          <p:cNvSpPr txBox="1"/>
          <p:nvPr/>
        </p:nvSpPr>
        <p:spPr>
          <a:xfrm>
            <a:off x="8705088" y="2075688"/>
            <a:ext cx="2834640" cy="228600"/>
          </a:xfrm>
          <a:prstGeom prst="rect">
            <a:avLst/>
          </a:prstGeom>
          <a:noFill/>
          <a:ln/>
        </p:spPr>
        <p:txBody>
          <a:bodyPr wrap="square" lIns="0" tIns="0" rIns="0" bIns="0" rtlCol="0" anchor="t"/>
          <a:lstStyle/>
          <a:p>
            <a:pPr marL="0" indent="0">
              <a:buNone/>
            </a:pPr>
            <a:r>
              <a:rPr lang="en-US" sz="1100" b="1" dirty="0">
                <a:solidFill>
                  <a:schemeClr val="accent5"/>
                </a:solidFill>
                <a:latin typeface="Calibri" pitchFamily="34" charset="0"/>
                <a:ea typeface="Calibri" pitchFamily="34" charset="-122"/>
                <a:cs typeface="Calibri" pitchFamily="34" charset="-120"/>
              </a:rPr>
              <a:t>Evidence  </a:t>
            </a:r>
            <a:r>
              <a:rPr lang="en-US" sz="1100" dirty="0">
                <a:solidFill>
                  <a:srgbClr val="E8EEF8"/>
                </a:solidFill>
                <a:latin typeface="Calibri" pitchFamily="34" charset="0"/>
                <a:ea typeface="Calibri" pitchFamily="34" charset="-122"/>
                <a:cs typeface="Calibri" pitchFamily="34" charset="-120"/>
              </a:rPr>
              <a:t>Claude T03, E03</a:t>
            </a:r>
            <a:endParaRPr lang="en-US" sz="1100" dirty="0"/>
          </a:p>
        </p:txBody>
      </p:sp>
      <p:sp>
        <p:nvSpPr>
          <p:cNvPr id="33" name="Text 26"/>
          <p:cNvSpPr txBox="1"/>
          <p:nvPr/>
        </p:nvSpPr>
        <p:spPr>
          <a:xfrm>
            <a:off x="8705088" y="2304288"/>
            <a:ext cx="2834640" cy="228600"/>
          </a:xfrm>
          <a:prstGeom prst="rect">
            <a:avLst/>
          </a:prstGeom>
          <a:noFill/>
          <a:ln/>
        </p:spPr>
        <p:txBody>
          <a:bodyPr wrap="square" lIns="0" tIns="0" rIns="0" bIns="0" rtlCol="0" anchor="t"/>
          <a:lstStyle/>
          <a:p>
            <a:pPr marL="0" indent="0">
              <a:buNone/>
            </a:pPr>
            <a:r>
              <a:rPr lang="en-US" sz="1100" b="1" dirty="0">
                <a:solidFill>
                  <a:srgbClr val="E0A262"/>
                </a:solidFill>
                <a:latin typeface="Calibri" pitchFamily="34" charset="0"/>
                <a:ea typeface="Calibri" pitchFamily="34" charset="-122"/>
                <a:cs typeface="Calibri" pitchFamily="34" charset="-120"/>
              </a:rPr>
              <a:t>Break  </a:t>
            </a:r>
            <a:r>
              <a:rPr lang="en-US" sz="1100" dirty="0">
                <a:solidFill>
                  <a:srgbClr val="E8EEF8"/>
                </a:solidFill>
                <a:latin typeface="Calibri" pitchFamily="34" charset="0"/>
                <a:ea typeface="Calibri" pitchFamily="34" charset="-122"/>
                <a:cs typeface="Calibri" pitchFamily="34" charset="-120"/>
              </a:rPr>
              <a:t>Memory</a:t>
            </a:r>
            <a:endParaRPr lang="en-US" sz="1100" dirty="0"/>
          </a:p>
        </p:txBody>
      </p:sp>
      <p:sp>
        <p:nvSpPr>
          <p:cNvPr id="34" name="Text 27"/>
          <p:cNvSpPr txBox="1"/>
          <p:nvPr/>
        </p:nvSpPr>
        <p:spPr>
          <a:xfrm>
            <a:off x="8705088" y="2532888"/>
            <a:ext cx="2834640" cy="274320"/>
          </a:xfrm>
          <a:prstGeom prst="rect">
            <a:avLst/>
          </a:prstGeom>
          <a:noFill/>
          <a:ln/>
        </p:spPr>
        <p:txBody>
          <a:bodyPr wrap="square" lIns="0" tIns="0" rIns="0" bIns="0" rtlCol="0" anchor="t"/>
          <a:lstStyle/>
          <a:p>
            <a:pPr marL="0" indent="0">
              <a:buNone/>
            </a:pPr>
            <a:r>
              <a:rPr lang="en-US" sz="1100" b="1" dirty="0">
                <a:solidFill>
                  <a:srgbClr val="4DB886"/>
                </a:solidFill>
                <a:latin typeface="Calibri" pitchFamily="34" charset="0"/>
                <a:ea typeface="Calibri" pitchFamily="34" charset="-122"/>
                <a:cs typeface="Calibri" pitchFamily="34" charset="-120"/>
              </a:rPr>
              <a:t>Principle  </a:t>
            </a:r>
            <a:r>
              <a:rPr lang="en-US" sz="1100" dirty="0">
                <a:solidFill>
                  <a:srgbClr val="E8EEF8"/>
                </a:solidFill>
                <a:latin typeface="Calibri" pitchFamily="34" charset="0"/>
                <a:ea typeface="Calibri" pitchFamily="34" charset="-122"/>
                <a:cs typeface="Calibri" pitchFamily="34" charset="-120"/>
              </a:rPr>
              <a:t>Knowledge infrastructure</a:t>
            </a:r>
            <a:endParaRPr lang="en-US" sz="1100" dirty="0"/>
          </a:p>
        </p:txBody>
      </p:sp>
      <p:sp>
        <p:nvSpPr>
          <p:cNvPr id="35" name="Shape 28"/>
          <p:cNvSpPr/>
          <p:nvPr/>
        </p:nvSpPr>
        <p:spPr>
          <a:xfrm>
            <a:off x="8549640" y="2990088"/>
            <a:ext cx="3090672" cy="1234440"/>
          </a:xfrm>
          <a:prstGeom prst="roundRect">
            <a:avLst>
              <a:gd name="adj" fmla="val 8889"/>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36" name="Text 29"/>
          <p:cNvSpPr txBox="1"/>
          <p:nvPr/>
        </p:nvSpPr>
        <p:spPr>
          <a:xfrm>
            <a:off x="8705088" y="3081528"/>
            <a:ext cx="2834640" cy="274320"/>
          </a:xfrm>
          <a:prstGeom prst="rect">
            <a:avLst/>
          </a:prstGeom>
          <a:noFill/>
          <a:ln/>
        </p:spPr>
        <p:txBody>
          <a:bodyPr wrap="square" lIns="0" tIns="0" rIns="0" bIns="0" rtlCol="0" anchor="t"/>
          <a:lstStyle/>
          <a:p>
            <a:pPr marL="0" indent="0">
              <a:buNone/>
            </a:pPr>
            <a:r>
              <a:rPr lang="en-US" sz="1350" b="1" dirty="0">
                <a:solidFill>
                  <a:srgbClr val="8DB4F5"/>
                </a:solidFill>
                <a:latin typeface="Calibri" pitchFamily="34" charset="0"/>
                <a:ea typeface="Calibri" pitchFamily="34" charset="-122"/>
                <a:cs typeface="Calibri" pitchFamily="34" charset="-120"/>
              </a:rPr>
              <a:t>Sources and "not sure"</a:t>
            </a:r>
            <a:endParaRPr lang="en-US" sz="1350" dirty="0"/>
          </a:p>
        </p:txBody>
      </p:sp>
      <p:sp>
        <p:nvSpPr>
          <p:cNvPr id="37" name="Text 30"/>
          <p:cNvSpPr txBox="1"/>
          <p:nvPr/>
        </p:nvSpPr>
        <p:spPr>
          <a:xfrm>
            <a:off x="8705088" y="3401568"/>
            <a:ext cx="2834640" cy="228600"/>
          </a:xfrm>
          <a:prstGeom prst="rect">
            <a:avLst/>
          </a:prstGeom>
          <a:noFill/>
          <a:ln/>
        </p:spPr>
        <p:txBody>
          <a:bodyPr wrap="square" lIns="0" tIns="0" rIns="0" bIns="0" rtlCol="0" anchor="t"/>
          <a:lstStyle/>
          <a:p>
            <a:pPr marL="0" indent="0">
              <a:buNone/>
            </a:pPr>
            <a:r>
              <a:rPr lang="en-US" sz="1100" b="1" dirty="0">
                <a:solidFill>
                  <a:schemeClr val="accent5"/>
                </a:solidFill>
                <a:latin typeface="Calibri" pitchFamily="34" charset="0"/>
                <a:ea typeface="Calibri" pitchFamily="34" charset="-122"/>
                <a:cs typeface="Calibri" pitchFamily="34" charset="-120"/>
              </a:rPr>
              <a:t>Evidence  </a:t>
            </a:r>
            <a:r>
              <a:rPr lang="en-US" sz="1100" dirty="0">
                <a:solidFill>
                  <a:srgbClr val="E8EEF8"/>
                </a:solidFill>
                <a:latin typeface="Calibri" pitchFamily="34" charset="0"/>
                <a:ea typeface="Calibri" pitchFamily="34" charset="-122"/>
                <a:cs typeface="Calibri" pitchFamily="34" charset="-120"/>
              </a:rPr>
              <a:t>E02, Gemini T02</a:t>
            </a:r>
            <a:endParaRPr lang="en-US" sz="1100" dirty="0"/>
          </a:p>
        </p:txBody>
      </p:sp>
      <p:sp>
        <p:nvSpPr>
          <p:cNvPr id="38" name="Text 31"/>
          <p:cNvSpPr txBox="1"/>
          <p:nvPr/>
        </p:nvSpPr>
        <p:spPr>
          <a:xfrm>
            <a:off x="8705088" y="3630168"/>
            <a:ext cx="2834640" cy="228600"/>
          </a:xfrm>
          <a:prstGeom prst="rect">
            <a:avLst/>
          </a:prstGeom>
          <a:noFill/>
          <a:ln/>
        </p:spPr>
        <p:txBody>
          <a:bodyPr wrap="square" lIns="0" tIns="0" rIns="0" bIns="0" rtlCol="0" anchor="t"/>
          <a:lstStyle/>
          <a:p>
            <a:pPr marL="0" indent="0">
              <a:buNone/>
            </a:pPr>
            <a:r>
              <a:rPr lang="en-US" sz="1100" b="1" dirty="0">
                <a:solidFill>
                  <a:srgbClr val="E0A262"/>
                </a:solidFill>
                <a:latin typeface="Calibri" pitchFamily="34" charset="0"/>
                <a:ea typeface="Calibri" pitchFamily="34" charset="-122"/>
                <a:cs typeface="Calibri" pitchFamily="34" charset="-120"/>
              </a:rPr>
              <a:t>Break  </a:t>
            </a:r>
            <a:r>
              <a:rPr lang="en-US" sz="1100" dirty="0">
                <a:solidFill>
                  <a:srgbClr val="E8EEF8"/>
                </a:solidFill>
                <a:latin typeface="Calibri" pitchFamily="34" charset="0"/>
                <a:ea typeface="Calibri" pitchFamily="34" charset="-122"/>
                <a:cs typeface="Calibri" pitchFamily="34" charset="-120"/>
              </a:rPr>
              <a:t>Reasoning with no stop rule</a:t>
            </a:r>
            <a:endParaRPr lang="en-US" sz="1100" dirty="0"/>
          </a:p>
        </p:txBody>
      </p:sp>
      <p:sp>
        <p:nvSpPr>
          <p:cNvPr id="39" name="Text 32"/>
          <p:cNvSpPr txBox="1"/>
          <p:nvPr/>
        </p:nvSpPr>
        <p:spPr>
          <a:xfrm>
            <a:off x="8705088" y="3858768"/>
            <a:ext cx="2834640" cy="274320"/>
          </a:xfrm>
          <a:prstGeom prst="rect">
            <a:avLst/>
          </a:prstGeom>
          <a:noFill/>
          <a:ln/>
        </p:spPr>
        <p:txBody>
          <a:bodyPr wrap="square" lIns="0" tIns="0" rIns="0" bIns="0" rtlCol="0" anchor="t"/>
          <a:lstStyle/>
          <a:p>
            <a:pPr marL="0" indent="0">
              <a:buNone/>
            </a:pPr>
            <a:r>
              <a:rPr lang="en-US" sz="1100" b="1" dirty="0">
                <a:solidFill>
                  <a:srgbClr val="4DB886"/>
                </a:solidFill>
                <a:latin typeface="Calibri" pitchFamily="34" charset="0"/>
                <a:ea typeface="Calibri" pitchFamily="34" charset="-122"/>
                <a:cs typeface="Calibri" pitchFamily="34" charset="-120"/>
              </a:rPr>
              <a:t>Principle  </a:t>
            </a:r>
            <a:r>
              <a:rPr lang="en-US" sz="1100" dirty="0">
                <a:solidFill>
                  <a:srgbClr val="E8EEF8"/>
                </a:solidFill>
                <a:latin typeface="Calibri" pitchFamily="34" charset="0"/>
                <a:ea typeface="Calibri" pitchFamily="34" charset="-122"/>
                <a:cs typeface="Calibri" pitchFamily="34" charset="-120"/>
              </a:rPr>
              <a:t>Interrogation orchestration</a:t>
            </a:r>
            <a:endParaRPr lang="en-US" sz="1100" dirty="0"/>
          </a:p>
        </p:txBody>
      </p:sp>
      <p:sp>
        <p:nvSpPr>
          <p:cNvPr id="40" name="Shape 33"/>
          <p:cNvSpPr/>
          <p:nvPr/>
        </p:nvSpPr>
        <p:spPr>
          <a:xfrm>
            <a:off x="8549640" y="4315968"/>
            <a:ext cx="3090672" cy="1234440"/>
          </a:xfrm>
          <a:prstGeom prst="roundRect">
            <a:avLst>
              <a:gd name="adj" fmla="val 8889"/>
            </a:avLst>
          </a:prstGeom>
          <a:solidFill>
            <a:srgbClr val="16263D"/>
          </a:solidFill>
          <a:ln/>
          <a:effectLst>
            <a:outerShdw blurRad="127000" dist="25400" dir="5400000" algn="bl" rotWithShape="0">
              <a:srgbClr val="000000">
                <a:alpha val="35000"/>
              </a:srgbClr>
            </a:outerShdw>
          </a:effectLst>
        </p:spPr>
        <p:txBody>
          <a:bodyPr/>
          <a:lstStyle/>
          <a:p>
            <a:endParaRPr lang="en-US"/>
          </a:p>
        </p:txBody>
      </p:sp>
      <p:sp>
        <p:nvSpPr>
          <p:cNvPr id="41" name="Text 34"/>
          <p:cNvSpPr txBox="1"/>
          <p:nvPr/>
        </p:nvSpPr>
        <p:spPr>
          <a:xfrm>
            <a:off x="8705088" y="4407408"/>
            <a:ext cx="2834640" cy="274320"/>
          </a:xfrm>
          <a:prstGeom prst="rect">
            <a:avLst/>
          </a:prstGeom>
          <a:noFill/>
          <a:ln/>
        </p:spPr>
        <p:txBody>
          <a:bodyPr wrap="square" lIns="0" tIns="0" rIns="0" bIns="0" rtlCol="0" anchor="t"/>
          <a:lstStyle/>
          <a:p>
            <a:pPr marL="0" indent="0">
              <a:buNone/>
            </a:pPr>
            <a:r>
              <a:rPr lang="en-US" sz="1350" b="1" dirty="0">
                <a:solidFill>
                  <a:srgbClr val="8DB4F5"/>
                </a:solidFill>
                <a:latin typeface="Calibri" pitchFamily="34" charset="0"/>
                <a:ea typeface="Calibri" pitchFamily="34" charset="-122"/>
                <a:cs typeface="Calibri" pitchFamily="34" charset="-120"/>
              </a:rPr>
              <a:t>Confirmation in software</a:t>
            </a:r>
            <a:endParaRPr lang="en-US" sz="1350" dirty="0"/>
          </a:p>
        </p:txBody>
      </p:sp>
      <p:sp>
        <p:nvSpPr>
          <p:cNvPr id="42" name="Text 35"/>
          <p:cNvSpPr txBox="1"/>
          <p:nvPr/>
        </p:nvSpPr>
        <p:spPr>
          <a:xfrm>
            <a:off x="8705088" y="4727448"/>
            <a:ext cx="2834640" cy="228600"/>
          </a:xfrm>
          <a:prstGeom prst="rect">
            <a:avLst/>
          </a:prstGeom>
          <a:noFill/>
          <a:ln/>
        </p:spPr>
        <p:txBody>
          <a:bodyPr wrap="square" lIns="0" tIns="0" rIns="0" bIns="0" rtlCol="0" anchor="t"/>
          <a:lstStyle/>
          <a:p>
            <a:pPr marL="0" indent="0">
              <a:buNone/>
            </a:pPr>
            <a:r>
              <a:rPr lang="en-US" sz="1100" b="1" dirty="0">
                <a:solidFill>
                  <a:schemeClr val="accent5"/>
                </a:solidFill>
                <a:latin typeface="Calibri" pitchFamily="34" charset="0"/>
                <a:ea typeface="Calibri" pitchFamily="34" charset="-122"/>
                <a:cs typeface="Calibri" pitchFamily="34" charset="-120"/>
              </a:rPr>
              <a:t>Evidence  </a:t>
            </a:r>
            <a:r>
              <a:rPr lang="en-US" sz="1100" dirty="0">
                <a:solidFill>
                  <a:srgbClr val="E8EEF8"/>
                </a:solidFill>
                <a:latin typeface="Calibri" pitchFamily="34" charset="0"/>
                <a:ea typeface="Calibri" pitchFamily="34" charset="-122"/>
                <a:cs typeface="Calibri" pitchFamily="34" charset="-120"/>
              </a:rPr>
              <a:t>F03, varied by tool</a:t>
            </a:r>
            <a:endParaRPr lang="en-US" sz="1100" dirty="0"/>
          </a:p>
        </p:txBody>
      </p:sp>
      <p:sp>
        <p:nvSpPr>
          <p:cNvPr id="43" name="Text 36"/>
          <p:cNvSpPr txBox="1"/>
          <p:nvPr/>
        </p:nvSpPr>
        <p:spPr>
          <a:xfrm>
            <a:off x="8705088" y="4956048"/>
            <a:ext cx="2834640" cy="228600"/>
          </a:xfrm>
          <a:prstGeom prst="rect">
            <a:avLst/>
          </a:prstGeom>
          <a:noFill/>
          <a:ln/>
        </p:spPr>
        <p:txBody>
          <a:bodyPr wrap="square" lIns="0" tIns="0" rIns="0" bIns="0" rtlCol="0" anchor="t"/>
          <a:lstStyle/>
          <a:p>
            <a:pPr marL="0" indent="0">
              <a:buNone/>
            </a:pPr>
            <a:r>
              <a:rPr lang="en-US" sz="1100" b="1" dirty="0">
                <a:solidFill>
                  <a:srgbClr val="E0A262"/>
                </a:solidFill>
                <a:latin typeface="Calibri" pitchFamily="34" charset="0"/>
                <a:ea typeface="Calibri" pitchFamily="34" charset="-122"/>
                <a:cs typeface="Calibri" pitchFamily="34" charset="-120"/>
              </a:rPr>
              <a:t>Break  </a:t>
            </a:r>
            <a:r>
              <a:rPr lang="en-US" sz="1100" dirty="0">
                <a:solidFill>
                  <a:srgbClr val="E8EEF8"/>
                </a:solidFill>
                <a:latin typeface="Calibri" pitchFamily="34" charset="0"/>
                <a:ea typeface="Calibri" pitchFamily="34" charset="-122"/>
                <a:cs typeface="Calibri" pitchFamily="34" charset="-120"/>
              </a:rPr>
              <a:t>Meta-coordination</a:t>
            </a:r>
            <a:endParaRPr lang="en-US" sz="1100" dirty="0"/>
          </a:p>
        </p:txBody>
      </p:sp>
      <p:sp>
        <p:nvSpPr>
          <p:cNvPr id="44" name="Text 37"/>
          <p:cNvSpPr txBox="1"/>
          <p:nvPr/>
        </p:nvSpPr>
        <p:spPr>
          <a:xfrm>
            <a:off x="8705088" y="5184648"/>
            <a:ext cx="2834640" cy="274320"/>
          </a:xfrm>
          <a:prstGeom prst="rect">
            <a:avLst/>
          </a:prstGeom>
          <a:noFill/>
          <a:ln/>
        </p:spPr>
        <p:txBody>
          <a:bodyPr wrap="square" lIns="0" tIns="0" rIns="0" bIns="0" rtlCol="0" anchor="t"/>
          <a:lstStyle/>
          <a:p>
            <a:pPr marL="0" indent="0">
              <a:buNone/>
            </a:pPr>
            <a:r>
              <a:rPr lang="en-US" sz="1100" b="1" dirty="0">
                <a:solidFill>
                  <a:srgbClr val="4DB886"/>
                </a:solidFill>
                <a:latin typeface="Calibri" pitchFamily="34" charset="0"/>
                <a:ea typeface="Calibri" pitchFamily="34" charset="-122"/>
                <a:cs typeface="Calibri" pitchFamily="34" charset="-120"/>
              </a:rPr>
              <a:t>Principle  </a:t>
            </a:r>
            <a:r>
              <a:rPr lang="en-US" sz="1100" dirty="0">
                <a:solidFill>
                  <a:srgbClr val="E8EEF8"/>
                </a:solidFill>
                <a:latin typeface="Calibri" pitchFamily="34" charset="0"/>
                <a:ea typeface="Calibri" pitchFamily="34" charset="-122"/>
                <a:cs typeface="Calibri" pitchFamily="34" charset="-120"/>
              </a:rPr>
              <a:t>Role partitioning</a:t>
            </a:r>
            <a:endParaRPr lang="en-US" sz="1100" dirty="0"/>
          </a:p>
        </p:txBody>
      </p:sp>
      <p:sp>
        <p:nvSpPr>
          <p:cNvPr id="45" name="Text 38"/>
          <p:cNvSpPr txBox="1"/>
          <p:nvPr/>
        </p:nvSpPr>
        <p:spPr>
          <a:xfrm>
            <a:off x="548640" y="5897880"/>
            <a:ext cx="1463040" cy="329184"/>
          </a:xfrm>
          <a:prstGeom prst="rect">
            <a:avLst/>
          </a:prstGeom>
          <a:noFill/>
          <a:ln/>
        </p:spPr>
        <p:txBody>
          <a:bodyPr wrap="square" lIns="0" tIns="0" rIns="0" bIns="0" rtlCol="0" anchor="ctr"/>
          <a:lstStyle/>
          <a:p>
            <a:pPr marL="0" indent="0">
              <a:buNone/>
            </a:pPr>
            <a:r>
              <a:rPr lang="en-US" sz="1050" b="1" kern="0" spc="200" dirty="0">
                <a:solidFill>
                  <a:srgbClr val="9AAAC3"/>
                </a:solidFill>
                <a:latin typeface="Calibri" pitchFamily="34" charset="0"/>
                <a:ea typeface="Calibri" pitchFamily="34" charset="-122"/>
                <a:cs typeface="Calibri" pitchFamily="34" charset="-120"/>
              </a:rPr>
              <a:t>APPLE HIG LENS</a:t>
            </a:r>
            <a:endParaRPr lang="en-US" sz="1050" dirty="0"/>
          </a:p>
        </p:txBody>
      </p:sp>
      <p:sp>
        <p:nvSpPr>
          <p:cNvPr id="46" name="Text 39"/>
          <p:cNvSpPr txBox="1"/>
          <p:nvPr/>
        </p:nvSpPr>
        <p:spPr>
          <a:xfrm>
            <a:off x="2103120" y="5897880"/>
            <a:ext cx="960120" cy="329184"/>
          </a:xfrm>
          <a:prstGeom prst="roundRect">
            <a:avLst>
              <a:gd name="adj" fmla="val 138889"/>
            </a:avLst>
          </a:prstGeom>
          <a:solidFill>
            <a:srgbClr val="16263D"/>
          </a:solidFill>
          <a:ln/>
        </p:spPr>
        <p:txBody>
          <a:bodyPr wrap="square" lIns="0" tIns="0" rIns="0" bIns="0" rtlCol="0" anchor="ctr"/>
          <a:lstStyle/>
          <a:p>
            <a:pPr marL="0" indent="0" algn="ctr">
              <a:buNone/>
            </a:pPr>
            <a:r>
              <a:rPr lang="en-US" sz="1100" b="1" dirty="0">
                <a:solidFill>
                  <a:srgbClr val="8DB4F5"/>
                </a:solidFill>
                <a:latin typeface="Calibri" pitchFamily="34" charset="0"/>
                <a:ea typeface="Calibri" pitchFamily="34" charset="-122"/>
                <a:cs typeface="Calibri" pitchFamily="34" charset="-120"/>
              </a:rPr>
              <a:t>Clarity</a:t>
            </a:r>
            <a:endParaRPr lang="en-US" sz="1100" dirty="0"/>
          </a:p>
        </p:txBody>
      </p:sp>
      <p:sp>
        <p:nvSpPr>
          <p:cNvPr id="47" name="Text 40"/>
          <p:cNvSpPr txBox="1"/>
          <p:nvPr/>
        </p:nvSpPr>
        <p:spPr>
          <a:xfrm>
            <a:off x="3172968" y="5897880"/>
            <a:ext cx="1188720" cy="329184"/>
          </a:xfrm>
          <a:prstGeom prst="roundRect">
            <a:avLst>
              <a:gd name="adj" fmla="val 138889"/>
            </a:avLst>
          </a:prstGeom>
          <a:solidFill>
            <a:srgbClr val="16263D"/>
          </a:solidFill>
          <a:ln/>
        </p:spPr>
        <p:txBody>
          <a:bodyPr wrap="square" lIns="0" tIns="0" rIns="0" bIns="0" rtlCol="0" anchor="ctr"/>
          <a:lstStyle/>
          <a:p>
            <a:pPr marL="0" indent="0" algn="ctr">
              <a:buNone/>
            </a:pPr>
            <a:r>
              <a:rPr lang="en-US" sz="1100" b="1" dirty="0">
                <a:solidFill>
                  <a:srgbClr val="8DB4F5"/>
                </a:solidFill>
                <a:latin typeface="Calibri" pitchFamily="34" charset="0"/>
                <a:ea typeface="Calibri" pitchFamily="34" charset="-122"/>
                <a:cs typeface="Calibri" pitchFamily="34" charset="-120"/>
              </a:rPr>
              <a:t>Deference</a:t>
            </a:r>
            <a:endParaRPr lang="en-US" sz="1100" dirty="0"/>
          </a:p>
        </p:txBody>
      </p:sp>
      <p:sp>
        <p:nvSpPr>
          <p:cNvPr id="48" name="Text 41"/>
          <p:cNvSpPr txBox="1"/>
          <p:nvPr/>
        </p:nvSpPr>
        <p:spPr>
          <a:xfrm>
            <a:off x="4471416" y="5897880"/>
            <a:ext cx="1325880" cy="329184"/>
          </a:xfrm>
          <a:prstGeom prst="roundRect">
            <a:avLst>
              <a:gd name="adj" fmla="val 138889"/>
            </a:avLst>
          </a:prstGeom>
          <a:solidFill>
            <a:srgbClr val="16263D"/>
          </a:solidFill>
          <a:ln/>
        </p:spPr>
        <p:txBody>
          <a:bodyPr wrap="square" lIns="0" tIns="0" rIns="0" bIns="0" rtlCol="0" anchor="ctr"/>
          <a:lstStyle/>
          <a:p>
            <a:pPr marL="0" indent="0" algn="ctr">
              <a:buNone/>
            </a:pPr>
            <a:r>
              <a:rPr lang="en-US" sz="1100" b="1" dirty="0">
                <a:solidFill>
                  <a:srgbClr val="8DB4F5"/>
                </a:solidFill>
                <a:latin typeface="Calibri" pitchFamily="34" charset="0"/>
                <a:ea typeface="Calibri" pitchFamily="34" charset="-122"/>
                <a:cs typeface="Calibri" pitchFamily="34" charset="-120"/>
              </a:rPr>
              <a:t>Consistency</a:t>
            </a:r>
            <a:endParaRPr lang="en-US" sz="1100" dirty="0"/>
          </a:p>
        </p:txBody>
      </p:sp>
      <p:sp>
        <p:nvSpPr>
          <p:cNvPr id="49" name="Text 42"/>
          <p:cNvSpPr txBox="1"/>
          <p:nvPr/>
        </p:nvSpPr>
        <p:spPr>
          <a:xfrm>
            <a:off x="5907024" y="5897880"/>
            <a:ext cx="1097280" cy="329184"/>
          </a:xfrm>
          <a:prstGeom prst="roundRect">
            <a:avLst>
              <a:gd name="adj" fmla="val 138889"/>
            </a:avLst>
          </a:prstGeom>
          <a:solidFill>
            <a:srgbClr val="16263D"/>
          </a:solidFill>
          <a:ln/>
        </p:spPr>
        <p:txBody>
          <a:bodyPr wrap="square" lIns="0" tIns="0" rIns="0" bIns="0" rtlCol="0" anchor="ctr"/>
          <a:lstStyle/>
          <a:p>
            <a:pPr marL="0" indent="0" algn="ctr">
              <a:buNone/>
            </a:pPr>
            <a:r>
              <a:rPr lang="en-US" sz="1100" b="1" dirty="0">
                <a:solidFill>
                  <a:srgbClr val="8DB4F5"/>
                </a:solidFill>
                <a:latin typeface="Calibri" pitchFamily="34" charset="0"/>
                <a:ea typeface="Calibri" pitchFamily="34" charset="-122"/>
                <a:cs typeface="Calibri" pitchFamily="34" charset="-120"/>
              </a:rPr>
              <a:t>Feedback</a:t>
            </a:r>
            <a:endParaRPr lang="en-US" sz="1100" dirty="0"/>
          </a:p>
        </p:txBody>
      </p:sp>
      <p:sp>
        <p:nvSpPr>
          <p:cNvPr id="50" name="Text 43"/>
          <p:cNvSpPr txBox="1"/>
          <p:nvPr/>
        </p:nvSpPr>
        <p:spPr>
          <a:xfrm>
            <a:off x="7114032" y="5897880"/>
            <a:ext cx="2926080" cy="329184"/>
          </a:xfrm>
          <a:prstGeom prst="roundRect">
            <a:avLst>
              <a:gd name="adj" fmla="val 138889"/>
            </a:avLst>
          </a:prstGeom>
          <a:solidFill>
            <a:srgbClr val="16263D"/>
          </a:solidFill>
          <a:ln/>
        </p:spPr>
        <p:txBody>
          <a:bodyPr wrap="square" lIns="0" tIns="0" rIns="0" bIns="0" rtlCol="0" anchor="ctr"/>
          <a:lstStyle/>
          <a:p>
            <a:pPr marL="0" indent="0" algn="ctr">
              <a:buNone/>
            </a:pPr>
            <a:r>
              <a:rPr lang="en-US" sz="1100" b="1" dirty="0">
                <a:solidFill>
                  <a:srgbClr val="8DB4F5"/>
                </a:solidFill>
                <a:latin typeface="Calibri" pitchFamily="34" charset="0"/>
                <a:ea typeface="Calibri" pitchFamily="34" charset="-122"/>
                <a:cs typeface="Calibri" pitchFamily="34" charset="-120"/>
              </a:rPr>
              <a:t>Confirm only consequential actions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0424160" y="-2011680"/>
            <a:ext cx="3657600" cy="3657600"/>
          </a:xfrm>
          <a:prstGeom prst="ellipse">
            <a:avLst/>
          </a:prstGeom>
          <a:solidFill>
            <a:schemeClr val="accent1">
              <a:alpha val="15000"/>
            </a:schemeClr>
          </a:solidFill>
          <a:ln/>
        </p:spPr>
        <p:txBody>
          <a:bodyPr/>
          <a:lstStyle/>
          <a:p>
            <a:endParaRPr lang="en-US"/>
          </a:p>
        </p:txBody>
      </p:sp>
      <p:sp>
        <p:nvSpPr>
          <p:cNvPr id="3" name="Text 1"/>
          <p:cNvSpPr txBox="1"/>
          <p:nvPr/>
        </p:nvSpPr>
        <p:spPr>
          <a:xfrm>
            <a:off x="548640" y="301752"/>
            <a:ext cx="8229600" cy="274320"/>
          </a:xfrm>
          <a:prstGeom prst="rect">
            <a:avLst/>
          </a:prstGeom>
          <a:noFill/>
          <a:ln/>
        </p:spPr>
        <p:txBody>
          <a:bodyPr wrap="square" lIns="0" tIns="0" rIns="0" bIns="0" rtlCol="0" anchor="t"/>
          <a:lstStyle/>
          <a:p>
            <a:pPr marL="0" indent="0">
              <a:buNone/>
            </a:pPr>
            <a:r>
              <a:rPr lang="en-US" sz="1100" b="1" kern="0" spc="300" dirty="0">
                <a:solidFill>
                  <a:srgbClr val="8FBCE8"/>
                </a:solidFill>
                <a:latin typeface="Calibri" pitchFamily="34" charset="0"/>
                <a:ea typeface="Calibri" pitchFamily="34" charset="-122"/>
                <a:cs typeface="Calibri" pitchFamily="34" charset="-120"/>
              </a:rPr>
              <a:t>07  ·  RISKS AND PATH TO CHECKPOINT 3</a:t>
            </a:r>
            <a:endParaRPr lang="en-US" sz="1100" dirty="0"/>
          </a:p>
        </p:txBody>
      </p:sp>
      <p:sp>
        <p:nvSpPr>
          <p:cNvPr id="4"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New risks, and how Checkpoint 3 will test them</a:t>
            </a:r>
            <a:endParaRPr lang="en-US" sz="3000" dirty="0"/>
          </a:p>
        </p:txBody>
      </p:sp>
      <p:sp>
        <p:nvSpPr>
          <p:cNvPr id="48"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6D9"/>
                </a:solidFill>
                <a:latin typeface="Calibri"/>
                <a:ea typeface="Calibri"/>
                <a:cs typeface="Calibri"/>
              </a:defRPr>
            </a:lvl1pPr>
          </a:lstStyle>
          <a:p>
            <a:pPr algn="r"/>
            <a:fld id="{F7021451-1387-4CA6-816F-3879F97B5CBC}" type="slidenum">
              <a:rPr lang="en-US" b="0"/>
              <a:t>7</a:t>
            </a:fld>
            <a:endParaRPr lang="en-US"/>
          </a:p>
        </p:txBody>
      </p:sp>
      <p:sp>
        <p:nvSpPr>
          <p:cNvPr id="5" name="Shape 3"/>
          <p:cNvSpPr/>
          <p:nvPr/>
        </p:nvSpPr>
        <p:spPr>
          <a:xfrm>
            <a:off x="548640" y="1371600"/>
            <a:ext cx="2926080" cy="1691640"/>
          </a:xfrm>
          <a:prstGeom prst="roundRect">
            <a:avLst>
              <a:gd name="adj" fmla="val 6486"/>
            </a:avLst>
          </a:prstGeom>
          <a:solidFill>
            <a:srgbClr val="172A47"/>
          </a:solidFill>
          <a:ln/>
        </p:spPr>
        <p:txBody>
          <a:bodyPr/>
          <a:lstStyle/>
          <a:p>
            <a:endParaRPr lang="en-US"/>
          </a:p>
        </p:txBody>
      </p:sp>
      <p:sp>
        <p:nvSpPr>
          <p:cNvPr id="6" name="Shape 4"/>
          <p:cNvSpPr/>
          <p:nvPr/>
        </p:nvSpPr>
        <p:spPr>
          <a:xfrm>
            <a:off x="731520" y="1536192"/>
            <a:ext cx="384048" cy="384048"/>
          </a:xfrm>
          <a:prstGeom prst="ellipse">
            <a:avLst/>
          </a:prstGeom>
          <a:solidFill>
            <a:schemeClr val="accent3"/>
          </a:solidFill>
          <a:ln/>
        </p:spPr>
        <p:txBody>
          <a:bodyPr/>
          <a:lstStyle/>
          <a:p>
            <a:endParaRPr lang="en-US"/>
          </a:p>
        </p:txBody>
      </p:sp>
      <p:pic>
        <p:nvPicPr>
          <p:cNvPr id="7" name="Image 0" descr="Database icon"/>
          <p:cNvPicPr>
            <a:picLocks noChangeAspect="1"/>
          </p:cNvPicPr>
          <p:nvPr/>
        </p:nvPicPr>
        <p:blipFill>
          <a:blip r:embed="rId3"/>
          <a:stretch>
            <a:fillRect/>
          </a:stretch>
        </p:blipFill>
        <p:spPr>
          <a:xfrm>
            <a:off x="831372" y="1636044"/>
            <a:ext cx="184343" cy="184343"/>
          </a:xfrm>
          <a:prstGeom prst="rect">
            <a:avLst/>
          </a:prstGeom>
        </p:spPr>
      </p:pic>
      <p:sp>
        <p:nvSpPr>
          <p:cNvPr id="8" name="Text 5"/>
          <p:cNvSpPr txBox="1"/>
          <p:nvPr/>
        </p:nvSpPr>
        <p:spPr>
          <a:xfrm>
            <a:off x="1234440" y="1554480"/>
            <a:ext cx="2011680" cy="182880"/>
          </a:xfrm>
          <a:prstGeom prst="rect">
            <a:avLst/>
          </a:prstGeom>
          <a:noFill/>
          <a:ln/>
        </p:spPr>
        <p:txBody>
          <a:bodyPr wrap="square" lIns="0" tIns="0" rIns="0" bIns="0" rtlCol="0" anchor="t"/>
          <a:lstStyle/>
          <a:p>
            <a:pPr marL="0" indent="0">
              <a:buNone/>
            </a:pPr>
            <a:r>
              <a:rPr lang="en-US" sz="1000" b="1" kern="0" spc="200" dirty="0">
                <a:solidFill>
                  <a:srgbClr val="E0A262"/>
                </a:solidFill>
                <a:latin typeface="Calibri" pitchFamily="34" charset="0"/>
                <a:ea typeface="Calibri" pitchFamily="34" charset="-122"/>
                <a:cs typeface="Calibri" pitchFamily="34" charset="-120"/>
              </a:rPr>
              <a:t>RISK</a:t>
            </a:r>
            <a:endParaRPr lang="en-US" sz="1000" dirty="0"/>
          </a:p>
        </p:txBody>
      </p:sp>
      <p:sp>
        <p:nvSpPr>
          <p:cNvPr id="9" name="Text 6"/>
          <p:cNvSpPr txBox="1"/>
          <p:nvPr/>
        </p:nvSpPr>
        <p:spPr>
          <a:xfrm>
            <a:off x="731520" y="1993392"/>
            <a:ext cx="260604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Stale data looks official</a:t>
            </a:r>
            <a:endParaRPr lang="en-US" sz="1400" dirty="0"/>
          </a:p>
        </p:txBody>
      </p:sp>
      <p:sp>
        <p:nvSpPr>
          <p:cNvPr id="10" name="Text 7"/>
          <p:cNvSpPr txBox="1"/>
          <p:nvPr/>
        </p:nvSpPr>
        <p:spPr>
          <a:xfrm>
            <a:off x="731520" y="2468880"/>
            <a:ext cx="2560320" cy="182880"/>
          </a:xfrm>
          <a:prstGeom prst="rect">
            <a:avLst/>
          </a:prstGeom>
          <a:noFill/>
          <a:ln/>
        </p:spPr>
        <p:txBody>
          <a:bodyPr wrap="square" lIns="0" tIns="0" rIns="0" bIns="0" rtlCol="0" anchor="t"/>
          <a:lstStyle/>
          <a:p>
            <a:pPr marL="0" indent="0">
              <a:buNone/>
            </a:pPr>
            <a:r>
              <a:rPr lang="en-US" sz="1000" b="1" kern="0" spc="200" dirty="0">
                <a:solidFill>
                  <a:srgbClr val="8FBCE8"/>
                </a:solidFill>
                <a:latin typeface="Calibri" pitchFamily="34" charset="0"/>
                <a:ea typeface="Calibri" pitchFamily="34" charset="-122"/>
                <a:cs typeface="Calibri" pitchFamily="34" charset="-120"/>
              </a:rPr>
              <a:t>SAFEGUARD</a:t>
            </a:r>
            <a:endParaRPr lang="en-US" sz="1000" dirty="0"/>
          </a:p>
        </p:txBody>
      </p:sp>
      <p:sp>
        <p:nvSpPr>
          <p:cNvPr id="11" name="Text 8"/>
          <p:cNvSpPr txBox="1"/>
          <p:nvPr/>
        </p:nvSpPr>
        <p:spPr>
          <a:xfrm>
            <a:off x="731520" y="2670048"/>
            <a:ext cx="2606040" cy="347472"/>
          </a:xfrm>
          <a:prstGeom prst="rect">
            <a:avLst/>
          </a:prstGeom>
          <a:noFill/>
          <a:ln/>
        </p:spPr>
        <p:txBody>
          <a:bodyPr wrap="square" lIns="0" tIns="0" rIns="0" bIns="0" rtlCol="0" anchor="t"/>
          <a:lstStyle/>
          <a:p>
            <a:pPr marL="0" indent="0">
              <a:buNone/>
            </a:pPr>
            <a:r>
              <a:rPr lang="en-US" sz="1150" dirty="0">
                <a:solidFill>
                  <a:srgbClr val="D3E1F7"/>
                </a:solidFill>
                <a:latin typeface="Calibri" pitchFamily="34" charset="0"/>
                <a:ea typeface="Calibri" pitchFamily="34" charset="-122"/>
                <a:cs typeface="Calibri" pitchFamily="34" charset="-120"/>
              </a:rPr>
              <a:t>Source and status label on every key fact</a:t>
            </a:r>
            <a:endParaRPr lang="en-US" sz="1150" dirty="0"/>
          </a:p>
        </p:txBody>
      </p:sp>
      <p:sp>
        <p:nvSpPr>
          <p:cNvPr id="12" name="Shape 9"/>
          <p:cNvSpPr/>
          <p:nvPr/>
        </p:nvSpPr>
        <p:spPr>
          <a:xfrm>
            <a:off x="3657600" y="1371600"/>
            <a:ext cx="2926080" cy="1691640"/>
          </a:xfrm>
          <a:prstGeom prst="roundRect">
            <a:avLst>
              <a:gd name="adj" fmla="val 6486"/>
            </a:avLst>
          </a:prstGeom>
          <a:solidFill>
            <a:srgbClr val="172A47"/>
          </a:solidFill>
          <a:ln/>
        </p:spPr>
        <p:txBody>
          <a:bodyPr/>
          <a:lstStyle/>
          <a:p>
            <a:endParaRPr lang="en-US"/>
          </a:p>
        </p:txBody>
      </p:sp>
      <p:sp>
        <p:nvSpPr>
          <p:cNvPr id="13" name="Shape 10"/>
          <p:cNvSpPr/>
          <p:nvPr/>
        </p:nvSpPr>
        <p:spPr>
          <a:xfrm>
            <a:off x="3840480" y="1536192"/>
            <a:ext cx="384048" cy="384048"/>
          </a:xfrm>
          <a:prstGeom prst="ellipse">
            <a:avLst/>
          </a:prstGeom>
          <a:solidFill>
            <a:schemeClr val="accent3"/>
          </a:solidFill>
          <a:ln/>
        </p:spPr>
        <p:txBody>
          <a:bodyPr/>
          <a:lstStyle/>
          <a:p>
            <a:endParaRPr lang="en-US"/>
          </a:p>
        </p:txBody>
      </p:sp>
      <p:pic>
        <p:nvPicPr>
          <p:cNvPr id="14" name="Image 1" descr="Lock icon"/>
          <p:cNvPicPr>
            <a:picLocks noChangeAspect="1"/>
          </p:cNvPicPr>
          <p:nvPr/>
        </p:nvPicPr>
        <p:blipFill>
          <a:blip r:embed="rId4"/>
          <a:stretch>
            <a:fillRect/>
          </a:stretch>
        </p:blipFill>
        <p:spPr>
          <a:xfrm>
            <a:off x="3940332" y="1636044"/>
            <a:ext cx="184343" cy="184343"/>
          </a:xfrm>
          <a:prstGeom prst="rect">
            <a:avLst/>
          </a:prstGeom>
        </p:spPr>
      </p:pic>
      <p:sp>
        <p:nvSpPr>
          <p:cNvPr id="15" name="Text 11"/>
          <p:cNvSpPr txBox="1"/>
          <p:nvPr/>
        </p:nvSpPr>
        <p:spPr>
          <a:xfrm>
            <a:off x="4343400" y="1554480"/>
            <a:ext cx="2011680" cy="182880"/>
          </a:xfrm>
          <a:prstGeom prst="rect">
            <a:avLst/>
          </a:prstGeom>
          <a:noFill/>
          <a:ln/>
        </p:spPr>
        <p:txBody>
          <a:bodyPr wrap="square" lIns="0" tIns="0" rIns="0" bIns="0" rtlCol="0" anchor="t"/>
          <a:lstStyle/>
          <a:p>
            <a:pPr marL="0" indent="0">
              <a:buNone/>
            </a:pPr>
            <a:r>
              <a:rPr lang="en-US" sz="1000" b="1" kern="0" spc="200" dirty="0">
                <a:solidFill>
                  <a:srgbClr val="E0A262"/>
                </a:solidFill>
                <a:latin typeface="Calibri" pitchFamily="34" charset="0"/>
                <a:ea typeface="Calibri" pitchFamily="34" charset="-122"/>
                <a:cs typeface="Calibri" pitchFamily="34" charset="-120"/>
              </a:rPr>
              <a:t>RISK</a:t>
            </a:r>
            <a:endParaRPr lang="en-US" sz="1000" dirty="0"/>
          </a:p>
        </p:txBody>
      </p:sp>
      <p:sp>
        <p:nvSpPr>
          <p:cNvPr id="16" name="Text 12"/>
          <p:cNvSpPr txBox="1"/>
          <p:nvPr/>
        </p:nvSpPr>
        <p:spPr>
          <a:xfrm>
            <a:off x="3840480" y="1993392"/>
            <a:ext cx="260604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Model skips a confirmation</a:t>
            </a:r>
            <a:endParaRPr lang="en-US" sz="1400" dirty="0"/>
          </a:p>
        </p:txBody>
      </p:sp>
      <p:sp>
        <p:nvSpPr>
          <p:cNvPr id="17" name="Text 13"/>
          <p:cNvSpPr txBox="1"/>
          <p:nvPr/>
        </p:nvSpPr>
        <p:spPr>
          <a:xfrm>
            <a:off x="3840480" y="2468880"/>
            <a:ext cx="2560320" cy="182880"/>
          </a:xfrm>
          <a:prstGeom prst="rect">
            <a:avLst/>
          </a:prstGeom>
          <a:noFill/>
          <a:ln/>
        </p:spPr>
        <p:txBody>
          <a:bodyPr wrap="square" lIns="0" tIns="0" rIns="0" bIns="0" rtlCol="0" anchor="t"/>
          <a:lstStyle/>
          <a:p>
            <a:pPr marL="0" indent="0">
              <a:buNone/>
            </a:pPr>
            <a:r>
              <a:rPr lang="en-US" sz="1000" b="1" kern="0" spc="200" dirty="0">
                <a:solidFill>
                  <a:srgbClr val="8FBCE8"/>
                </a:solidFill>
                <a:latin typeface="Calibri" pitchFamily="34" charset="0"/>
                <a:ea typeface="Calibri" pitchFamily="34" charset="-122"/>
                <a:cs typeface="Calibri" pitchFamily="34" charset="-120"/>
              </a:rPr>
              <a:t>SAFEGUARD</a:t>
            </a:r>
            <a:endParaRPr lang="en-US" sz="1000" dirty="0"/>
          </a:p>
        </p:txBody>
      </p:sp>
      <p:sp>
        <p:nvSpPr>
          <p:cNvPr id="18" name="Text 14"/>
          <p:cNvSpPr txBox="1"/>
          <p:nvPr/>
        </p:nvSpPr>
        <p:spPr>
          <a:xfrm>
            <a:off x="3840480" y="2670048"/>
            <a:ext cx="2606040" cy="347472"/>
          </a:xfrm>
          <a:prstGeom prst="rect">
            <a:avLst/>
          </a:prstGeom>
          <a:noFill/>
          <a:ln/>
        </p:spPr>
        <p:txBody>
          <a:bodyPr wrap="square" lIns="0" tIns="0" rIns="0" bIns="0" rtlCol="0" anchor="t"/>
          <a:lstStyle/>
          <a:p>
            <a:pPr marL="0" indent="0">
              <a:buNone/>
            </a:pPr>
            <a:r>
              <a:rPr lang="en-US" sz="1150" dirty="0">
                <a:solidFill>
                  <a:srgbClr val="D3E1F7"/>
                </a:solidFill>
                <a:latin typeface="Calibri" pitchFamily="34" charset="0"/>
                <a:ea typeface="Calibri" pitchFamily="34" charset="-122"/>
                <a:cs typeface="Calibri" pitchFamily="34" charset="-120"/>
              </a:rPr>
              <a:t>Software enforces it, no bypass</a:t>
            </a:r>
            <a:endParaRPr lang="en-US" sz="1150" dirty="0"/>
          </a:p>
        </p:txBody>
      </p:sp>
      <p:sp>
        <p:nvSpPr>
          <p:cNvPr id="19" name="Shape 15"/>
          <p:cNvSpPr/>
          <p:nvPr/>
        </p:nvSpPr>
        <p:spPr>
          <a:xfrm>
            <a:off x="548640" y="3200400"/>
            <a:ext cx="2926080" cy="1691640"/>
          </a:xfrm>
          <a:prstGeom prst="roundRect">
            <a:avLst>
              <a:gd name="adj" fmla="val 6486"/>
            </a:avLst>
          </a:prstGeom>
          <a:solidFill>
            <a:srgbClr val="172A47"/>
          </a:solidFill>
          <a:ln/>
        </p:spPr>
        <p:txBody>
          <a:bodyPr/>
          <a:lstStyle/>
          <a:p>
            <a:endParaRPr lang="en-US"/>
          </a:p>
        </p:txBody>
      </p:sp>
      <p:sp>
        <p:nvSpPr>
          <p:cNvPr id="20" name="Shape 16"/>
          <p:cNvSpPr/>
          <p:nvPr/>
        </p:nvSpPr>
        <p:spPr>
          <a:xfrm>
            <a:off x="731520" y="3364992"/>
            <a:ext cx="384048" cy="384048"/>
          </a:xfrm>
          <a:prstGeom prst="ellipse">
            <a:avLst/>
          </a:prstGeom>
          <a:solidFill>
            <a:schemeClr val="accent3"/>
          </a:solidFill>
          <a:ln/>
        </p:spPr>
        <p:txBody>
          <a:bodyPr/>
          <a:lstStyle/>
          <a:p>
            <a:endParaRPr lang="en-US"/>
          </a:p>
        </p:txBody>
      </p:sp>
      <p:pic>
        <p:nvPicPr>
          <p:cNvPr id="21" name="Image 2" descr="Link icon"/>
          <p:cNvPicPr>
            <a:picLocks noChangeAspect="1"/>
          </p:cNvPicPr>
          <p:nvPr/>
        </p:nvPicPr>
        <p:blipFill>
          <a:blip r:embed="rId5"/>
          <a:stretch>
            <a:fillRect/>
          </a:stretch>
        </p:blipFill>
        <p:spPr>
          <a:xfrm>
            <a:off x="831372" y="3464844"/>
            <a:ext cx="184343" cy="184343"/>
          </a:xfrm>
          <a:prstGeom prst="rect">
            <a:avLst/>
          </a:prstGeom>
        </p:spPr>
      </p:pic>
      <p:sp>
        <p:nvSpPr>
          <p:cNvPr id="22" name="Text 17"/>
          <p:cNvSpPr txBox="1"/>
          <p:nvPr/>
        </p:nvSpPr>
        <p:spPr>
          <a:xfrm>
            <a:off x="1234440" y="3383280"/>
            <a:ext cx="2011680" cy="182880"/>
          </a:xfrm>
          <a:prstGeom prst="rect">
            <a:avLst/>
          </a:prstGeom>
          <a:noFill/>
          <a:ln/>
        </p:spPr>
        <p:txBody>
          <a:bodyPr wrap="square" lIns="0" tIns="0" rIns="0" bIns="0" rtlCol="0" anchor="t"/>
          <a:lstStyle/>
          <a:p>
            <a:pPr marL="0" indent="0">
              <a:buNone/>
            </a:pPr>
            <a:r>
              <a:rPr lang="en-US" sz="1000" b="1" kern="0" spc="200" dirty="0">
                <a:solidFill>
                  <a:srgbClr val="E0A262"/>
                </a:solidFill>
                <a:latin typeface="Calibri" pitchFamily="34" charset="0"/>
                <a:ea typeface="Calibri" pitchFamily="34" charset="-122"/>
                <a:cs typeface="Calibri" pitchFamily="34" charset="-120"/>
              </a:rPr>
              <a:t>RISK</a:t>
            </a:r>
            <a:endParaRPr lang="en-US" sz="1000" dirty="0"/>
          </a:p>
        </p:txBody>
      </p:sp>
      <p:sp>
        <p:nvSpPr>
          <p:cNvPr id="23" name="Text 18"/>
          <p:cNvSpPr txBox="1"/>
          <p:nvPr/>
        </p:nvSpPr>
        <p:spPr>
          <a:xfrm>
            <a:off x="731520" y="3822192"/>
            <a:ext cx="260604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Retrieved text hides instructions</a:t>
            </a:r>
            <a:endParaRPr lang="en-US" sz="1400" dirty="0"/>
          </a:p>
        </p:txBody>
      </p:sp>
      <p:sp>
        <p:nvSpPr>
          <p:cNvPr id="24" name="Text 19"/>
          <p:cNvSpPr txBox="1"/>
          <p:nvPr/>
        </p:nvSpPr>
        <p:spPr>
          <a:xfrm>
            <a:off x="731520" y="4297680"/>
            <a:ext cx="2560320" cy="182880"/>
          </a:xfrm>
          <a:prstGeom prst="rect">
            <a:avLst/>
          </a:prstGeom>
          <a:noFill/>
          <a:ln/>
        </p:spPr>
        <p:txBody>
          <a:bodyPr wrap="square" lIns="0" tIns="0" rIns="0" bIns="0" rtlCol="0" anchor="t"/>
          <a:lstStyle/>
          <a:p>
            <a:pPr marL="0" indent="0">
              <a:buNone/>
            </a:pPr>
            <a:r>
              <a:rPr lang="en-US" sz="1000" b="1" kern="0" spc="200" dirty="0">
                <a:solidFill>
                  <a:srgbClr val="8FBCE8"/>
                </a:solidFill>
                <a:latin typeface="Calibri" pitchFamily="34" charset="0"/>
                <a:ea typeface="Calibri" pitchFamily="34" charset="-122"/>
                <a:cs typeface="Calibri" pitchFamily="34" charset="-120"/>
              </a:rPr>
              <a:t>SAFEGUARD</a:t>
            </a:r>
            <a:endParaRPr lang="en-US" sz="1000" dirty="0"/>
          </a:p>
        </p:txBody>
      </p:sp>
      <p:sp>
        <p:nvSpPr>
          <p:cNvPr id="25" name="Text 20"/>
          <p:cNvSpPr txBox="1"/>
          <p:nvPr/>
        </p:nvSpPr>
        <p:spPr>
          <a:xfrm>
            <a:off x="731520" y="4498848"/>
            <a:ext cx="2606040" cy="347472"/>
          </a:xfrm>
          <a:prstGeom prst="rect">
            <a:avLst/>
          </a:prstGeom>
          <a:noFill/>
          <a:ln/>
        </p:spPr>
        <p:txBody>
          <a:bodyPr wrap="square" lIns="0" tIns="0" rIns="0" bIns="0" rtlCol="0" anchor="t"/>
          <a:lstStyle/>
          <a:p>
            <a:pPr marL="0" indent="0">
              <a:buNone/>
            </a:pPr>
            <a:r>
              <a:rPr lang="en-US" sz="1150" dirty="0">
                <a:solidFill>
                  <a:srgbClr val="D3E1F7"/>
                </a:solidFill>
                <a:latin typeface="Calibri" pitchFamily="34" charset="0"/>
                <a:ea typeface="Calibri" pitchFamily="34" charset="-122"/>
                <a:cs typeface="Calibri" pitchFamily="34" charset="-120"/>
              </a:rPr>
              <a:t>Policy text is data, never commands</a:t>
            </a:r>
            <a:endParaRPr lang="en-US" sz="1150" dirty="0"/>
          </a:p>
        </p:txBody>
      </p:sp>
      <p:sp>
        <p:nvSpPr>
          <p:cNvPr id="26" name="Shape 21"/>
          <p:cNvSpPr/>
          <p:nvPr/>
        </p:nvSpPr>
        <p:spPr>
          <a:xfrm>
            <a:off x="3657600" y="3200400"/>
            <a:ext cx="2926080" cy="1691640"/>
          </a:xfrm>
          <a:prstGeom prst="roundRect">
            <a:avLst>
              <a:gd name="adj" fmla="val 6486"/>
            </a:avLst>
          </a:prstGeom>
          <a:solidFill>
            <a:srgbClr val="172A47"/>
          </a:solidFill>
          <a:ln/>
        </p:spPr>
        <p:txBody>
          <a:bodyPr/>
          <a:lstStyle/>
          <a:p>
            <a:endParaRPr lang="en-US"/>
          </a:p>
        </p:txBody>
      </p:sp>
      <p:sp>
        <p:nvSpPr>
          <p:cNvPr id="27" name="Shape 22"/>
          <p:cNvSpPr/>
          <p:nvPr/>
        </p:nvSpPr>
        <p:spPr>
          <a:xfrm>
            <a:off x="3840480" y="3364992"/>
            <a:ext cx="384048" cy="384048"/>
          </a:xfrm>
          <a:prstGeom prst="ellipse">
            <a:avLst/>
          </a:prstGeom>
          <a:solidFill>
            <a:schemeClr val="accent3"/>
          </a:solidFill>
          <a:ln/>
        </p:spPr>
        <p:txBody>
          <a:bodyPr/>
          <a:lstStyle/>
          <a:p>
            <a:endParaRPr lang="en-US"/>
          </a:p>
        </p:txBody>
      </p:sp>
      <p:pic>
        <p:nvPicPr>
          <p:cNvPr id="28" name="Image 3" descr="ExclamationTriangle icon"/>
          <p:cNvPicPr>
            <a:picLocks noChangeAspect="1"/>
          </p:cNvPicPr>
          <p:nvPr/>
        </p:nvPicPr>
        <p:blipFill>
          <a:blip r:embed="rId6"/>
          <a:stretch>
            <a:fillRect/>
          </a:stretch>
        </p:blipFill>
        <p:spPr>
          <a:xfrm>
            <a:off x="3940332" y="3464844"/>
            <a:ext cx="184343" cy="184343"/>
          </a:xfrm>
          <a:prstGeom prst="rect">
            <a:avLst/>
          </a:prstGeom>
        </p:spPr>
      </p:pic>
      <p:sp>
        <p:nvSpPr>
          <p:cNvPr id="29" name="Text 23"/>
          <p:cNvSpPr txBox="1"/>
          <p:nvPr/>
        </p:nvSpPr>
        <p:spPr>
          <a:xfrm>
            <a:off x="4343400" y="3383280"/>
            <a:ext cx="2011680" cy="182880"/>
          </a:xfrm>
          <a:prstGeom prst="rect">
            <a:avLst/>
          </a:prstGeom>
          <a:noFill/>
          <a:ln/>
        </p:spPr>
        <p:txBody>
          <a:bodyPr wrap="square" lIns="0" tIns="0" rIns="0" bIns="0" rtlCol="0" anchor="t"/>
          <a:lstStyle/>
          <a:p>
            <a:pPr marL="0" indent="0">
              <a:buNone/>
            </a:pPr>
            <a:r>
              <a:rPr lang="en-US" sz="1000" b="1" kern="0" spc="200" dirty="0">
                <a:solidFill>
                  <a:srgbClr val="E0A262"/>
                </a:solidFill>
                <a:latin typeface="Calibri" pitchFamily="34" charset="0"/>
                <a:ea typeface="Calibri" pitchFamily="34" charset="-122"/>
                <a:cs typeface="Calibri" pitchFamily="34" charset="-120"/>
              </a:rPr>
              <a:t>RISK</a:t>
            </a:r>
            <a:endParaRPr lang="en-US" sz="1000" dirty="0"/>
          </a:p>
        </p:txBody>
      </p:sp>
      <p:sp>
        <p:nvSpPr>
          <p:cNvPr id="30" name="Text 24"/>
          <p:cNvSpPr txBox="1"/>
          <p:nvPr/>
        </p:nvSpPr>
        <p:spPr>
          <a:xfrm>
            <a:off x="3840480" y="3822192"/>
            <a:ext cx="2606040" cy="4572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Warnings pile up as noise</a:t>
            </a:r>
            <a:endParaRPr lang="en-US" sz="1400" dirty="0"/>
          </a:p>
        </p:txBody>
      </p:sp>
      <p:sp>
        <p:nvSpPr>
          <p:cNvPr id="31" name="Text 25"/>
          <p:cNvSpPr txBox="1"/>
          <p:nvPr/>
        </p:nvSpPr>
        <p:spPr>
          <a:xfrm>
            <a:off x="3840480" y="4297680"/>
            <a:ext cx="2560320" cy="182880"/>
          </a:xfrm>
          <a:prstGeom prst="rect">
            <a:avLst/>
          </a:prstGeom>
          <a:noFill/>
          <a:ln/>
        </p:spPr>
        <p:txBody>
          <a:bodyPr wrap="square" lIns="0" tIns="0" rIns="0" bIns="0" rtlCol="0" anchor="t"/>
          <a:lstStyle/>
          <a:p>
            <a:pPr marL="0" indent="0">
              <a:buNone/>
            </a:pPr>
            <a:r>
              <a:rPr lang="en-US" sz="1000" b="1" kern="0" spc="200" dirty="0">
                <a:solidFill>
                  <a:srgbClr val="8FBCE8"/>
                </a:solidFill>
                <a:latin typeface="Calibri" pitchFamily="34" charset="0"/>
                <a:ea typeface="Calibri" pitchFamily="34" charset="-122"/>
                <a:cs typeface="Calibri" pitchFamily="34" charset="-120"/>
              </a:rPr>
              <a:t>SAFEGUARD</a:t>
            </a:r>
            <a:endParaRPr lang="en-US" sz="1000" dirty="0"/>
          </a:p>
        </p:txBody>
      </p:sp>
      <p:sp>
        <p:nvSpPr>
          <p:cNvPr id="32" name="Text 26"/>
          <p:cNvSpPr txBox="1"/>
          <p:nvPr/>
        </p:nvSpPr>
        <p:spPr>
          <a:xfrm>
            <a:off x="3840480" y="4498848"/>
            <a:ext cx="2606040" cy="347472"/>
          </a:xfrm>
          <a:prstGeom prst="rect">
            <a:avLst/>
          </a:prstGeom>
          <a:noFill/>
          <a:ln/>
        </p:spPr>
        <p:txBody>
          <a:bodyPr wrap="square" lIns="0" tIns="0" rIns="0" bIns="0" rtlCol="0" anchor="t"/>
          <a:lstStyle/>
          <a:p>
            <a:pPr marL="0" indent="0">
              <a:buNone/>
            </a:pPr>
            <a:r>
              <a:rPr lang="en-US" sz="1150" dirty="0">
                <a:solidFill>
                  <a:srgbClr val="D3E1F7"/>
                </a:solidFill>
                <a:latin typeface="Calibri" pitchFamily="34" charset="0"/>
                <a:ea typeface="Calibri" pitchFamily="34" charset="-122"/>
                <a:cs typeface="Calibri" pitchFamily="34" charset="-120"/>
              </a:rPr>
              <a:t>Severity tiers, detail on request</a:t>
            </a:r>
            <a:endParaRPr lang="en-US" sz="1150" dirty="0"/>
          </a:p>
        </p:txBody>
      </p:sp>
      <p:pic>
        <p:nvPicPr>
          <p:cNvPr id="33" name="Image 4" descr="Roadmap: Checkpoint 2 done, Checkpoint 3 prototype test, Checkpoint 4 final evaluation"/>
          <p:cNvPicPr>
            <a:picLocks noChangeAspect="1"/>
          </p:cNvPicPr>
          <p:nvPr/>
        </p:nvPicPr>
        <p:blipFill>
          <a:blip r:embed="rId7"/>
          <a:stretch>
            <a:fillRect/>
          </a:stretch>
        </p:blipFill>
        <p:spPr>
          <a:xfrm>
            <a:off x="548640" y="5029200"/>
            <a:ext cx="6217920" cy="1097280"/>
          </a:xfrm>
          <a:prstGeom prst="rect">
            <a:avLst/>
          </a:prstGeom>
        </p:spPr>
      </p:pic>
      <p:sp>
        <p:nvSpPr>
          <p:cNvPr id="34" name="Text 27"/>
          <p:cNvSpPr txBox="1"/>
          <p:nvPr/>
        </p:nvSpPr>
        <p:spPr>
          <a:xfrm>
            <a:off x="320040" y="5486400"/>
            <a:ext cx="2011680" cy="256032"/>
          </a:xfrm>
          <a:prstGeom prst="rect">
            <a:avLst/>
          </a:prstGeom>
          <a:noFill/>
          <a:ln/>
        </p:spPr>
        <p:txBody>
          <a:bodyPr wrap="square" lIns="0" tIns="0" rIns="0" bIns="0" rtlCol="0" anchor="t"/>
          <a:lstStyle/>
          <a:p>
            <a:pPr marL="0" indent="0" algn="ctr">
              <a:buNone/>
            </a:pPr>
            <a:r>
              <a:rPr lang="en-US" sz="1300" b="1" dirty="0">
                <a:solidFill>
                  <a:schemeClr val="bg1"/>
                </a:solidFill>
                <a:latin typeface="Calibri" pitchFamily="34" charset="0"/>
                <a:ea typeface="Calibri" pitchFamily="34" charset="-122"/>
                <a:cs typeface="Calibri" pitchFamily="34" charset="-120"/>
              </a:rPr>
              <a:t>CP2 · now</a:t>
            </a:r>
            <a:endParaRPr lang="en-US" sz="1300" dirty="0"/>
          </a:p>
        </p:txBody>
      </p:sp>
      <p:sp>
        <p:nvSpPr>
          <p:cNvPr id="35" name="Text 28"/>
          <p:cNvSpPr txBox="1"/>
          <p:nvPr/>
        </p:nvSpPr>
        <p:spPr>
          <a:xfrm>
            <a:off x="320040" y="5742432"/>
            <a:ext cx="2011680" cy="411480"/>
          </a:xfrm>
          <a:prstGeom prst="rect">
            <a:avLst/>
          </a:prstGeom>
          <a:noFill/>
          <a:ln/>
        </p:spPr>
        <p:txBody>
          <a:bodyPr wrap="square" lIns="0" tIns="0" rIns="0" bIns="0" rtlCol="0" anchor="t"/>
          <a:lstStyle/>
          <a:p>
            <a:pPr marL="0" indent="0" algn="ctr">
              <a:buNone/>
            </a:pPr>
            <a:r>
              <a:rPr lang="en-US" sz="1050" dirty="0">
                <a:solidFill>
                  <a:srgbClr val="D3E1F7"/>
                </a:solidFill>
                <a:latin typeface="Calibri" pitchFamily="34" charset="0"/>
                <a:ea typeface="Calibri" pitchFamily="34" charset="-122"/>
                <a:cs typeface="Calibri" pitchFamily="34" charset="-120"/>
              </a:rPr>
              <a:t>Evidence and design spec</a:t>
            </a:r>
            <a:endParaRPr lang="en-US" sz="1050" dirty="0"/>
          </a:p>
        </p:txBody>
      </p:sp>
      <p:sp>
        <p:nvSpPr>
          <p:cNvPr id="36" name="Text 29"/>
          <p:cNvSpPr txBox="1"/>
          <p:nvPr/>
        </p:nvSpPr>
        <p:spPr>
          <a:xfrm>
            <a:off x="2651760" y="5486400"/>
            <a:ext cx="2011680" cy="256032"/>
          </a:xfrm>
          <a:prstGeom prst="rect">
            <a:avLst/>
          </a:prstGeom>
          <a:noFill/>
          <a:ln/>
        </p:spPr>
        <p:txBody>
          <a:bodyPr wrap="square" lIns="0" tIns="0" rIns="0" bIns="0" rtlCol="0" anchor="t"/>
          <a:lstStyle/>
          <a:p>
            <a:pPr marL="0" indent="0" algn="ctr">
              <a:buNone/>
            </a:pPr>
            <a:r>
              <a:rPr lang="en-US" sz="1300" b="1" dirty="0">
                <a:solidFill>
                  <a:schemeClr val="bg1"/>
                </a:solidFill>
                <a:latin typeface="Calibri" pitchFamily="34" charset="0"/>
                <a:ea typeface="Calibri" pitchFamily="34" charset="-122"/>
                <a:cs typeface="Calibri" pitchFamily="34" charset="-120"/>
              </a:rPr>
              <a:t>CP3</a:t>
            </a:r>
            <a:endParaRPr lang="en-US" sz="1300" dirty="0"/>
          </a:p>
        </p:txBody>
      </p:sp>
      <p:sp>
        <p:nvSpPr>
          <p:cNvPr id="37" name="Text 30"/>
          <p:cNvSpPr txBox="1"/>
          <p:nvPr/>
        </p:nvSpPr>
        <p:spPr>
          <a:xfrm>
            <a:off x="2651760" y="5742432"/>
            <a:ext cx="2011680" cy="411480"/>
          </a:xfrm>
          <a:prstGeom prst="rect">
            <a:avLst/>
          </a:prstGeom>
          <a:noFill/>
          <a:ln/>
        </p:spPr>
        <p:txBody>
          <a:bodyPr wrap="square" lIns="0" tIns="0" rIns="0" bIns="0" rtlCol="0" anchor="t"/>
          <a:lstStyle/>
          <a:p>
            <a:pPr marL="0" indent="0" algn="ctr">
              <a:buNone/>
            </a:pPr>
            <a:r>
              <a:rPr lang="en-US" sz="1050" dirty="0">
                <a:solidFill>
                  <a:srgbClr val="D3E1F7"/>
                </a:solidFill>
                <a:latin typeface="Calibri" pitchFamily="34" charset="0"/>
                <a:ea typeface="Calibri" pitchFamily="34" charset="-122"/>
                <a:cs typeface="Calibri" pitchFamily="34" charset="-120"/>
              </a:rPr>
              <a:t>Working prototype, 3-way test</a:t>
            </a:r>
            <a:endParaRPr lang="en-US" sz="1050" dirty="0"/>
          </a:p>
        </p:txBody>
      </p:sp>
      <p:sp>
        <p:nvSpPr>
          <p:cNvPr id="38" name="Text 31"/>
          <p:cNvSpPr txBox="1"/>
          <p:nvPr/>
        </p:nvSpPr>
        <p:spPr>
          <a:xfrm>
            <a:off x="4983480" y="5486400"/>
            <a:ext cx="2011680" cy="256032"/>
          </a:xfrm>
          <a:prstGeom prst="rect">
            <a:avLst/>
          </a:prstGeom>
          <a:noFill/>
          <a:ln/>
        </p:spPr>
        <p:txBody>
          <a:bodyPr wrap="square" lIns="0" tIns="0" rIns="0" bIns="0" rtlCol="0" anchor="t"/>
          <a:lstStyle/>
          <a:p>
            <a:pPr marL="0" indent="0" algn="ctr">
              <a:buNone/>
            </a:pPr>
            <a:r>
              <a:rPr lang="en-US" sz="1300" b="1" dirty="0">
                <a:solidFill>
                  <a:schemeClr val="bg1"/>
                </a:solidFill>
                <a:latin typeface="Calibri" pitchFamily="34" charset="0"/>
                <a:ea typeface="Calibri" pitchFamily="34" charset="-122"/>
                <a:cs typeface="Calibri" pitchFamily="34" charset="-120"/>
              </a:rPr>
              <a:t>CP4</a:t>
            </a:r>
            <a:endParaRPr lang="en-US" sz="1300" dirty="0"/>
          </a:p>
        </p:txBody>
      </p:sp>
      <p:sp>
        <p:nvSpPr>
          <p:cNvPr id="39" name="Text 32"/>
          <p:cNvSpPr txBox="1"/>
          <p:nvPr/>
        </p:nvSpPr>
        <p:spPr>
          <a:xfrm>
            <a:off x="4983480" y="5742432"/>
            <a:ext cx="2011680" cy="411480"/>
          </a:xfrm>
          <a:prstGeom prst="rect">
            <a:avLst/>
          </a:prstGeom>
          <a:noFill/>
          <a:ln/>
        </p:spPr>
        <p:txBody>
          <a:bodyPr wrap="square" lIns="0" tIns="0" rIns="0" bIns="0" rtlCol="0" anchor="t"/>
          <a:lstStyle/>
          <a:p>
            <a:pPr marL="0" indent="0" algn="ctr">
              <a:buNone/>
            </a:pPr>
            <a:r>
              <a:rPr lang="en-US" sz="1050" dirty="0">
                <a:solidFill>
                  <a:srgbClr val="D3E1F7"/>
                </a:solidFill>
                <a:latin typeface="Calibri" pitchFamily="34" charset="0"/>
                <a:ea typeface="Calibri" pitchFamily="34" charset="-122"/>
                <a:cs typeface="Calibri" pitchFamily="34" charset="-120"/>
              </a:rPr>
              <a:t>Final evaluation</a:t>
            </a:r>
            <a:endParaRPr lang="en-US" sz="1050" dirty="0"/>
          </a:p>
        </p:txBody>
      </p:sp>
      <p:sp>
        <p:nvSpPr>
          <p:cNvPr id="40" name="Text 33"/>
          <p:cNvSpPr txBox="1"/>
          <p:nvPr/>
        </p:nvSpPr>
        <p:spPr>
          <a:xfrm>
            <a:off x="6903720" y="1371600"/>
            <a:ext cx="4754880" cy="228600"/>
          </a:xfrm>
          <a:prstGeom prst="rect">
            <a:avLst/>
          </a:prstGeom>
          <a:noFill/>
          <a:ln/>
        </p:spPr>
        <p:txBody>
          <a:bodyPr wrap="square" lIns="0" tIns="0" rIns="0" bIns="0" rtlCol="0" anchor="t"/>
          <a:lstStyle/>
          <a:p>
            <a:pPr marL="0" indent="0">
              <a:buNone/>
            </a:pPr>
            <a:r>
              <a:rPr lang="en-US" sz="1050" b="1" kern="0" spc="200" dirty="0">
                <a:solidFill>
                  <a:srgbClr val="8FBCE8"/>
                </a:solidFill>
                <a:latin typeface="Calibri" pitchFamily="34" charset="0"/>
                <a:ea typeface="Calibri" pitchFamily="34" charset="-122"/>
                <a:cs typeface="Calibri" pitchFamily="34" charset="-120"/>
              </a:rPr>
              <a:t>CP3 TEST  ·  THREE CONDITIONS, 25 TO 30 SCENARIOS</a:t>
            </a:r>
            <a:endParaRPr lang="en-US" sz="1050" dirty="0"/>
          </a:p>
        </p:txBody>
      </p:sp>
      <p:pic>
        <p:nvPicPr>
          <p:cNvPr id="41" name="Image 5" descr="Human alone, AI alone, and the hybrid InterfaceDNA compared"/>
          <p:cNvPicPr>
            <a:picLocks noChangeAspect="1"/>
          </p:cNvPicPr>
          <p:nvPr/>
        </p:nvPicPr>
        <p:blipFill>
          <a:blip r:embed="rId8"/>
          <a:stretch>
            <a:fillRect/>
          </a:stretch>
        </p:blipFill>
        <p:spPr>
          <a:xfrm>
            <a:off x="6903720" y="1691640"/>
            <a:ext cx="4754880" cy="2629644"/>
          </a:xfrm>
          <a:prstGeom prst="rect">
            <a:avLst/>
          </a:prstGeom>
        </p:spPr>
      </p:pic>
      <p:sp>
        <p:nvSpPr>
          <p:cNvPr id="42" name="Text 34"/>
          <p:cNvSpPr txBox="1"/>
          <p:nvPr/>
        </p:nvSpPr>
        <p:spPr>
          <a:xfrm>
            <a:off x="6903720" y="4434840"/>
            <a:ext cx="4754880" cy="54864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InterfaceDNA must beat both: AI + verified record + software control</a:t>
            </a:r>
            <a:endParaRPr lang="en-US" sz="1400" dirty="0"/>
          </a:p>
        </p:txBody>
      </p:sp>
      <p:sp>
        <p:nvSpPr>
          <p:cNvPr id="43" name="Text 35"/>
          <p:cNvSpPr txBox="1"/>
          <p:nvPr/>
        </p:nvSpPr>
        <p:spPr>
          <a:xfrm>
            <a:off x="6903720" y="5166360"/>
            <a:ext cx="2286000" cy="329184"/>
          </a:xfrm>
          <a:prstGeom prst="roundRect">
            <a:avLst>
              <a:gd name="adj" fmla="val 138889"/>
            </a:avLst>
          </a:prstGeom>
          <a:solidFill>
            <a:srgbClr val="172A47"/>
          </a:solidFill>
          <a:ln/>
        </p:spPr>
        <p:txBody>
          <a:bodyPr wrap="square" lIns="0" tIns="0" rIns="0" bIns="0" rtlCol="0" anchor="ctr"/>
          <a:lstStyle/>
          <a:p>
            <a:pPr marL="0" indent="0" algn="ctr">
              <a:buNone/>
            </a:pPr>
            <a:r>
              <a:rPr lang="en-US" sz="1100" b="1" dirty="0">
                <a:solidFill>
                  <a:srgbClr val="D3E1F7"/>
                </a:solidFill>
                <a:latin typeface="Calibri" pitchFamily="34" charset="0"/>
                <a:ea typeface="Calibri" pitchFamily="34" charset="-122"/>
                <a:cs typeface="Calibri" pitchFamily="34" charset="-120"/>
              </a:rPr>
              <a:t>Steps to finish</a:t>
            </a:r>
            <a:endParaRPr lang="en-US" sz="1100" dirty="0"/>
          </a:p>
        </p:txBody>
      </p:sp>
      <p:sp>
        <p:nvSpPr>
          <p:cNvPr id="44" name="Text 36"/>
          <p:cNvSpPr txBox="1"/>
          <p:nvPr/>
        </p:nvSpPr>
        <p:spPr>
          <a:xfrm>
            <a:off x="9326880" y="5166360"/>
            <a:ext cx="2286000" cy="329184"/>
          </a:xfrm>
          <a:prstGeom prst="roundRect">
            <a:avLst>
              <a:gd name="adj" fmla="val 138889"/>
            </a:avLst>
          </a:prstGeom>
          <a:solidFill>
            <a:srgbClr val="172A47"/>
          </a:solidFill>
          <a:ln/>
        </p:spPr>
        <p:txBody>
          <a:bodyPr wrap="square" lIns="0" tIns="0" rIns="0" bIns="0" rtlCol="0" anchor="ctr"/>
          <a:lstStyle/>
          <a:p>
            <a:pPr marL="0" indent="0" algn="ctr">
              <a:buNone/>
            </a:pPr>
            <a:r>
              <a:rPr lang="en-US" sz="1100" b="1" dirty="0">
                <a:solidFill>
                  <a:srgbClr val="D3E1F7"/>
                </a:solidFill>
                <a:latin typeface="Calibri" pitchFamily="34" charset="0"/>
                <a:ea typeface="Calibri" pitchFamily="34" charset="-122"/>
                <a:cs typeface="Calibri" pitchFamily="34" charset="-120"/>
              </a:rPr>
              <a:t>Correct outcome</a:t>
            </a:r>
            <a:endParaRPr lang="en-US" sz="1100" dirty="0"/>
          </a:p>
        </p:txBody>
      </p:sp>
      <p:sp>
        <p:nvSpPr>
          <p:cNvPr id="45" name="Text 37"/>
          <p:cNvSpPr txBox="1"/>
          <p:nvPr/>
        </p:nvSpPr>
        <p:spPr>
          <a:xfrm>
            <a:off x="6903720" y="5586984"/>
            <a:ext cx="2286000" cy="329184"/>
          </a:xfrm>
          <a:prstGeom prst="roundRect">
            <a:avLst>
              <a:gd name="adj" fmla="val 138889"/>
            </a:avLst>
          </a:prstGeom>
          <a:solidFill>
            <a:srgbClr val="172A47"/>
          </a:solidFill>
          <a:ln/>
        </p:spPr>
        <p:txBody>
          <a:bodyPr wrap="square" lIns="0" tIns="0" rIns="0" bIns="0" rtlCol="0" anchor="ctr"/>
          <a:lstStyle/>
          <a:p>
            <a:pPr marL="0" indent="0" algn="ctr">
              <a:buNone/>
            </a:pPr>
            <a:r>
              <a:rPr lang="en-US" sz="1100" b="1" dirty="0">
                <a:solidFill>
                  <a:srgbClr val="D3E1F7"/>
                </a:solidFill>
                <a:latin typeface="Calibri" pitchFamily="34" charset="0"/>
                <a:ea typeface="Calibri" pitchFamily="34" charset="-122"/>
                <a:cs typeface="Calibri" pitchFamily="34" charset="-120"/>
              </a:rPr>
              <a:t>Unverified claims</a:t>
            </a:r>
            <a:endParaRPr lang="en-US" sz="1100" dirty="0"/>
          </a:p>
        </p:txBody>
      </p:sp>
      <p:sp>
        <p:nvSpPr>
          <p:cNvPr id="46" name="Text 38"/>
          <p:cNvSpPr txBox="1"/>
          <p:nvPr/>
        </p:nvSpPr>
        <p:spPr>
          <a:xfrm>
            <a:off x="9326880" y="5586984"/>
            <a:ext cx="2286000" cy="329184"/>
          </a:xfrm>
          <a:prstGeom prst="roundRect">
            <a:avLst>
              <a:gd name="adj" fmla="val 138889"/>
            </a:avLst>
          </a:prstGeom>
          <a:solidFill>
            <a:srgbClr val="172A47"/>
          </a:solidFill>
          <a:ln/>
        </p:spPr>
        <p:txBody>
          <a:bodyPr wrap="square" lIns="0" tIns="0" rIns="0" bIns="0" rtlCol="0" anchor="ctr"/>
          <a:lstStyle/>
          <a:p>
            <a:pPr marL="0" indent="0" algn="ctr">
              <a:buNone/>
            </a:pPr>
            <a:r>
              <a:rPr lang="en-US" sz="1100" b="1" dirty="0">
                <a:solidFill>
                  <a:srgbClr val="D3E1F7"/>
                </a:solidFill>
                <a:latin typeface="Calibri" pitchFamily="34" charset="0"/>
                <a:ea typeface="Calibri" pitchFamily="34" charset="-122"/>
                <a:cs typeface="Calibri" pitchFamily="34" charset="-120"/>
              </a:rPr>
              <a:t>Trust calibration</a:t>
            </a:r>
            <a:endParaRPr lang="en-US" sz="1100" dirty="0"/>
          </a:p>
        </p:txBody>
      </p:sp>
      <p:sp>
        <p:nvSpPr>
          <p:cNvPr id="47" name="Text 39"/>
          <p:cNvSpPr txBox="1"/>
          <p:nvPr/>
        </p:nvSpPr>
        <p:spPr>
          <a:xfrm>
            <a:off x="6903720" y="6080760"/>
            <a:ext cx="4754880" cy="228600"/>
          </a:xfrm>
          <a:prstGeom prst="rect">
            <a:avLst/>
          </a:prstGeom>
          <a:noFill/>
          <a:ln/>
        </p:spPr>
        <p:txBody>
          <a:bodyPr wrap="square" lIns="0" tIns="0" rIns="0" bIns="0" rtlCol="0" anchor="t"/>
          <a:lstStyle/>
          <a:p>
            <a:pPr marL="0" indent="0">
              <a:buNone/>
            </a:pPr>
            <a:r>
              <a:rPr lang="en-US" sz="1050" i="1" dirty="0">
                <a:solidFill>
                  <a:srgbClr val="9FB6D9"/>
                </a:solidFill>
                <a:latin typeface="Calibri" pitchFamily="34" charset="0"/>
                <a:ea typeface="Calibri" pitchFamily="34" charset="-122"/>
                <a:cs typeface="Calibri" pitchFamily="34" charset="-120"/>
              </a:rPr>
              <a:t>Honest limits: six short interviews, one run per prompt per tool. Direction, not proof.</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TotalTime>
  <Words>2317</Words>
  <Application>Microsoft Macintosh PowerPoint</Application>
  <PresentationFormat>Widescreen</PresentationFormat>
  <Paragraphs>250</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PowerPoint Presentation</vt:lpstr>
      <vt:lpstr>We tested our assumptions, and they got sharper</vt:lpstr>
      <vt:lpstr>One protocol, ten prompts, three tools</vt:lpstr>
      <vt:lpstr>What worked, and where it broke</vt:lpstr>
      <vt:lpstr>Six interviews, three lenses, one pattern</vt:lpstr>
      <vt:lpstr>AI prepares, software checks, student decides</vt:lpstr>
      <vt:lpstr>New risks, and how Checkpoint 3 will test them</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InterfaceDNA - Checkpoint 2</dc:title>
  <dc:subject>PptxGenJS Presentation</dc:subject>
  <dc:creator>Team InterfaceDNA</dc:creator>
  <cp:lastModifiedBy>Sakshi Katolkar</cp:lastModifiedBy>
  <cp:revision>3</cp:revision>
  <dcterms:created xsi:type="dcterms:W3CDTF">2026-10-09T04:14:27Z</dcterms:created>
  <dcterms:modified xsi:type="dcterms:W3CDTF">2026-10-09T04:18:54Z</dcterms:modified>
</cp:coreProperties>
</file>