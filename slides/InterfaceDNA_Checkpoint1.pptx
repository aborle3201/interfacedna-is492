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1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6376"/>
  </p:normalViewPr>
  <p:slideViewPr>
    <p:cSldViewPr snapToGrid="0" snapToObjects="1">
      <p:cViewPr varScale="1">
        <p:scale>
          <a:sx n="163" d="100"/>
          <a:sy n="163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948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29650" y="478417"/>
            <a:ext cx="0" cy="4179308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22249" y="576693"/>
            <a:ext cx="0" cy="360045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127898" y="1015603"/>
            <a:ext cx="3992165" cy="3361134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23994"/>
            <a:ext cx="4423410" cy="3194217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073" y="4029607"/>
            <a:ext cx="1773710" cy="68183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2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60647" y="459189"/>
            <a:ext cx="1552798" cy="389224"/>
          </a:xfrm>
          <a:solidFill>
            <a:schemeClr val="bg2"/>
          </a:solidFill>
        </p:spPr>
        <p:txBody>
          <a:bodyPr anchor="t"/>
          <a:lstStyle>
            <a:lvl1pPr algn="r">
              <a:defRPr sz="788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172995" y="3922452"/>
            <a:ext cx="917846" cy="273844"/>
          </a:xfrm>
          <a:solidFill>
            <a:schemeClr val="bg2"/>
          </a:solidFill>
        </p:spPr>
        <p:txBody>
          <a:bodyPr rIns="182880"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1050" y="4522400"/>
            <a:ext cx="346079" cy="273844"/>
          </a:xfrm>
          <a:solidFill>
            <a:schemeClr val="bg2"/>
          </a:solidFill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719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240" y="199296"/>
            <a:ext cx="8235853" cy="99417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40" y="1302133"/>
            <a:ext cx="8235853" cy="31491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3856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27171" y="817798"/>
            <a:ext cx="0" cy="329700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593" y="1028700"/>
            <a:ext cx="5029794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0387" y="514349"/>
            <a:ext cx="4780253" cy="20574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51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5343" y="4177717"/>
            <a:ext cx="3086099" cy="52463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2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9287" y="381063"/>
            <a:ext cx="322029" cy="273844"/>
          </a:xfrm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2747" y="381063"/>
            <a:ext cx="902490" cy="273844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00952" y="459047"/>
            <a:ext cx="1115472" cy="358751"/>
          </a:xfrm>
          <a:solidFill>
            <a:schemeClr val="bg2"/>
          </a:solidFill>
        </p:spPr>
        <p:txBody>
          <a:bodyPr anchor="t"/>
          <a:lstStyle>
            <a:lvl1pPr algn="r">
              <a:defRPr sz="788"/>
            </a:lvl1pPr>
          </a:lstStyle>
          <a:p>
            <a:r>
              <a:rPr lang="en-US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2664011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27171" y="775185"/>
            <a:ext cx="0" cy="3600219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869" y="253746"/>
            <a:ext cx="6126480" cy="3346704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7200" spc="-75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0" y="3566047"/>
            <a:ext cx="2313331" cy="810227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200" cap="all" spc="75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1" y="335685"/>
            <a:ext cx="1858424" cy="439501"/>
          </a:xfrm>
          <a:noFill/>
        </p:spPr>
        <p:txBody>
          <a:bodyPr/>
          <a:lstStyle>
            <a:lvl1pPr algn="r">
              <a:defRPr sz="788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2458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694723" y="4629139"/>
            <a:ext cx="7745068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012" y="274320"/>
            <a:ext cx="8651093" cy="4144240"/>
          </a:xfrm>
          <a:noFill/>
        </p:spPr>
        <p:txBody>
          <a:bodyPr anchor="t">
            <a:normAutofit/>
          </a:bodyPr>
          <a:lstStyle>
            <a:lvl1pPr>
              <a:defRPr sz="8625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0444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9143997" cy="51435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91429" y="514350"/>
            <a:ext cx="7638221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43303" y="1532928"/>
            <a:ext cx="5600698" cy="36105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054631" y="2040297"/>
            <a:ext cx="4234067" cy="1870732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9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9808" y="427382"/>
            <a:ext cx="1103244" cy="406274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788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7649" y="2057401"/>
            <a:ext cx="4572001" cy="2600324"/>
          </a:xfrm>
        </p:spPr>
        <p:txBody>
          <a:bodyPr>
            <a:normAutofit/>
          </a:bodyPr>
          <a:lstStyle>
            <a:lvl1pPr marL="257175" indent="-257175">
              <a:buClr>
                <a:schemeClr val="accent2"/>
              </a:buClr>
              <a:buFont typeface="+mj-lt"/>
              <a:buAutoNum type="arabicPeriod"/>
              <a:defRPr sz="1350"/>
            </a:lvl1pPr>
            <a:lvl2pPr marL="600075" indent="-257175">
              <a:buClr>
                <a:schemeClr val="accent2"/>
              </a:buClr>
              <a:buFont typeface="+mj-lt"/>
              <a:buAutoNum type="arabicPeriod"/>
              <a:defRPr sz="1200"/>
            </a:lvl2pPr>
            <a:lvl3pPr marL="942975" indent="-257175">
              <a:buClr>
                <a:schemeClr val="accent2"/>
              </a:buClr>
              <a:buFont typeface="+mj-lt"/>
              <a:buAutoNum type="arabicPeriod"/>
              <a:defRPr sz="1050"/>
            </a:lvl3pPr>
            <a:lvl4pPr>
              <a:buClr>
                <a:schemeClr val="accent2"/>
              </a:buClr>
              <a:buFont typeface="+mj-lt"/>
              <a:buAutoNum type="arabicPeriod"/>
              <a:defRPr sz="900"/>
            </a:lvl4pPr>
            <a:lvl5pPr>
              <a:buClr>
                <a:schemeClr val="accent2"/>
              </a:buClr>
              <a:buFont typeface="+mj-lt"/>
              <a:buAutoNum type="arabicPeriod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25343" y="310220"/>
            <a:ext cx="942554" cy="409125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7897" y="310220"/>
            <a:ext cx="322029" cy="409125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6945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9143997" cy="51435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8703" y="2561628"/>
            <a:ext cx="8115298" cy="2581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8629650" y="834887"/>
            <a:ext cx="0" cy="1278009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9" y="137161"/>
            <a:ext cx="5948169" cy="1678940"/>
          </a:xfrm>
          <a:noFill/>
        </p:spPr>
        <p:txBody>
          <a:bodyPr anchor="t">
            <a:normAutofit/>
          </a:bodyPr>
          <a:lstStyle>
            <a:lvl1pPr>
              <a:defRPr sz="9000" spc="-38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3710" y="2880360"/>
            <a:ext cx="4907943" cy="1902350"/>
          </a:xfrm>
        </p:spPr>
        <p:txBody>
          <a:bodyPr>
            <a:normAutofit/>
          </a:bodyPr>
          <a:lstStyle>
            <a:lvl1pPr marL="257175" indent="-257175">
              <a:buClr>
                <a:schemeClr val="accent2"/>
              </a:buClr>
              <a:buFont typeface="+mj-lt"/>
              <a:buAutoNum type="arabicPeriod"/>
              <a:defRPr sz="1350"/>
            </a:lvl1pPr>
            <a:lvl2pPr marL="600075" indent="-257175">
              <a:buClr>
                <a:schemeClr val="accent2"/>
              </a:buClr>
              <a:buFont typeface="+mj-lt"/>
              <a:buAutoNum type="arabicPeriod"/>
              <a:defRPr sz="1200"/>
            </a:lvl2pPr>
            <a:lvl3pPr marL="942975" indent="-257175">
              <a:buClr>
                <a:schemeClr val="accent2"/>
              </a:buClr>
              <a:buFont typeface="+mj-lt"/>
              <a:buAutoNum type="arabicPeriod"/>
              <a:defRPr sz="1050"/>
            </a:lvl3pPr>
            <a:lvl4pPr>
              <a:buClr>
                <a:schemeClr val="accent2"/>
              </a:buClr>
              <a:buFont typeface="+mj-lt"/>
              <a:buAutoNum type="arabicPeriod"/>
              <a:defRPr sz="900"/>
            </a:lvl4pPr>
            <a:lvl5pPr>
              <a:buClr>
                <a:schemeClr val="accent2"/>
              </a:buClr>
              <a:buFont typeface="+mj-lt"/>
              <a:buAutoNum type="arabicPeriod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00958" y="459286"/>
            <a:ext cx="1113171" cy="359514"/>
          </a:xfrm>
          <a:noFill/>
        </p:spPr>
        <p:txBody>
          <a:bodyPr anchor="t"/>
          <a:lstStyle>
            <a:lvl1pPr algn="r">
              <a:defRPr sz="788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50134" y="2067525"/>
            <a:ext cx="942554" cy="317867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908" y="2067525"/>
            <a:ext cx="322029" cy="317867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2250" y="2561628"/>
            <a:ext cx="2571750" cy="25818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468622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701" y="1543050"/>
            <a:ext cx="2571750" cy="1401418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1543051"/>
            <a:ext cx="348615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72247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628" y="773936"/>
            <a:ext cx="2976372" cy="1121134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7515" y="751399"/>
            <a:ext cx="4812135" cy="35124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1376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2343150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0"/>
            <a:ext cx="5543550" cy="905256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0350" y="1025717"/>
            <a:ext cx="5946755" cy="33581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857500" y="4657725"/>
            <a:ext cx="577215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1" y="4522401"/>
            <a:ext cx="1518407" cy="27384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6816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14800" cy="417195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7489" y="0"/>
            <a:ext cx="3289111" cy="1347093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292" y="1473961"/>
            <a:ext cx="3644994" cy="27996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18731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628" y="374606"/>
            <a:ext cx="2719082" cy="1106019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074" y="1593167"/>
            <a:ext cx="2675553" cy="26165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600451" y="0"/>
            <a:ext cx="5543550" cy="417195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28655" y="4522401"/>
            <a:ext cx="322029" cy="273844"/>
          </a:xfrm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36303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628" y="322535"/>
            <a:ext cx="3704254" cy="87470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074" y="1310094"/>
            <a:ext cx="4332672" cy="29770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43550" y="0"/>
            <a:ext cx="3600450" cy="417195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28655" y="4522401"/>
            <a:ext cx="322029" cy="273844"/>
          </a:xfrm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5009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886450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7842" y="0"/>
            <a:ext cx="3107123" cy="148401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1647" y="1584730"/>
            <a:ext cx="2363318" cy="27586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29934" y="4522401"/>
            <a:ext cx="1433322" cy="273844"/>
          </a:xfrm>
          <a:noFill/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63256" y="4522401"/>
            <a:ext cx="667558" cy="273844"/>
          </a:xfrm>
          <a:noFill/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8050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9144000" cy="51435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628" y="751032"/>
            <a:ext cx="2700842" cy="1021844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628" y="1872636"/>
            <a:ext cx="2700842" cy="172781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2629" y="377428"/>
            <a:ext cx="1430849" cy="273844"/>
          </a:xfrm>
          <a:noFill/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2628" y="3600450"/>
            <a:ext cx="942554" cy="273844"/>
          </a:xfrm>
          <a:noFill/>
        </p:spPr>
        <p:txBody>
          <a:bodyPr/>
          <a:lstStyle>
            <a:lvl1pPr algn="l">
              <a:defRPr/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60731" y="3600450"/>
            <a:ext cx="322029" cy="273844"/>
          </a:xfrm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7136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2628" y="3505467"/>
            <a:ext cx="2366010" cy="96593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9143999" cy="30861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0" y="3485296"/>
            <a:ext cx="5664086" cy="1037105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  <a:noFill/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28157" y="4522401"/>
            <a:ext cx="322029" cy="273844"/>
          </a:xfrm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779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52797"/>
            <a:ext cx="5090924" cy="634448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79102" y="478280"/>
            <a:ext cx="1430849" cy="273844"/>
          </a:xfrm>
        </p:spPr>
        <p:txBody>
          <a:bodyPr anchor="t"/>
          <a:lstStyle>
            <a:lvl1pPr algn="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028700"/>
            <a:ext cx="5543552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4623" y="950053"/>
            <a:ext cx="2171096" cy="35723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27028" y="771525"/>
            <a:ext cx="0" cy="360045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158105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600450" cy="36167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1564" y="3280575"/>
            <a:ext cx="2923429" cy="1035611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137" y="514350"/>
            <a:ext cx="4073163" cy="39037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2230" y="4522400"/>
            <a:ext cx="1433322" cy="273845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43800" y="4522401"/>
            <a:ext cx="884682" cy="273844"/>
          </a:xfrm>
          <a:solidFill>
            <a:schemeClr val="bg1"/>
          </a:solidFill>
        </p:spPr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82608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61841"/>
            <a:ext cx="5145830" cy="631895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647" y="90574"/>
            <a:ext cx="8042250" cy="3195303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1000" spc="-150" baseline="0">
                <a:solidFill>
                  <a:schemeClr val="accent3"/>
                </a:solidFill>
                <a:latin typeface="+mj-lt"/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4074" y="4522401"/>
            <a:ext cx="1603327" cy="273844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27696" y="506896"/>
            <a:ext cx="0" cy="3138221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4805469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9144000" cy="5143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74" y="-588893"/>
            <a:ext cx="8235853" cy="48006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53448" y="1237422"/>
            <a:ext cx="7627441" cy="3712265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5400" cap="all" spc="-75" baseline="0">
                <a:solidFill>
                  <a:schemeClr val="accent1"/>
                </a:solidFill>
                <a:latin typeface="+mj-lt"/>
              </a:defRPr>
            </a:lvl1pPr>
            <a:lvl2pPr marL="342900" indent="0">
              <a:lnSpc>
                <a:spcPct val="80000"/>
              </a:lnSpc>
              <a:buNone/>
              <a:defRPr sz="5400" cap="all" baseline="0">
                <a:solidFill>
                  <a:schemeClr val="bg1"/>
                </a:solidFill>
                <a:latin typeface="+mj-lt"/>
              </a:defRPr>
            </a:lvl2pPr>
            <a:lvl3pPr marL="685800" indent="0">
              <a:lnSpc>
                <a:spcPct val="80000"/>
              </a:lnSpc>
              <a:buNone/>
              <a:defRPr sz="5400" cap="all" baseline="0">
                <a:solidFill>
                  <a:schemeClr val="bg1"/>
                </a:solidFill>
                <a:latin typeface="+mj-lt"/>
              </a:defRPr>
            </a:lvl3pPr>
            <a:lvl4pPr marL="1028700" indent="0">
              <a:lnSpc>
                <a:spcPct val="80000"/>
              </a:lnSpc>
              <a:buNone/>
              <a:defRPr sz="4950" cap="all" baseline="0">
                <a:solidFill>
                  <a:schemeClr val="bg1"/>
                </a:solidFill>
                <a:latin typeface="+mj-lt"/>
              </a:defRPr>
            </a:lvl4pPr>
            <a:lvl5pPr marL="1371600" indent="0">
              <a:lnSpc>
                <a:spcPct val="80000"/>
              </a:lnSpc>
              <a:buNone/>
              <a:defRPr sz="495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694723" y="514350"/>
            <a:ext cx="7745068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4074" y="375921"/>
            <a:ext cx="1430849" cy="273844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425343" y="375921"/>
            <a:ext cx="942554" cy="273844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7897" y="375921"/>
            <a:ext cx="322029" cy="273844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249684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9143999" cy="51435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1"/>
            <a:ext cx="6572250" cy="377875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41820" y="4659328"/>
            <a:ext cx="8106459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6100" y="4057652"/>
            <a:ext cx="5657850" cy="279560"/>
          </a:xfrm>
          <a:noFill/>
        </p:spPr>
        <p:txBody>
          <a:bodyPr tIns="91440" bIns="91440" anchor="ctr">
            <a:normAutofit/>
          </a:bodyPr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2628" y="544167"/>
            <a:ext cx="6633972" cy="2742126"/>
          </a:xfrm>
        </p:spPr>
        <p:txBody>
          <a:bodyPr>
            <a:normAutofit/>
          </a:bodyPr>
          <a:lstStyle>
            <a:lvl1pPr marL="171450" indent="-171450">
              <a:lnSpc>
                <a:spcPct val="85000"/>
              </a:lnSpc>
              <a:spcBef>
                <a:spcPts val="0"/>
              </a:spcBef>
              <a:buNone/>
              <a:defRPr sz="435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4073" y="4522401"/>
            <a:ext cx="1433322" cy="273844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1776" y="4522401"/>
            <a:ext cx="1076706" cy="273844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05052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390889"/>
            <a:ext cx="8177022" cy="803137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4073" y="1317173"/>
            <a:ext cx="3886200" cy="3026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43450" y="1317173"/>
            <a:ext cx="3886200" cy="3026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5533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390904"/>
            <a:ext cx="8174736" cy="802386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74" y="1223307"/>
            <a:ext cx="3868340" cy="532046"/>
          </a:xfrm>
        </p:spPr>
        <p:txBody>
          <a:bodyPr anchor="b">
            <a:normAutofit/>
          </a:bodyPr>
          <a:lstStyle>
            <a:lvl1pPr marL="0" indent="0">
              <a:buNone/>
              <a:defRPr sz="1350" b="1" cap="all" spc="38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74" y="1779110"/>
            <a:ext cx="3868340" cy="2621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43450" y="1223307"/>
            <a:ext cx="3887391" cy="532045"/>
          </a:xfrm>
        </p:spPr>
        <p:txBody>
          <a:bodyPr anchor="b">
            <a:normAutofit/>
          </a:bodyPr>
          <a:lstStyle>
            <a:lvl1pPr marL="0" indent="0">
              <a:buNone/>
              <a:defRPr sz="1350" b="1" cap="all" spc="38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43450" y="1779109"/>
            <a:ext cx="3887391" cy="2621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06481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9" y="198882"/>
            <a:ext cx="8271692" cy="99441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57D35-FD3E-408B-A06E-7ED09E94C083}" type="datetime1">
              <a:rPr lang="en-US" smtClean="0"/>
              <a:t>9/17/26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408943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71530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3050" y="2313495"/>
            <a:ext cx="7600467" cy="2830006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9" y="137161"/>
            <a:ext cx="6462513" cy="1405890"/>
          </a:xfrm>
          <a:noFill/>
        </p:spPr>
        <p:txBody>
          <a:bodyPr anchor="t">
            <a:normAutofit/>
          </a:bodyPr>
          <a:lstStyle>
            <a:lvl1pPr>
              <a:defRPr sz="72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5200" y="463443"/>
            <a:ext cx="1400173" cy="346411"/>
          </a:xfrm>
          <a:noFill/>
        </p:spPr>
        <p:txBody>
          <a:bodyPr anchor="t"/>
          <a:lstStyle>
            <a:lvl1pPr algn="r">
              <a:defRPr sz="675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6884" y="2658649"/>
            <a:ext cx="6743042" cy="1835087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350"/>
            </a:lvl1pPr>
            <a:lvl2pPr marL="3429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2pPr>
            <a:lvl3pPr marL="685800" indent="0">
              <a:buClr>
                <a:schemeClr val="tx2"/>
              </a:buClr>
              <a:buFont typeface="Arial" panose="020B0604020202020204" pitchFamily="34" charset="0"/>
              <a:buNone/>
              <a:defRPr sz="1050"/>
            </a:lvl3pPr>
            <a:lvl4pPr marL="1028700" indent="0">
              <a:buClr>
                <a:schemeClr val="tx2"/>
              </a:buClr>
              <a:buFont typeface="Arial" panose="020B0604020202020204" pitchFamily="34" charset="0"/>
              <a:buNone/>
              <a:defRPr sz="900"/>
            </a:lvl4pPr>
            <a:lvl5pPr marL="1371600" indent="0">
              <a:buClr>
                <a:schemeClr val="tx2"/>
              </a:buClr>
              <a:buFont typeface="Arial" panose="020B0604020202020204" pitchFamily="34" charset="0"/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46885" y="4518612"/>
            <a:ext cx="1357121" cy="273844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93699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327058" cy="1543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14350" y="3423470"/>
            <a:ext cx="38010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219" y="398205"/>
            <a:ext cx="5777682" cy="981218"/>
          </a:xfrm>
          <a:noFill/>
        </p:spPr>
        <p:txBody>
          <a:bodyPr anchor="t">
            <a:normAutofit/>
          </a:bodyPr>
          <a:lstStyle>
            <a:lvl1pPr>
              <a:defRPr sz="6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7754" y="2678648"/>
            <a:ext cx="3757151" cy="1490771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350"/>
            </a:lvl1pPr>
            <a:lvl2pPr marL="3429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2pPr>
            <a:lvl3pPr marL="685800" indent="0">
              <a:buClr>
                <a:schemeClr val="tx2"/>
              </a:buClr>
              <a:buFont typeface="Arial" panose="020B0604020202020204" pitchFamily="34" charset="0"/>
              <a:buNone/>
              <a:defRPr sz="1050"/>
            </a:lvl3pPr>
            <a:lvl4pPr marL="1028700" indent="0">
              <a:buClr>
                <a:schemeClr val="tx2"/>
              </a:buClr>
              <a:buFont typeface="Arial" panose="020B0604020202020204" pitchFamily="34" charset="0"/>
              <a:buNone/>
              <a:defRPr sz="900"/>
            </a:lvl4pPr>
            <a:lvl5pPr marL="1371600" indent="0">
              <a:buClr>
                <a:schemeClr val="tx2"/>
              </a:buClr>
              <a:buFont typeface="Arial" panose="020B0604020202020204" pitchFamily="34" charset="0"/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4073" y="4522400"/>
            <a:ext cx="1433322" cy="273845"/>
          </a:xfrm>
          <a:noFill/>
        </p:spPr>
        <p:txBody>
          <a:bodyPr anchor="ctr"/>
          <a:lstStyle>
            <a:lvl1pPr algn="l">
              <a:defRPr sz="675" b="1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9490" y="4522401"/>
            <a:ext cx="1081325" cy="273844"/>
          </a:xfrm>
          <a:noFill/>
        </p:spPr>
        <p:txBody>
          <a:bodyPr/>
          <a:lstStyle>
            <a:lvl1pPr algn="r">
              <a:defRPr/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70257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700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41820" y="4659328"/>
            <a:ext cx="8106459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63452"/>
            <a:ext cx="8235853" cy="92979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74" y="1309468"/>
            <a:ext cx="8235853" cy="298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4073" y="4522401"/>
            <a:ext cx="1433322" cy="27384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675" b="1" cap="all" spc="4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543800" y="4522401"/>
            <a:ext cx="887015" cy="27384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675" cap="all" baseline="0">
                <a:solidFill>
                  <a:schemeClr val="tx2"/>
                </a:solidFill>
              </a:defRPr>
            </a:lvl1pPr>
          </a:lstStyle>
          <a:p>
            <a:fld id="{56D64244-A3D4-4B68-87F0-779EEA0C37FE}" type="datetime1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5076" y="4522401"/>
            <a:ext cx="322029" cy="27384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675" cap="all" baseline="0">
                <a:solidFill>
                  <a:schemeClr val="tx2"/>
                </a:solidFill>
              </a:defRPr>
            </a:lvl1pPr>
          </a:lstStyle>
          <a:p>
            <a:fld id="{DDF60B60-82CA-4BB9-BA6E-A62FADF23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  <p:sldLayoutId id="2147483817" r:id="rId16"/>
    <p:sldLayoutId id="2147483818" r:id="rId17"/>
    <p:sldLayoutId id="2147483819" r:id="rId18"/>
    <p:sldLayoutId id="2147483820" r:id="rId19"/>
    <p:sldLayoutId id="2147483821" r:id="rId20"/>
    <p:sldLayoutId id="2147483822" r:id="rId21"/>
    <p:sldLayoutId id="2147483823" r:id="rId22"/>
    <p:sldLayoutId id="2147483824" r:id="rId23"/>
    <p:sldLayoutId id="2147483825" r:id="rId24"/>
    <p:sldLayoutId id="2147483826" r:id="rId25"/>
    <p:sldLayoutId id="2147483827" r:id="rId26"/>
    <p:sldLayoutId id="2147483828" r:id="rId27"/>
    <p:sldLayoutId id="2147483829" r:id="rId28"/>
  </p:sldLayoutIdLst>
  <p:hf sldNum="0" hdr="0" ftr="0" dt="0"/>
  <p:txStyles>
    <p:titleStyle>
      <a:lvl1pPr marL="0" algn="l" defTabSz="6858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1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25"/>
          <p:cNvSpPr txBox="1"/>
          <p:nvPr/>
        </p:nvSpPr>
        <p:spPr>
          <a:xfrm>
            <a:off x="600221" y="960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</a:t>
            </a:r>
            <a:endParaRPr lang="en-US" sz="4800" dirty="0"/>
          </a:p>
        </p:txBody>
      </p:sp>
      <p:sp>
        <p:nvSpPr>
          <p:cNvPr id="28" name="Text 26"/>
          <p:cNvSpPr txBox="1"/>
          <p:nvPr/>
        </p:nvSpPr>
        <p:spPr>
          <a:xfrm>
            <a:off x="600221" y="1655064"/>
            <a:ext cx="60358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Goal-adaptive AI-powered interfaces for complex digital systems</a:t>
            </a:r>
            <a:endParaRPr lang="en-US" dirty="0"/>
          </a:p>
        </p:txBody>
      </p:sp>
      <p:sp>
        <p:nvSpPr>
          <p:cNvPr id="29" name="Text 27"/>
          <p:cNvSpPr txBox="1"/>
          <p:nvPr/>
        </p:nvSpPr>
        <p:spPr>
          <a:xfrm>
            <a:off x="600221" y="257175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making users learn the system,</a:t>
            </a: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system understood the goal first?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00221" y="3532163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00221" y="35387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00221" y="4160520"/>
            <a:ext cx="4187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Aabha Borle  •  Anisha Kango  •  Sakshi Katolkar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00221" y="443835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2026</a:t>
            </a:r>
            <a:endParaRPr lang="en-US" sz="1100" dirty="0"/>
          </a:p>
        </p:txBody>
      </p:sp>
      <p:pic>
        <p:nvPicPr>
          <p:cNvPr id="34" name="Picture 33" descr="01_title_dna_to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05901"/>
            <a:ext cx="29260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one goal, five different pages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simple question forces a student to visit five different systems.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63040" y="15087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6459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asks: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 I still need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graduate?”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246120" y="2286000"/>
            <a:ext cx="411480" cy="201168"/>
          </a:xfrm>
          <a:prstGeom prst="rightArrow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794760" y="1371600"/>
            <a:ext cx="932688" cy="201168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009644" y="160020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5374" y="17259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40480" y="224028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Audit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840480" y="27889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800600" y="1371600"/>
            <a:ext cx="932688" cy="201168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015484" y="160020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1214" y="172593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24028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7889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806440" y="1371600"/>
            <a:ext cx="932688" cy="201168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021324" y="160020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054" y="1725930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52160" y="224028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Advising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852160" y="27889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6812280" y="1371600"/>
            <a:ext cx="932688" cy="201168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7027164" y="160020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2894" y="1725930"/>
            <a:ext cx="251460" cy="2514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0" y="224028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</a:t>
            </a:r>
            <a:endParaRPr lang="en-US" sz="1150" dirty="0"/>
          </a:p>
        </p:txBody>
      </p:sp>
      <p:sp>
        <p:nvSpPr>
          <p:cNvPr id="29" name="Text 22"/>
          <p:cNvSpPr txBox="1"/>
          <p:nvPr/>
        </p:nvSpPr>
        <p:spPr>
          <a:xfrm>
            <a:off x="6858000" y="27889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818120" y="1371600"/>
            <a:ext cx="932688" cy="201168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8033004" y="160020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734" y="1725930"/>
            <a:ext cx="251460" cy="25146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863840" y="224028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Holds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7863840" y="27889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clicking around, it is combining information from all five, reading the rules, and figuring out the correct next step.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8 papers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grouped the papers into four themes, each of which tells us something InterfaceDNA needs.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2514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16344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Mind2Web • WebArena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WorkArena • WebVoyager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85292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understand a goal and use a website, but long, multi-step tasks are still unreliable.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60320" y="1325880"/>
            <a:ext cx="1920240" cy="2514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743200" y="1508760"/>
            <a:ext cx="502920" cy="502920"/>
          </a:xfrm>
          <a:prstGeom prst="ellipse">
            <a:avLst/>
          </a:prstGeom>
          <a:solidFill>
            <a:srgbClr val="ECFEFF"/>
          </a:solidFill>
          <a:ln w="12700">
            <a:solidFill>
              <a:srgbClr val="ECF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8930" y="163449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233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74320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UI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74320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et al., 2026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743200" y="285292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go beyond chat and build an interface that fits the task.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663440" y="1325880"/>
            <a:ext cx="1920240" cy="2514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2050" y="1634490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126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84632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UI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84632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 • Gajos et al.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846320" y="285292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UIs existed before LLMs and help, but only when changes stay stable and predictable.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66560" y="1325880"/>
            <a:ext cx="1920240" cy="2514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949440" y="1508760"/>
            <a:ext cx="502920" cy="502920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170" y="163449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22960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94944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control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6949440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Amershi et al., 2019</a:t>
            </a:r>
            <a:endParaRPr lang="en-US" sz="950" dirty="0"/>
          </a:p>
        </p:txBody>
      </p:sp>
      <p:sp>
        <p:nvSpPr>
          <p:cNvPr id="31" name="Text 25"/>
          <p:cNvSpPr txBox="1"/>
          <p:nvPr/>
        </p:nvSpPr>
        <p:spPr>
          <a:xfrm>
            <a:off x="6949440" y="2852928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should show uncertainty, let users correct it, and ask before doing anything important.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 txBox="1"/>
          <p:nvPr/>
        </p:nvSpPr>
        <p:spPr>
          <a:xfrm>
            <a:off x="685800" y="40233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existing work teaches AI to operate a fixed interface. Nobody asks whether the interface itself can adapt around the user's goal.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idea: AI adapts the interface, not just navigates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user, same goal - two very different approaches.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31920" cy="2788920"/>
          </a:xfrm>
          <a:prstGeom prst="roundRect">
            <a:avLst>
              <a:gd name="adj" fmla="val 26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navigates a fixed portal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554480" cy="16916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2148840"/>
            <a:ext cx="155448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22960" y="24505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7157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9809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Advising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51129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377440" y="2880360"/>
            <a:ext cx="457200" cy="20116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063240" y="2514600"/>
            <a:ext cx="777240" cy="77724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50" y="2708910"/>
            <a:ext cx="388620" cy="3886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78892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learns where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click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754880" y="1325880"/>
            <a:ext cx="3931920" cy="2788920"/>
          </a:xfrm>
          <a:prstGeom prst="roundRect">
            <a:avLst>
              <a:gd name="adj" fmla="val 262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498348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builds the screen around the goal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983480" y="233172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498348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I 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411?”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2606040"/>
            <a:ext cx="411480" cy="201168"/>
          </a:xfrm>
          <a:prstGeom prst="rightArrow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223760" y="2103120"/>
            <a:ext cx="12801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7360920" y="2240280"/>
            <a:ext cx="1005840" cy="12801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360920" y="2468880"/>
            <a:ext cx="457200" cy="292608"/>
          </a:xfrm>
          <a:prstGeom prst="rect">
            <a:avLst/>
          </a:prstGeom>
          <a:solidFill>
            <a:srgbClr val="ECFEFF"/>
          </a:solidFill>
          <a:ln w="12700">
            <a:solidFill>
              <a:srgbClr val="ECF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909560" y="2468880"/>
            <a:ext cx="457200" cy="292608"/>
          </a:xfrm>
          <a:prstGeom prst="rect">
            <a:avLst/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7360920" y="2834640"/>
            <a:ext cx="1005840" cy="91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360920" y="3017520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7086600" y="3383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focused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view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can GenAI turn a plain-English goal + the student's current data into a screen that is more direct, understandable, and actionable?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InterfaceDNA works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The AI understands and plans regular software checks and executes them.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499616" cy="16916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9436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1508760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193852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286000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types 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request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75104" y="2075688"/>
            <a:ext cx="146304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139696" y="1325880"/>
            <a:ext cx="1499616" cy="16916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276856" y="146304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2276856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392" y="150876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276856" y="193852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276856" y="2286000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turns it into 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intent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0" y="2075688"/>
            <a:ext cx="146304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3822192" y="1325880"/>
            <a:ext cx="1499616" cy="16916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959352" y="146304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 txBox="1"/>
          <p:nvPr/>
        </p:nvSpPr>
        <p:spPr>
          <a:xfrm>
            <a:off x="3959352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508760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959352" y="193852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959352" y="2286000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student's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relevant policies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340096" y="2075688"/>
            <a:ext cx="146304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5504688" y="1325880"/>
            <a:ext cx="1499616" cy="16916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641848" y="146304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 txBox="1"/>
          <p:nvPr/>
        </p:nvSpPr>
        <p:spPr>
          <a:xfrm>
            <a:off x="5641848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1508760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641848" y="193852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5641848" y="2286000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Steps, warnings,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valid actions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7022592" y="2075688"/>
            <a:ext cx="146304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187184" y="1325880"/>
            <a:ext cx="1499616" cy="16916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324344" y="146304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 txBox="1"/>
          <p:nvPr/>
        </p:nvSpPr>
        <p:spPr>
          <a:xfrm>
            <a:off x="7324344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1508760"/>
            <a:ext cx="292608" cy="292608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324344" y="193852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324344" y="2286000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one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task screen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457200" y="32461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2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32588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handles</a:t>
            </a:r>
            <a:endParaRPr lang="en-US" sz="1300" dirty="0"/>
          </a:p>
        </p:txBody>
      </p:sp>
      <p:sp>
        <p:nvSpPr>
          <p:cNvPr id="42" name="Text 34"/>
          <p:cNvSpPr txBox="1"/>
          <p:nvPr/>
        </p:nvSpPr>
        <p:spPr>
          <a:xfrm>
            <a:off x="1325880" y="36576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goal  •  planning the task  •  composing the screen</a:t>
            </a:r>
            <a:endParaRPr 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4663440" y="32461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4846320" y="342900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3566160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553212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software handles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5532120" y="36576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 •  validation  •  actually executing the action</a:t>
            </a:r>
            <a:endParaRPr lang="en-US" sz="1050" dirty="0"/>
          </a:p>
        </p:txBody>
      </p:sp>
      <p:sp>
        <p:nvSpPr>
          <p:cNvPr id="48" name="Text 3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never changes student data directly. Important actions always need the student to confirm.</a:t>
            </a:r>
            <a:endParaRPr lang="en-US" sz="1150" dirty="0"/>
          </a:p>
        </p:txBody>
      </p:sp>
      <p:sp>
        <p:nvSpPr>
          <p:cNvPr id="49" name="Text 40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“Can I drop CS 411?”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not a chat answer; it is a small workspace built for this one task.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468880" cy="3246120"/>
          </a:xfrm>
          <a:prstGeom prst="roundRect">
            <a:avLst>
              <a:gd name="adj" fmla="val 2963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GOAL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I drop CS 411?”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scenes it checks: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2560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deadline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4436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14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on the account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10128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full-time status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75888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4400" y="3657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that applies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41648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14400" y="4023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student can do next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3063240" y="2834640"/>
            <a:ext cx="320040" cy="201168"/>
          </a:xfrm>
          <a:prstGeom prst="rightArrow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2"/>
          <p:cNvSpPr/>
          <p:nvPr/>
        </p:nvSpPr>
        <p:spPr>
          <a:xfrm>
            <a:off x="3520440" y="1325880"/>
            <a:ext cx="5166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3520440" y="1325880"/>
            <a:ext cx="516636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 txBox="1"/>
          <p:nvPr/>
        </p:nvSpPr>
        <p:spPr>
          <a:xfrm>
            <a:off x="37033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Drop - CS 411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7726680" y="1426464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6"/>
          <p:cNvSpPr txBox="1"/>
          <p:nvPr/>
        </p:nvSpPr>
        <p:spPr>
          <a:xfrm>
            <a:off x="7726680" y="142646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3703320" y="1965960"/>
            <a:ext cx="1539240" cy="777240"/>
          </a:xfrm>
          <a:prstGeom prst="roundRect">
            <a:avLst>
              <a:gd name="adj" fmla="val 7059"/>
            </a:avLst>
          </a:prstGeom>
          <a:solidFill>
            <a:srgbClr val="ECFEFF"/>
          </a:solidFill>
          <a:ln w="12700">
            <a:solidFill>
              <a:srgbClr val="ECF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 txBox="1"/>
          <p:nvPr/>
        </p:nvSpPr>
        <p:spPr>
          <a:xfrm>
            <a:off x="3813048" y="2039112"/>
            <a:ext cx="1319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3813048" y="2267712"/>
            <a:ext cx="1319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Sept. 30 • 11:59 PM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334000" y="1965960"/>
            <a:ext cx="1539240" cy="77724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1"/>
          <p:cNvSpPr txBox="1"/>
          <p:nvPr/>
        </p:nvSpPr>
        <p:spPr>
          <a:xfrm>
            <a:off x="5443728" y="2039112"/>
            <a:ext cx="1319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5443728" y="2267712"/>
            <a:ext cx="1319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blocking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964680" y="1965960"/>
            <a:ext cx="1539240" cy="777240"/>
          </a:xfrm>
          <a:prstGeom prst="roundRect">
            <a:avLst>
              <a:gd name="adj" fmla="val 7059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 txBox="1"/>
          <p:nvPr/>
        </p:nvSpPr>
        <p:spPr>
          <a:xfrm>
            <a:off x="7074408" y="2039112"/>
            <a:ext cx="1319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7074408" y="2267712"/>
            <a:ext cx="1319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affect full-time status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3703320" y="2880360"/>
            <a:ext cx="4800600" cy="77724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7"/>
          <p:cNvSpPr txBox="1"/>
          <p:nvPr/>
        </p:nvSpPr>
        <p:spPr>
          <a:xfrm>
            <a:off x="3813048" y="29535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policy</a:t>
            </a:r>
            <a:endParaRPr 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295351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after the deadline requires an exception. Review financial and enrollment consequences before confirming.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4709160" y="384048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/>
          <p:cNvSpPr txBox="1"/>
          <p:nvPr/>
        </p:nvSpPr>
        <p:spPr>
          <a:xfrm>
            <a:off x="4709160" y="3840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drop action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6309360" y="384048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2"/>
          <p:cNvSpPr txBox="1"/>
          <p:nvPr/>
        </p:nvSpPr>
        <p:spPr>
          <a:xfrm>
            <a:off x="6309360" y="3840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course</a:t>
            </a:r>
            <a:endParaRPr lang="en-US" sz="1050" dirty="0"/>
          </a:p>
        </p:txBody>
      </p:sp>
      <p:sp>
        <p:nvSpPr>
          <p:cNvPr id="40" name="Text 33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41" name="Text 34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2: how we will test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questions: does the pipeline get things right, and is it actually easier than chat?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377440" cy="28346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25-30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has a known correct answer: the goal, the data needed, the policy, the valid actions, and when to ask for confirmation.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3703320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31520" y="3703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university portal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17520" y="132588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463040"/>
            <a:ext cx="457200" cy="457200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1577340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749040" y="14813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AI get it right?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212140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47472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goal correctly</a:t>
            </a:r>
            <a:endParaRPr lang="en-US" sz="10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2450592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74720" y="24323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Gathered all required information</a:t>
            </a:r>
            <a:endParaRPr lang="en-US" sz="10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2779776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474720" y="2761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the correct policy</a:t>
            </a:r>
            <a:endParaRPr lang="en-US" sz="10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310896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474720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only valid actions</a:t>
            </a:r>
            <a:endParaRPr lang="en-US" sz="105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3438144"/>
            <a:ext cx="182880" cy="182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474720" y="3419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was complete</a:t>
            </a:r>
            <a:endParaRPr lang="en-US" sz="105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376732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47472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for confirmation when required</a:t>
            </a:r>
            <a:endParaRPr lang="en-US" sz="1050" dirty="0"/>
          </a:p>
        </p:txBody>
      </p:sp>
      <p:sp>
        <p:nvSpPr>
          <p:cNvPr id="26" name="Shape 17"/>
          <p:cNvSpPr/>
          <p:nvPr/>
        </p:nvSpPr>
        <p:spPr>
          <a:xfrm>
            <a:off x="5943600" y="132588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ECFEFF"/>
          </a:solidFill>
          <a:ln w="9525">
            <a:solidFill>
              <a:srgbClr val="A5F3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18"/>
          <p:cNvSpPr/>
          <p:nvPr/>
        </p:nvSpPr>
        <p:spPr>
          <a:xfrm>
            <a:off x="6126480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0780" y="1577340"/>
            <a:ext cx="228600" cy="228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675120" y="14813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easier than chat?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6126480" y="21488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1"/>
          <p:cNvSpPr txBox="1"/>
          <p:nvPr/>
        </p:nvSpPr>
        <p:spPr>
          <a:xfrm>
            <a:off x="6263640" y="21488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to finish the task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7726680" y="2267712"/>
            <a:ext cx="685800" cy="265176"/>
          </a:xfrm>
          <a:prstGeom prst="roundRect">
            <a:avLst>
              <a:gd name="adj" fmla="val 2069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/>
          <p:cNvSpPr txBox="1"/>
          <p:nvPr/>
        </p:nvSpPr>
        <p:spPr>
          <a:xfrm>
            <a:off x="7726680" y="2267712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</a:t>
            </a:r>
            <a:endParaRPr lang="en-US" sz="850" dirty="0"/>
          </a:p>
        </p:txBody>
      </p:sp>
      <p:sp>
        <p:nvSpPr>
          <p:cNvPr id="34" name="Shape 24"/>
          <p:cNvSpPr/>
          <p:nvPr/>
        </p:nvSpPr>
        <p:spPr>
          <a:xfrm>
            <a:off x="6126480" y="278892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5"/>
          <p:cNvSpPr txBox="1"/>
          <p:nvPr/>
        </p:nvSpPr>
        <p:spPr>
          <a:xfrm>
            <a:off x="6263640" y="27889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the correct next action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7726680" y="2907792"/>
            <a:ext cx="685800" cy="265176"/>
          </a:xfrm>
          <a:prstGeom prst="roundRect">
            <a:avLst>
              <a:gd name="adj" fmla="val 2069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/>
          <p:cNvSpPr txBox="1"/>
          <p:nvPr/>
        </p:nvSpPr>
        <p:spPr>
          <a:xfrm>
            <a:off x="7726680" y="2907792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often</a:t>
            </a:r>
            <a:endParaRPr lang="en-US" sz="850" dirty="0"/>
          </a:p>
        </p:txBody>
      </p:sp>
      <p:sp>
        <p:nvSpPr>
          <p:cNvPr id="38" name="Shape 28"/>
          <p:cNvSpPr/>
          <p:nvPr/>
        </p:nvSpPr>
        <p:spPr>
          <a:xfrm>
            <a:off x="6126480" y="34290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9"/>
          <p:cNvSpPr txBox="1"/>
          <p:nvPr/>
        </p:nvSpPr>
        <p:spPr>
          <a:xfrm>
            <a:off x="6263640" y="3429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felt by the user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726680" y="3547872"/>
            <a:ext cx="685800" cy="265176"/>
          </a:xfrm>
          <a:prstGeom prst="roundRect">
            <a:avLst>
              <a:gd name="adj" fmla="val 2069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/>
          <p:cNvSpPr txBox="1"/>
          <p:nvPr/>
        </p:nvSpPr>
        <p:spPr>
          <a:xfrm>
            <a:off x="7726680" y="3547872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the adaptive screen helps students finish the task faster and more correctly than a chat-only assistant.</a:t>
            </a:r>
            <a:endParaRPr lang="en-US" sz="1150" dirty="0"/>
          </a:p>
        </p:txBody>
      </p:sp>
      <p:sp>
        <p:nvSpPr>
          <p:cNvPr id="43" name="Text 33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how we handle them, and what comes next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deliberately keeping the first prototype small and testable.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453896"/>
            <a:ext cx="457200" cy="45720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15681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417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makes up a policy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916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use a fixed, approved set of policy documents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00600" y="1453896"/>
            <a:ext cx="457200" cy="45720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1568196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417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takes an unsafe action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394960" y="16916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pre-approved backend functions + the student must confirm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176272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94360" y="2304288"/>
            <a:ext cx="457200" cy="45720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241858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226771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privacy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5420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synthetic (fake) student data while building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2176272"/>
            <a:ext cx="4023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800600" y="2304288"/>
            <a:ext cx="457200" cy="45720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4900" y="2418588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94960" y="226771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/ bias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394960" y="25420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+ the system says “I'm not sure” when confidence is low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1508760" y="3063240"/>
            <a:ext cx="224028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 txBox="1"/>
          <p:nvPr/>
        </p:nvSpPr>
        <p:spPr>
          <a:xfrm>
            <a:off x="1645920" y="30632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CP2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210312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Oct. 8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2697480" y="30632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pipeline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3776472" y="3218688"/>
            <a:ext cx="182880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3977640" y="3063240"/>
            <a:ext cx="2240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 txBox="1"/>
          <p:nvPr/>
        </p:nvSpPr>
        <p:spPr>
          <a:xfrm>
            <a:off x="4114800" y="30632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457200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5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5166360" y="30632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prototype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245352" y="3218688"/>
            <a:ext cx="182880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6446520" y="3063240"/>
            <a:ext cx="2240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 txBox="1"/>
          <p:nvPr/>
        </p:nvSpPr>
        <p:spPr>
          <a:xfrm>
            <a:off x="6583680" y="30632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CP4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704088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Dec. 3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7635240" y="30632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 txBox="1"/>
          <p:nvPr/>
        </p:nvSpPr>
        <p:spPr>
          <a:xfrm>
            <a:off x="685800" y="3794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GenAI make complex systems feel simple - by shaping the interface around what the user is actually trying to do?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492 • Checkpoint 1</a:t>
            </a:r>
            <a:endParaRPr lang="en-US" sz="900" dirty="0"/>
          </a:p>
        </p:txBody>
      </p:sp>
      <p:sp>
        <p:nvSpPr>
          <p:cNvPr id="42" name="Text 36"/>
          <p:cNvSpPr txBox="1"/>
          <p:nvPr/>
        </p:nvSpPr>
        <p:spPr>
          <a:xfrm>
            <a:off x="59436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InterfaceDNA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1D34296-4074-DC99-7267-23E8D4CA233C}"/>
              </a:ext>
            </a:extLst>
          </p:cNvPr>
          <p:cNvSpPr/>
          <p:nvPr/>
        </p:nvSpPr>
        <p:spPr>
          <a:xfrm>
            <a:off x="2743358" y="1990816"/>
            <a:ext cx="31999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rgbClr val="00206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cs typeface="Apple Chancery" panose="03020702040506060504" pitchFamily="66" charset="-79"/>
              </a:rPr>
              <a:t>Thank You!</a:t>
            </a:r>
            <a:endParaRPr lang="en-US" sz="5400" b="0" cap="none" spc="0" dirty="0">
              <a:ln w="0"/>
              <a:solidFill>
                <a:srgbClr val="00206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2144592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877</Words>
  <Application>Microsoft Macintosh PowerPoint</Application>
  <PresentationFormat>On-screen Show (16:9)</PresentationFormat>
  <Paragraphs>175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Oswald SemiBold</vt:lpstr>
      <vt:lpstr>Univers Condensed Light</vt:lpstr>
      <vt:lpstr>Orange Experience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InterfaceDNA — Checkpoint 1</dc:title>
  <dc:subject>PptxGenJS Presentation</dc:subject>
  <dc:creator>PptxGenJS</dc:creator>
  <cp:lastModifiedBy>Sakshi Katolkar</cp:lastModifiedBy>
  <cp:revision>8</cp:revision>
  <dcterms:created xsi:type="dcterms:W3CDTF">2026-09-18T00:42:00Z</dcterms:created>
  <dcterms:modified xsi:type="dcterms:W3CDTF">2026-09-18T05:08:56Z</dcterms:modified>
</cp:coreProperties>
</file>