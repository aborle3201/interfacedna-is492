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6376"/>
  </p:normalViewPr>
  <p:slideViewPr>
    <p:cSldViewPr snapToGrid="0" snapToObjects="1">
      <p:cViewPr varScale="1">
        <p:scale>
          <a:sx n="155" d="100"/>
          <a:sy n="155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48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9650" y="478417"/>
            <a:ext cx="0" cy="4179308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2249" y="576693"/>
            <a:ext cx="0" cy="360045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27898" y="1015603"/>
            <a:ext cx="3992165" cy="336113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23994"/>
            <a:ext cx="4423410" cy="3194217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073" y="4029607"/>
            <a:ext cx="1773710" cy="68183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2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0647" y="459189"/>
            <a:ext cx="1552798" cy="389224"/>
          </a:xfrm>
          <a:solidFill>
            <a:schemeClr val="bg2"/>
          </a:solidFill>
        </p:spPr>
        <p:txBody>
          <a:bodyPr anchor="t"/>
          <a:lstStyle>
            <a:lvl1pPr algn="r">
              <a:defRPr sz="788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172995" y="3922452"/>
            <a:ext cx="917846" cy="273844"/>
          </a:xfrm>
          <a:solidFill>
            <a:schemeClr val="bg2"/>
          </a:solidFill>
        </p:spPr>
        <p:txBody>
          <a:bodyPr rIns="182880"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1050" y="4522400"/>
            <a:ext cx="346079" cy="273844"/>
          </a:xfrm>
          <a:solidFill>
            <a:schemeClr val="bg2"/>
          </a:solidFill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771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240" y="199296"/>
            <a:ext cx="8235853" cy="99417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40" y="1302133"/>
            <a:ext cx="8235853" cy="3149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385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171" y="817798"/>
            <a:ext cx="0" cy="329700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593" y="1028700"/>
            <a:ext cx="5029794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0387" y="514349"/>
            <a:ext cx="4780253" cy="20574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51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5343" y="4177717"/>
            <a:ext cx="3086099" cy="5246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2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87" y="381063"/>
            <a:ext cx="322029" cy="273844"/>
          </a:xfrm>
          <a:noFill/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2747" y="381063"/>
            <a:ext cx="902490" cy="273844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0952" y="459047"/>
            <a:ext cx="1115472" cy="358751"/>
          </a:xfrm>
          <a:solidFill>
            <a:schemeClr val="bg2"/>
          </a:solidFill>
        </p:spPr>
        <p:txBody>
          <a:bodyPr anchor="t"/>
          <a:lstStyle>
            <a:lvl1pPr algn="r">
              <a:defRPr sz="788"/>
            </a:lvl1pPr>
          </a:lstStyle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266401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171" y="775185"/>
            <a:ext cx="0" cy="3600219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69" y="253746"/>
            <a:ext cx="6126480" cy="3346704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7200" spc="-75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0" y="3566047"/>
            <a:ext cx="2313331" cy="810227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200" cap="all" spc="75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1" y="335685"/>
            <a:ext cx="1858424" cy="439501"/>
          </a:xfrm>
          <a:noFill/>
        </p:spPr>
        <p:txBody>
          <a:bodyPr/>
          <a:lstStyle>
            <a:lvl1pPr algn="r">
              <a:defRPr sz="788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245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94723" y="4629139"/>
            <a:ext cx="7745068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2" y="274320"/>
            <a:ext cx="8651093" cy="4144240"/>
          </a:xfrm>
          <a:noFill/>
        </p:spPr>
        <p:txBody>
          <a:bodyPr anchor="t">
            <a:normAutofit/>
          </a:bodyPr>
          <a:lstStyle>
            <a:lvl1pPr>
              <a:defRPr sz="8625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044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9143997" cy="51435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91429" y="514350"/>
            <a:ext cx="7638221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3" y="1532928"/>
            <a:ext cx="5600698" cy="3610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054631" y="2040297"/>
            <a:ext cx="4234067" cy="1870732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9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9808" y="427382"/>
            <a:ext cx="1103244" cy="406274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788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649" y="2057401"/>
            <a:ext cx="4572001" cy="2600324"/>
          </a:xfrm>
        </p:spPr>
        <p:txBody>
          <a:bodyPr>
            <a:normAutofit/>
          </a:bodyPr>
          <a:lstStyle>
            <a:lvl1pPr marL="257175" indent="-257175">
              <a:buClr>
                <a:schemeClr val="accent2"/>
              </a:buClr>
              <a:buFont typeface="+mj-lt"/>
              <a:buAutoNum type="arabicPeriod"/>
              <a:defRPr sz="1350"/>
            </a:lvl1pPr>
            <a:lvl2pPr marL="600075" indent="-257175">
              <a:buClr>
                <a:schemeClr val="accent2"/>
              </a:buClr>
              <a:buFont typeface="+mj-lt"/>
              <a:buAutoNum type="arabicPeriod"/>
              <a:defRPr sz="1200"/>
            </a:lvl2pPr>
            <a:lvl3pPr marL="942975" indent="-257175">
              <a:buClr>
                <a:schemeClr val="accent2"/>
              </a:buClr>
              <a:buFont typeface="+mj-lt"/>
              <a:buAutoNum type="arabicPeriod"/>
              <a:defRPr sz="1050"/>
            </a:lvl3pPr>
            <a:lvl4pPr>
              <a:buClr>
                <a:schemeClr val="accent2"/>
              </a:buClr>
              <a:buFont typeface="+mj-lt"/>
              <a:buAutoNum type="arabicPeriod"/>
              <a:defRPr sz="900"/>
            </a:lvl4pPr>
            <a:lvl5pPr>
              <a:buClr>
                <a:schemeClr val="accent2"/>
              </a:buClr>
              <a:buFont typeface="+mj-lt"/>
              <a:buAutoNum type="arabicPeriod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25343" y="310220"/>
            <a:ext cx="942554" cy="409125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7897" y="310220"/>
            <a:ext cx="322029" cy="409125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945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9143997" cy="51435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3" y="2561628"/>
            <a:ext cx="8115298" cy="2581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629650" y="834887"/>
            <a:ext cx="0" cy="1278009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9" y="137161"/>
            <a:ext cx="5948169" cy="1678940"/>
          </a:xfrm>
          <a:noFill/>
        </p:spPr>
        <p:txBody>
          <a:bodyPr anchor="t">
            <a:normAutofit/>
          </a:bodyPr>
          <a:lstStyle>
            <a:lvl1pPr>
              <a:defRPr sz="9000" spc="-38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710" y="2880360"/>
            <a:ext cx="4907943" cy="1902350"/>
          </a:xfrm>
        </p:spPr>
        <p:txBody>
          <a:bodyPr>
            <a:normAutofit/>
          </a:bodyPr>
          <a:lstStyle>
            <a:lvl1pPr marL="257175" indent="-257175">
              <a:buClr>
                <a:schemeClr val="accent2"/>
              </a:buClr>
              <a:buFont typeface="+mj-lt"/>
              <a:buAutoNum type="arabicPeriod"/>
              <a:defRPr sz="1350"/>
            </a:lvl1pPr>
            <a:lvl2pPr marL="600075" indent="-257175">
              <a:buClr>
                <a:schemeClr val="accent2"/>
              </a:buClr>
              <a:buFont typeface="+mj-lt"/>
              <a:buAutoNum type="arabicPeriod"/>
              <a:defRPr sz="1200"/>
            </a:lvl2pPr>
            <a:lvl3pPr marL="942975" indent="-257175">
              <a:buClr>
                <a:schemeClr val="accent2"/>
              </a:buClr>
              <a:buFont typeface="+mj-lt"/>
              <a:buAutoNum type="arabicPeriod"/>
              <a:defRPr sz="1050"/>
            </a:lvl3pPr>
            <a:lvl4pPr>
              <a:buClr>
                <a:schemeClr val="accent2"/>
              </a:buClr>
              <a:buFont typeface="+mj-lt"/>
              <a:buAutoNum type="arabicPeriod"/>
              <a:defRPr sz="900"/>
            </a:lvl4pPr>
            <a:lvl5pPr>
              <a:buClr>
                <a:schemeClr val="accent2"/>
              </a:buClr>
              <a:buFont typeface="+mj-lt"/>
              <a:buAutoNum type="arabicPeriod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0958" y="459286"/>
            <a:ext cx="1113171" cy="359514"/>
          </a:xfrm>
          <a:noFill/>
        </p:spPr>
        <p:txBody>
          <a:bodyPr anchor="t"/>
          <a:lstStyle>
            <a:lvl1pPr algn="r">
              <a:defRPr sz="788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50134" y="2067525"/>
            <a:ext cx="942554" cy="317867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908" y="2067525"/>
            <a:ext cx="322029" cy="317867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2250" y="2561628"/>
            <a:ext cx="2571750" cy="25818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68622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1" y="1543050"/>
            <a:ext cx="2571750" cy="1401418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543051"/>
            <a:ext cx="348615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224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773936"/>
            <a:ext cx="2976372" cy="1121134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515" y="751399"/>
            <a:ext cx="4812135" cy="3512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4522401"/>
            <a:ext cx="884682" cy="273844"/>
          </a:xfrm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76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2343150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0"/>
            <a:ext cx="5543550" cy="905256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0350" y="1025717"/>
            <a:ext cx="5946755" cy="335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57500" y="4657725"/>
            <a:ext cx="577215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1" y="4522401"/>
            <a:ext cx="1518407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4522401"/>
            <a:ext cx="884682" cy="273844"/>
          </a:xfrm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681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14800" cy="417195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7489" y="0"/>
            <a:ext cx="3289111" cy="1347093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292" y="1473961"/>
            <a:ext cx="3644994" cy="2799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873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374606"/>
            <a:ext cx="2719082" cy="1106019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74" y="1593167"/>
            <a:ext cx="2675553" cy="26165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00451" y="0"/>
            <a:ext cx="5543550" cy="417195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4522401"/>
            <a:ext cx="884682" cy="273844"/>
          </a:xfrm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8655" y="4522401"/>
            <a:ext cx="322029" cy="273844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630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322535"/>
            <a:ext cx="3704254" cy="87470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74" y="1310094"/>
            <a:ext cx="4332672" cy="2977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3550" y="0"/>
            <a:ext cx="3600450" cy="417195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4522401"/>
            <a:ext cx="884682" cy="273844"/>
          </a:xfrm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8655" y="4522401"/>
            <a:ext cx="322029" cy="273844"/>
          </a:xfrm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500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886450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842" y="0"/>
            <a:ext cx="3107123" cy="148401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647" y="1584730"/>
            <a:ext cx="2363318" cy="2758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29934" y="4522401"/>
            <a:ext cx="1433322" cy="273844"/>
          </a:xfrm>
          <a:noFill/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3256" y="4522401"/>
            <a:ext cx="667558" cy="273844"/>
          </a:xfrm>
          <a:noFill/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05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51435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751032"/>
            <a:ext cx="2700842" cy="1021844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628" y="1872636"/>
            <a:ext cx="2700842" cy="17278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9" y="377428"/>
            <a:ext cx="1430849" cy="273844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2628" y="3600450"/>
            <a:ext cx="942554" cy="273844"/>
          </a:xfrm>
          <a:noFill/>
        </p:spPr>
        <p:txBody>
          <a:bodyPr/>
          <a:lstStyle>
            <a:lvl1pPr algn="l">
              <a:defRPr/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60731" y="3600450"/>
            <a:ext cx="322029" cy="273844"/>
          </a:xfrm>
          <a:noFill/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713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3505467"/>
            <a:ext cx="2366010" cy="96593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30861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0" y="3485296"/>
            <a:ext cx="5664086" cy="1037105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4522401"/>
            <a:ext cx="884682" cy="273844"/>
          </a:xfrm>
          <a:noFill/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8157" y="4522401"/>
            <a:ext cx="322029" cy="273844"/>
          </a:xfrm>
          <a:noFill/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779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252797"/>
            <a:ext cx="5090924" cy="634448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102" y="478280"/>
            <a:ext cx="1430849" cy="273844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28700"/>
            <a:ext cx="5543552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623" y="950053"/>
            <a:ext cx="2171096" cy="35723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028" y="771525"/>
            <a:ext cx="0" cy="360045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58105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600450" cy="36167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564" y="3280575"/>
            <a:ext cx="2923429" cy="1035611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137" y="514350"/>
            <a:ext cx="4073163" cy="3903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230" y="4522400"/>
            <a:ext cx="1433322" cy="273845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4522401"/>
            <a:ext cx="884682" cy="273844"/>
          </a:xfrm>
          <a:solidFill>
            <a:schemeClr val="bg1"/>
          </a:solidFill>
        </p:spPr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8260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450" y="3861841"/>
            <a:ext cx="5145830" cy="631895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647" y="90574"/>
            <a:ext cx="8042250" cy="3195303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1000" spc="-150" baseline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4" y="4522401"/>
            <a:ext cx="1603327" cy="273844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696" y="506896"/>
            <a:ext cx="0" cy="3138221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80546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74" y="-588893"/>
            <a:ext cx="8235853" cy="48006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3448" y="1237422"/>
            <a:ext cx="7627441" cy="3712265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cap="all" spc="-75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lnSpc>
                <a:spcPct val="80000"/>
              </a:lnSpc>
              <a:buNone/>
              <a:defRPr sz="5400" cap="all" baseline="0">
                <a:solidFill>
                  <a:schemeClr val="bg1"/>
                </a:solidFill>
                <a:latin typeface="+mj-lt"/>
              </a:defRPr>
            </a:lvl2pPr>
            <a:lvl3pPr marL="685800" indent="0">
              <a:lnSpc>
                <a:spcPct val="80000"/>
              </a:lnSpc>
              <a:buNone/>
              <a:defRPr sz="5400" cap="all" baseline="0">
                <a:solidFill>
                  <a:schemeClr val="bg1"/>
                </a:solidFill>
                <a:latin typeface="+mj-lt"/>
              </a:defRPr>
            </a:lvl3pPr>
            <a:lvl4pPr marL="1028700" indent="0">
              <a:lnSpc>
                <a:spcPct val="80000"/>
              </a:lnSpc>
              <a:buNone/>
              <a:defRPr sz="4950" cap="all" baseline="0">
                <a:solidFill>
                  <a:schemeClr val="bg1"/>
                </a:solidFill>
                <a:latin typeface="+mj-lt"/>
              </a:defRPr>
            </a:lvl4pPr>
            <a:lvl5pPr marL="1371600" indent="0">
              <a:lnSpc>
                <a:spcPct val="80000"/>
              </a:lnSpc>
              <a:buNone/>
              <a:defRPr sz="495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94723" y="514350"/>
            <a:ext cx="7745068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4" y="375921"/>
            <a:ext cx="1430849" cy="273844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25343" y="375921"/>
            <a:ext cx="942554" cy="273844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7897" y="375921"/>
            <a:ext cx="322029" cy="273844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4968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9143999" cy="51435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"/>
            <a:ext cx="6572250" cy="37787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41820" y="4659328"/>
            <a:ext cx="8106459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6100" y="4057652"/>
            <a:ext cx="5657850" cy="279560"/>
          </a:xfrm>
          <a:noFill/>
        </p:spPr>
        <p:txBody>
          <a:bodyPr tIns="91440" bIns="91440" anchor="ctr">
            <a:normAutofit/>
          </a:bodyPr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2628" y="544167"/>
            <a:ext cx="6633972" cy="2742126"/>
          </a:xfrm>
        </p:spPr>
        <p:txBody>
          <a:bodyPr>
            <a:normAutofit/>
          </a:bodyPr>
          <a:lstStyle>
            <a:lvl1pPr marL="171450" indent="-171450">
              <a:lnSpc>
                <a:spcPct val="85000"/>
              </a:lnSpc>
              <a:spcBef>
                <a:spcPts val="0"/>
              </a:spcBef>
              <a:buNone/>
              <a:defRPr sz="435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3" y="4522401"/>
            <a:ext cx="1433322" cy="273844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76" y="4522401"/>
            <a:ext cx="1076706" cy="273844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5052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390889"/>
            <a:ext cx="8177022" cy="803137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073" y="1317173"/>
            <a:ext cx="3886200" cy="3026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3450" y="1317173"/>
            <a:ext cx="3886200" cy="3026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553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390904"/>
            <a:ext cx="8174736" cy="802386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74" y="1223307"/>
            <a:ext cx="3868340" cy="532046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spc="38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74" y="1779110"/>
            <a:ext cx="3868340" cy="2621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3450" y="1223307"/>
            <a:ext cx="3887391" cy="532045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spc="38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43450" y="1779109"/>
            <a:ext cx="3887391" cy="2621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0648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198882"/>
            <a:ext cx="8271692" cy="99441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7D35-FD3E-408B-A06E-7ED09E94C083}" type="datetime1">
              <a:rPr lang="en-US" smtClean="0"/>
              <a:t>9/18/26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40894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7153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3050" y="2313495"/>
            <a:ext cx="7600467" cy="2830006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9" y="137161"/>
            <a:ext cx="6462513" cy="1405890"/>
          </a:xfrm>
          <a:noFill/>
        </p:spPr>
        <p:txBody>
          <a:bodyPr anchor="t">
            <a:normAutofit/>
          </a:bodyPr>
          <a:lstStyle>
            <a:lvl1pPr>
              <a:defRPr sz="72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463443"/>
            <a:ext cx="1400173" cy="346411"/>
          </a:xfrm>
          <a:noFill/>
        </p:spPr>
        <p:txBody>
          <a:bodyPr anchor="t"/>
          <a:lstStyle>
            <a:lvl1pPr algn="r">
              <a:defRPr sz="675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884" y="2658649"/>
            <a:ext cx="6743042" cy="183508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350"/>
            </a:lvl1pPr>
            <a:lvl2pPr marL="3429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2pPr>
            <a:lvl3pPr marL="685800" indent="0">
              <a:buClr>
                <a:schemeClr val="tx2"/>
              </a:buClr>
              <a:buFont typeface="Arial" panose="020B0604020202020204" pitchFamily="34" charset="0"/>
              <a:buNone/>
              <a:defRPr sz="1050"/>
            </a:lvl3pPr>
            <a:lvl4pPr marL="10287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4pPr>
            <a:lvl5pPr marL="13716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6885" y="4518612"/>
            <a:ext cx="1357121" cy="273844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9369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27058" cy="1543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4350" y="3423470"/>
            <a:ext cx="38010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398205"/>
            <a:ext cx="5777682" cy="981218"/>
          </a:xfrm>
          <a:noFill/>
        </p:spPr>
        <p:txBody>
          <a:bodyPr anchor="t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754" y="2678648"/>
            <a:ext cx="3757151" cy="1490771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350"/>
            </a:lvl1pPr>
            <a:lvl2pPr marL="3429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2pPr>
            <a:lvl3pPr marL="685800" indent="0">
              <a:buClr>
                <a:schemeClr val="tx2"/>
              </a:buClr>
              <a:buFont typeface="Arial" panose="020B0604020202020204" pitchFamily="34" charset="0"/>
              <a:buNone/>
              <a:defRPr sz="1050"/>
            </a:lvl3pPr>
            <a:lvl4pPr marL="10287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4pPr>
            <a:lvl5pPr marL="13716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3" y="4522400"/>
            <a:ext cx="1433322" cy="273845"/>
          </a:xfrm>
          <a:noFill/>
        </p:spPr>
        <p:txBody>
          <a:bodyPr anchor="ctr"/>
          <a:lstStyle>
            <a:lvl1pPr algn="l">
              <a:defRPr sz="675" b="1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9490" y="4522401"/>
            <a:ext cx="1081325" cy="273844"/>
          </a:xfrm>
          <a:noFill/>
        </p:spPr>
        <p:txBody>
          <a:bodyPr/>
          <a:lstStyle>
            <a:lvl1pPr algn="r">
              <a:defRPr/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7025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70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41820" y="4659328"/>
            <a:ext cx="8106459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263452"/>
            <a:ext cx="8235853" cy="9297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74" y="1309468"/>
            <a:ext cx="8235853" cy="298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073" y="4522401"/>
            <a:ext cx="1433322" cy="27384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675" b="1" cap="all" spc="4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0" y="4522401"/>
            <a:ext cx="887015" cy="27384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675" cap="all" baseline="0">
                <a:solidFill>
                  <a:schemeClr val="tx2"/>
                </a:solidFill>
              </a:defRPr>
            </a:lvl1pPr>
          </a:lstStyle>
          <a:p>
            <a:fld id="{56D64244-A3D4-4B68-87F0-779EEA0C37FE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76" y="4522401"/>
            <a:ext cx="322029" cy="27384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675" cap="all" baseline="0">
                <a:solidFill>
                  <a:schemeClr val="tx2"/>
                </a:solidFill>
              </a:defRPr>
            </a:lvl1pPr>
          </a:lstStyle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19" r:id="rId18"/>
    <p:sldLayoutId id="2147483820" r:id="rId19"/>
    <p:sldLayoutId id="2147483821" r:id="rId20"/>
    <p:sldLayoutId id="2147483822" r:id="rId21"/>
    <p:sldLayoutId id="2147483823" r:id="rId22"/>
    <p:sldLayoutId id="2147483824" r:id="rId23"/>
    <p:sldLayoutId id="2147483825" r:id="rId24"/>
    <p:sldLayoutId id="2147483826" r:id="rId25"/>
    <p:sldLayoutId id="2147483827" r:id="rId26"/>
    <p:sldLayoutId id="2147483828" r:id="rId27"/>
    <p:sldLayoutId id="2147483829" r:id="rId28"/>
  </p:sldLayoutIdLst>
  <p:hf sldNum="0" hdr="0" ftr="0" dt="0"/>
  <p:txStyles>
    <p:titleStyle>
      <a:lvl1pPr marL="0" algn="l" defTabSz="6858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1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5"/>
          <p:cNvSpPr txBox="1"/>
          <p:nvPr/>
        </p:nvSpPr>
        <p:spPr>
          <a:xfrm>
            <a:off x="600221" y="960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</a:t>
            </a:r>
            <a:endParaRPr lang="en-US" sz="4800" dirty="0"/>
          </a:p>
        </p:txBody>
      </p:sp>
      <p:sp>
        <p:nvSpPr>
          <p:cNvPr id="28" name="Text 26"/>
          <p:cNvSpPr txBox="1"/>
          <p:nvPr/>
        </p:nvSpPr>
        <p:spPr>
          <a:xfrm>
            <a:off x="600221" y="1655064"/>
            <a:ext cx="6035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Goal-adaptive AI-powered interfaces for complex digital systems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600221" y="257175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making users learn the system,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system understood the goal first?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0221" y="3532163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00221" y="3538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0221" y="4160520"/>
            <a:ext cx="4187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Aabha Borle  •  Anisha Kango  •  Sakshi Katolkar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00221" y="443835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</a:t>
            </a:r>
            <a:endParaRPr lang="en-US" sz="1100" dirty="0"/>
          </a:p>
        </p:txBody>
      </p:sp>
      <p:pic>
        <p:nvPicPr>
          <p:cNvPr id="34" name="Picture 33" descr="01_title_dna_to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05901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one goal, five different pages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question forces a student to visit five different systems.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150876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asks: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still need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graduate?”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46120" y="2286000"/>
            <a:ext cx="411480" cy="201168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94760" y="1371600"/>
            <a:ext cx="932688" cy="201168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009644" y="1600200"/>
            <a:ext cx="502920" cy="5029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5374" y="17259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40480" y="224028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Audit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840480" y="2788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00600" y="1371600"/>
            <a:ext cx="932688" cy="201168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15484" y="1600200"/>
            <a:ext cx="502920" cy="5029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214" y="17259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24028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788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806440" y="1371600"/>
            <a:ext cx="932688" cy="201168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021324" y="1600200"/>
            <a:ext cx="502920" cy="5029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054" y="172593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52160" y="224028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852160" y="2788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812280" y="1371600"/>
            <a:ext cx="932688" cy="201168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027164" y="1600200"/>
            <a:ext cx="502920" cy="5029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894" y="172593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0" y="224028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6858000" y="2788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818120" y="1371600"/>
            <a:ext cx="932688" cy="201168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033004" y="1600200"/>
            <a:ext cx="502920" cy="5029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8734" y="172593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863840" y="2240280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Holds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7863840" y="2788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not clicking around, it is combining information from all five, reading the rules, and figuring out the correct next step.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8 papers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grouped the papers into four themes, each of which tells us something InterfaceDNA needs.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6344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agents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Mind2Web • WebArena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WorkArena • WebVoyager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8529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understand a goal and use a website, but long, multi-step tasks are still unreliable.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132588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0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930" y="16344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2336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74320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2026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743200" y="28529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go beyond chat and build an interface that fits the task.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32588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163449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264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4632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UI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84632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 • Gajos et al.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4846320" y="28529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UIs existed before LLMs and help, but only when changes stay stable and predictable.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66560" y="132588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949440" y="1508760"/>
            <a:ext cx="502920" cy="50292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170" y="1634490"/>
            <a:ext cx="251460" cy="2514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2296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94944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94944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Amershi et al., 2019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28529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show uncertainty, let users correct it, and ask before doing anything important.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existing work teaches AI to operate a fixed interface. Nobody asks whether the interface itself can adapt around the user's goal.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  3</a:t>
            </a:r>
            <a:endParaRPr 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62C446-1DDB-7C09-31EA-3FA182DB821E}"/>
              </a:ext>
            </a:extLst>
          </p:cNvPr>
          <p:cNvSpPr txBox="1"/>
          <p:nvPr/>
        </p:nvSpPr>
        <p:spPr>
          <a:xfrm>
            <a:off x="1234543" y="1658630"/>
            <a:ext cx="685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Anisha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A3DF21-AC7B-DEEA-D9F9-0E4658E0E2B0}"/>
              </a:ext>
            </a:extLst>
          </p:cNvPr>
          <p:cNvSpPr txBox="1"/>
          <p:nvPr/>
        </p:nvSpPr>
        <p:spPr>
          <a:xfrm>
            <a:off x="3304094" y="1637624"/>
            <a:ext cx="685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Aabha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EFA9C6-C81E-4554-7BDC-6298C12BC73C}"/>
              </a:ext>
            </a:extLst>
          </p:cNvPr>
          <p:cNvSpPr txBox="1"/>
          <p:nvPr/>
        </p:nvSpPr>
        <p:spPr>
          <a:xfrm>
            <a:off x="5395011" y="1634490"/>
            <a:ext cx="685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Aabha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6AEB3D-4E2F-541D-04F0-D4247C59CD19}"/>
              </a:ext>
            </a:extLst>
          </p:cNvPr>
          <p:cNvSpPr txBox="1"/>
          <p:nvPr/>
        </p:nvSpPr>
        <p:spPr>
          <a:xfrm>
            <a:off x="7578090" y="1645920"/>
            <a:ext cx="685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 Sakshi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idea: AI adapts the interface, not just navigates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user, same goal - two very different approaches.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navigates a fixed portal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554480" cy="1691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55448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450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15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46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2880360"/>
            <a:ext cx="457200" cy="201168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63240" y="2514600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2708910"/>
            <a:ext cx="388620" cy="3886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278892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where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132588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9834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the screen around the goal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983480" y="23317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98348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drop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411?”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75120" y="2606040"/>
            <a:ext cx="411480" cy="201168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223760" y="2103120"/>
            <a:ext cx="1280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360920" y="2240280"/>
            <a:ext cx="1005840" cy="1280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360920" y="2468880"/>
            <a:ext cx="457200" cy="292608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909560" y="2468880"/>
            <a:ext cx="45720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360920" y="2834640"/>
            <a:ext cx="100584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360920" y="3017520"/>
            <a:ext cx="1005840" cy="164592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08660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view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can GenAI turn a plain-English goal + the student's current data into a screen that is more direct, understandable, and actionable?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InterfaceDNA works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The AI understands and plans regular software checks and executes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5087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193852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2860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types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request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75104" y="2075688"/>
            <a:ext cx="146304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139696" y="132588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276856" y="1463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276856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5087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276856" y="193852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276856" y="22860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turns it into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intent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0" y="2075688"/>
            <a:ext cx="146304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822192" y="132588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959352" y="1463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395935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50876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959352" y="193852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3959352" y="22860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student's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relevant policies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340096" y="2075688"/>
            <a:ext cx="146304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504688" y="132588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641848" y="1463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5641848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1508760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641848" y="193852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5641848" y="22860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warnings,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valid actions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022592" y="2075688"/>
            <a:ext cx="146304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187184" y="132588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324344" y="1463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732434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1508760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324344" y="193852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7324344" y="22860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one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task screen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56616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3258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handles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132588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goal  •  planning the task  •  composing the screen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4663440" y="32461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846320" y="34290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566160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553212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software handles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553212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 •  validation  •  actually executing the action</a:t>
            </a:r>
            <a:endParaRPr lang="en-US" sz="1050" dirty="0"/>
          </a:p>
        </p:txBody>
      </p:sp>
      <p:sp>
        <p:nvSpPr>
          <p:cNvPr id="48" name="Text 3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changes student data directly. Important actions always need the student to confirm.</a:t>
            </a:r>
            <a:endParaRPr lang="en-US" sz="1150" dirty="0"/>
          </a:p>
        </p:txBody>
      </p:sp>
      <p:sp>
        <p:nvSpPr>
          <p:cNvPr id="49" name="Text 40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“Can I drop CS 411?”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not a chat answer; it is a small workspace built for this one task.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468880" cy="3246120"/>
          </a:xfrm>
          <a:prstGeom prst="roundRect">
            <a:avLst>
              <a:gd name="adj" fmla="val 296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GOAL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drop CS 411?”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 it checks: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78608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deadline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4436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 the account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012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440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full-time status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758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440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that applies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4164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1440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student can do next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3063240" y="2834640"/>
            <a:ext cx="320040" cy="201168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3520440" y="132588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3520440" y="1325880"/>
            <a:ext cx="51663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370332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Drop - CS 411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726680" y="1426464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7726680" y="14264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703320" y="1965960"/>
            <a:ext cx="1539240" cy="777240"/>
          </a:xfrm>
          <a:prstGeom prst="roundRect">
            <a:avLst>
              <a:gd name="adj" fmla="val 7059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3813048" y="2039112"/>
            <a:ext cx="1319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3813048" y="2267712"/>
            <a:ext cx="1319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30 • 11:59 PM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334000" y="1965960"/>
            <a:ext cx="153924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 txBox="1"/>
          <p:nvPr/>
        </p:nvSpPr>
        <p:spPr>
          <a:xfrm>
            <a:off x="5443728" y="2039112"/>
            <a:ext cx="1319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5443728" y="2267712"/>
            <a:ext cx="1319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blocking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964680" y="1965960"/>
            <a:ext cx="1539240" cy="777240"/>
          </a:xfrm>
          <a:prstGeom prst="roundRect">
            <a:avLst>
              <a:gd name="adj" fmla="val 705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 txBox="1"/>
          <p:nvPr/>
        </p:nvSpPr>
        <p:spPr>
          <a:xfrm>
            <a:off x="7074408" y="2039112"/>
            <a:ext cx="1319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7074408" y="2267712"/>
            <a:ext cx="1319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affect full-time status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703320" y="288036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3813048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policy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4937760" y="29535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after the deadline requires an exception. Review financial and enrollment consequences before confirming.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709160" y="3840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 txBox="1"/>
          <p:nvPr/>
        </p:nvSpPr>
        <p:spPr>
          <a:xfrm>
            <a:off x="470916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drop action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309360" y="38404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630936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course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2: how we will test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questions: does the pipeline get things right, and is it actually easier than chat?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77440" cy="28346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has a known correct answer: the goal, the data needed, the policy, the valid actions, and when to ask for confirmation.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university portal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132588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457200" cy="4572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157734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74904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AI get it right?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12140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goal correctly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45059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74720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all required information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779776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47472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the correct policy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1089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47472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only valid actions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438144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474720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was complete</a:t>
            </a:r>
            <a:endParaRPr lang="en-US" sz="10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767328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47472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confirmation when required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5943600" y="1325880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 w="9525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8"/>
          <p:cNvSpPr/>
          <p:nvPr/>
        </p:nvSpPr>
        <p:spPr>
          <a:xfrm>
            <a:off x="612648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1577340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67512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easier than chat?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126480" y="21488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 txBox="1"/>
          <p:nvPr/>
        </p:nvSpPr>
        <p:spPr>
          <a:xfrm>
            <a:off x="6263640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finish the task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7726680" y="2267712"/>
            <a:ext cx="685800" cy="265176"/>
          </a:xfrm>
          <a:prstGeom prst="roundRect">
            <a:avLst>
              <a:gd name="adj" fmla="val 2069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/>
          <p:cNvSpPr txBox="1"/>
          <p:nvPr/>
        </p:nvSpPr>
        <p:spPr>
          <a:xfrm>
            <a:off x="7726680" y="2267712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endParaRPr lang="en-US" sz="850" dirty="0"/>
          </a:p>
        </p:txBody>
      </p:sp>
      <p:sp>
        <p:nvSpPr>
          <p:cNvPr id="34" name="Shape 24"/>
          <p:cNvSpPr/>
          <p:nvPr/>
        </p:nvSpPr>
        <p:spPr>
          <a:xfrm>
            <a:off x="6126480" y="278892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 txBox="1"/>
          <p:nvPr/>
        </p:nvSpPr>
        <p:spPr>
          <a:xfrm>
            <a:off x="6263640" y="2788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the correct next action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7726680" y="2907792"/>
            <a:ext cx="685800" cy="265176"/>
          </a:xfrm>
          <a:prstGeom prst="roundRect">
            <a:avLst>
              <a:gd name="adj" fmla="val 2069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7"/>
          <p:cNvSpPr txBox="1"/>
          <p:nvPr/>
        </p:nvSpPr>
        <p:spPr>
          <a:xfrm>
            <a:off x="7726680" y="2907792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often</a:t>
            </a:r>
            <a:endParaRPr lang="en-US" sz="850" dirty="0"/>
          </a:p>
        </p:txBody>
      </p:sp>
      <p:sp>
        <p:nvSpPr>
          <p:cNvPr id="38" name="Shape 28"/>
          <p:cNvSpPr/>
          <p:nvPr/>
        </p:nvSpPr>
        <p:spPr>
          <a:xfrm>
            <a:off x="6126480" y="34290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 txBox="1"/>
          <p:nvPr/>
        </p:nvSpPr>
        <p:spPr>
          <a:xfrm>
            <a:off x="6263640" y="3429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felt by the user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726680" y="3547872"/>
            <a:ext cx="685800" cy="265176"/>
          </a:xfrm>
          <a:prstGeom prst="roundRect">
            <a:avLst>
              <a:gd name="adj" fmla="val 2069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 txBox="1"/>
          <p:nvPr/>
        </p:nvSpPr>
        <p:spPr>
          <a:xfrm>
            <a:off x="7726680" y="3547872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850" dirty="0"/>
          </a:p>
        </p:txBody>
      </p:sp>
      <p:sp>
        <p:nvSpPr>
          <p:cNvPr id="42" name="Text 3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the adaptive screen helps students finish the task faster and more correctly than a chat-only assistant.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how we handle them, and what comes next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deliberately keeping the first prototype small and testable.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53896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68196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17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up a policy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91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a fixed, approved set of policy documents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1453896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56819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417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takes an unsafe action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1691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pre-approved backend functions + the student must confirm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17627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94360" y="2304288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4185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privacy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25420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synthetic (fake) student data while building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17627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00600" y="2304288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41858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/ bias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394960" y="25420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+ the system says “I'm not sure” when confidence is low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508760" y="306324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164592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210312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 8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2697480" y="3063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pipeline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776472" y="3218688"/>
            <a:ext cx="182880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977640" y="306324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11480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CP3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5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5166360" y="3063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prototype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245352" y="3218688"/>
            <a:ext cx="182880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6446520" y="306324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658368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CP4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704088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Dec. 3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7635240" y="30632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GenAI make complex systems feel simple - by shaping the interface around what the user is actually trying to do?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492 • Checkpoint 1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InterfaceDNA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D34296-4074-DC99-7267-23E8D4CA233C}"/>
              </a:ext>
            </a:extLst>
          </p:cNvPr>
          <p:cNvSpPr/>
          <p:nvPr/>
        </p:nvSpPr>
        <p:spPr>
          <a:xfrm>
            <a:off x="2743358" y="1990816"/>
            <a:ext cx="31999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Apple Chancery" panose="03020702040506060504" pitchFamily="66" charset="-79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2144592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885</Words>
  <Application>Microsoft Macintosh PowerPoint</Application>
  <PresentationFormat>On-screen Show (16:9)</PresentationFormat>
  <Paragraphs>179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InterfaceDNA — Checkpoint 1</dc:title>
  <dc:subject>PptxGenJS Presentation</dc:subject>
  <dc:creator>PptxGenJS</dc:creator>
  <cp:lastModifiedBy>Sakshi Katolkar</cp:lastModifiedBy>
  <cp:revision>9</cp:revision>
  <dcterms:created xsi:type="dcterms:W3CDTF">2026-09-18T00:42:00Z</dcterms:created>
  <dcterms:modified xsi:type="dcterms:W3CDTF">2026-09-18T05:43:56Z</dcterms:modified>
</cp:coreProperties>
</file>